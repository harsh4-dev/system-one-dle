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afee1a41-9c27-39e5-7520-526ffb59a2ef}">
          <p14:sldIdLst>
            <p14:sldId id="256"/>
            <p14:sldId id="257"/>
            <p14:sldId id="258"/>
          </p14:sldIdLst>
        </p14:section>
        <p14:section name="How ADAR works" id="{ecafbe0b-dad0-dda9-fee3-78be20bd68ab}">
          <p14:sldIdLst>
            <p14:sldId id="259"/>
            <p14:sldId id="260"/>
            <p14:sldId id="261"/>
            <p14:sldId id="262"/>
            <p14:sldId id="263"/>
          </p14:sldIdLst>
        </p14:section>
        <p14:section name="Results" id="{2a2aa4cf-8fd5-a928-a38e-034057c6711d}">
          <p14:sldIdLst>
            <p14:sldId id="264"/>
            <p14:sldId id="265"/>
            <p14:sldId id="266"/>
            <p14:sldId id="267"/>
            <p14:sldId id="268"/>
          </p14:sldIdLst>
        </p14:section>
        <p14:section name="Leaderboards" id="{7d5f2556-ee3f-eb62-f839-ff668807c155}">
          <p14:sldIdLst>
            <p14:sldId id="269"/>
            <p14:sldId id="270"/>
          </p14:sldIdLst>
        </p14:section>
        <p14:section name="Course fit" id="{8ad8fba8-c2b4-eabb-72d4-a4b1e73fe1a9}">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accuracy</c:v>
                </c:pt>
              </c:strCache>
            </c:strRef>
          </c:tx>
          <c:spPr>
            <a:solidFill>
              <a:srgbClr val="CFC7B6"/>
            </a:solidFill>
            <a:effectLst/>
          </c:spPr>
          <c:invertIfNegative val="0"/>
          <c:dLbls>
            <c:numFmt formatCode="0.0&quot;%&quot;" sourceLinked="0"/>
            <c:txPr>
              <a:bodyPr/>
              <a:lstStyle/>
              <a:p>
                <a:pPr>
                  <a:defRPr b="0" i="0" strike="noStrike" sz="1000" u="none">
                    <a:solidFill>
                      <a:srgbClr val="1F2233"/>
                    </a:solidFill>
                    <a:latin typeface="+mn-lt"/>
                  </a:defRPr>
                </a:pPr>
              </a:p>
            </c:txPr>
            <c:showLegendKey val="0"/>
            <c:showVal val="1"/>
            <c:showCatName val="0"/>
            <c:showSerName val="0"/>
            <c:showPercent val="0"/>
            <c:showBubbleSize val="0"/>
            <c:showLeaderLines val="0"/>
          </c:dLbls>
          <c:dPt>
            <c:idx val="0"/>
            <c:invertIfNegative val="0"/>
            <c:bubble3D val="0"/>
            <c:spPr>
              <a:solidFill>
                <a:srgbClr val="CFC7B6"/>
              </a:solidFill>
              <a:effectLst/>
            </c:spPr>
          </c:dPt>
          <c:dPt>
            <c:idx val="1"/>
            <c:invertIfNegative val="0"/>
            <c:bubble3D val="0"/>
            <c:spPr>
              <a:solidFill>
                <a:srgbClr val="4A5874"/>
              </a:solidFill>
              <a:effectLst/>
            </c:spPr>
          </c:dPt>
          <c:dPt>
            <c:idx val="2"/>
            <c:invertIfNegative val="0"/>
            <c:bubble3D val="0"/>
            <c:spPr>
              <a:solidFill>
                <a:srgbClr val="CFC7B6"/>
              </a:solidFill>
              <a:effectLst/>
            </c:spPr>
          </c:dPt>
          <c:dPt>
            <c:idx val="3"/>
            <c:invertIfNegative val="0"/>
            <c:bubble3D val="0"/>
            <c:spPr>
              <a:solidFill>
                <a:srgbClr val="CFC7B6"/>
              </a:solidFill>
              <a:effectLst/>
            </c:spPr>
          </c:dPt>
          <c:dPt>
            <c:idx val="4"/>
            <c:invertIfNegative val="0"/>
            <c:bubble3D val="0"/>
            <c:spPr>
              <a:solidFill>
                <a:srgbClr val="A79E8C"/>
              </a:solidFill>
              <a:effectLst/>
            </c:spPr>
          </c:dPt>
          <c:dPt>
            <c:idx val="5"/>
            <c:invertIfNegative val="0"/>
            <c:bubble3D val="0"/>
            <c:spPr>
              <a:solidFill>
                <a:srgbClr val="A79E8C"/>
              </a:solidFill>
              <a:effectLst/>
            </c:spPr>
          </c:dPt>
          <c:dPt>
            <c:idx val="6"/>
            <c:invertIfNegative val="0"/>
            <c:bubble3D val="0"/>
            <c:spPr>
              <a:solidFill>
                <a:srgbClr val="CFC7B6"/>
              </a:solidFill>
              <a:effectLst/>
            </c:spPr>
          </c:dPt>
          <c:dPt>
            <c:idx val="7"/>
            <c:invertIfNegative val="0"/>
            <c:bubble3D val="0"/>
            <c:spPr>
              <a:solidFill>
                <a:srgbClr val="A79E8C"/>
              </a:solidFill>
              <a:effectLst/>
            </c:spPr>
          </c:dPt>
          <c:dPt>
            <c:idx val="8"/>
            <c:invertIfNegative val="0"/>
            <c:bubble3D val="0"/>
            <c:spPr>
              <a:solidFill>
                <a:srgbClr val="A79E8C"/>
              </a:solidFill>
              <a:effectLst/>
            </c:spPr>
          </c:dPt>
          <c:dPt>
            <c:idx val="9"/>
            <c:invertIfNegative val="0"/>
            <c:bubble3D val="0"/>
            <c:spPr>
              <a:solidFill>
                <a:srgbClr val="A79E8C"/>
              </a:solidFill>
              <a:effectLst/>
            </c:spPr>
          </c:dPt>
          <c:dPt>
            <c:idx val="10"/>
            <c:invertIfNegative val="0"/>
            <c:bubble3D val="0"/>
            <c:spPr>
              <a:solidFill>
                <a:srgbClr val="CFC7B6"/>
              </a:solidFill>
              <a:effectLst/>
            </c:spPr>
          </c:dPt>
          <c:dPt>
            <c:idx val="11"/>
            <c:invertIfNegative val="0"/>
            <c:bubble3D val="0"/>
            <c:spPr>
              <a:solidFill>
                <a:srgbClr val="CFC7B6"/>
              </a:solidFill>
              <a:effectLst/>
            </c:spPr>
          </c:dPt>
          <c:dPt>
            <c:idx val="12"/>
            <c:invertIfNegative val="0"/>
            <c:bubble3D val="0"/>
            <c:spPr>
              <a:solidFill>
                <a:srgbClr val="4A5874"/>
              </a:solidFill>
              <a:effectLst/>
            </c:spPr>
          </c:dPt>
          <c:dPt>
            <c:idx val="13"/>
            <c:invertIfNegative val="0"/>
            <c:bubble3D val="0"/>
            <c:spPr>
              <a:solidFill>
                <a:srgbClr val="C0503A"/>
              </a:solidFill>
              <a:effectLst/>
            </c:spPr>
          </c:dPt>
          <c:dPt>
            <c:idx val="14"/>
            <c:invertIfNegative val="0"/>
            <c:bubble3D val="0"/>
            <c:spPr>
              <a:solidFill>
                <a:srgbClr val="DE9C8C"/>
              </a:solidFill>
              <a:effectLst/>
            </c:spPr>
          </c:dPt>
          <c:cat>
            <c:multiLvlStrRef>
              <c:f>Sheet1!$A$2:$A$16</c:f>
              <c:multiLvlStrCache>
                <c:ptCount val="15"/>
                <c:lvl>
                  <c:pt idx="0">
                    <c:v>Random forest · TF-IDF</c:v>
                  </c:pt>
                  <c:pt idx="1">
                    <c:v>Laya + linear probe</c:v>
                  </c:pt>
                  <c:pt idx="2">
                    <c:v>Naive Bayes · TF-IDF</c:v>
                  </c:pt>
                  <c:pt idx="3">
                    <c:v>MLP · TF-IDF</c:v>
                  </c:pt>
                  <c:pt idx="4">
                    <c:v>Bi-RNN</c:v>
                  </c:pt>
                  <c:pt idx="5">
                    <c:v>TextCNN</c:v>
                  </c:pt>
                  <c:pt idx="6">
                    <c:v>Stacking (Laya + experts)</c:v>
                  </c:pt>
                  <c:pt idx="7">
                    <c:v>Bi-LSTM</c:v>
                  </c:pt>
                  <c:pt idx="8">
                    <c:v>Bi-GRU</c:v>
                  </c:pt>
                  <c:pt idx="9">
                    <c:v>Average of 4 experts</c:v>
                  </c:pt>
                  <c:pt idx="10">
                    <c:v>Log. regression · TF-IDF</c:v>
                  </c:pt>
                  <c:pt idx="11">
                    <c:v>Linear SVM · TF-IDF</c:v>
                  </c:pt>
                  <c:pt idx="12">
                    <c:v>Laya zero-shot</c:v>
                  </c:pt>
                  <c:pt idx="13">
                    <c:v>ADAR (ours)</c:v>
                  </c:pt>
                  <c:pt idx="14">
                    <c:v>ADAR cascade</c:v>
                  </c:pt>
                </c:lvl>
              </c:multiLvlStrCache>
            </c:multiLvlStrRef>
          </c:cat>
          <c:val>
            <c:numRef>
              <c:f>Sheet1!$B$2:$B$16</c:f>
              <c:numCache>
                <c:formatCode>General</c:formatCode>
                <c:ptCount val="15"/>
                <c:pt idx="0">
                  <c:v>86.89</c:v>
                </c:pt>
                <c:pt idx="1">
                  <c:v>90.53</c:v>
                </c:pt>
                <c:pt idx="2">
                  <c:v>90.76</c:v>
                </c:pt>
                <c:pt idx="3">
                  <c:v>91.24</c:v>
                </c:pt>
                <c:pt idx="4">
                  <c:v>91.5</c:v>
                </c:pt>
                <c:pt idx="5">
                  <c:v>91.71</c:v>
                </c:pt>
                <c:pt idx="6">
                  <c:v>92.04</c:v>
                </c:pt>
                <c:pt idx="7">
                  <c:v>92.3</c:v>
                </c:pt>
                <c:pt idx="8">
                  <c:v>92.41</c:v>
                </c:pt>
                <c:pt idx="9">
                  <c:v>92.47</c:v>
                </c:pt>
                <c:pt idx="10">
                  <c:v>92.51</c:v>
                </c:pt>
                <c:pt idx="11">
                  <c:v>92.51</c:v>
                </c:pt>
                <c:pt idx="12">
                  <c:v>92.53</c:v>
                </c:pt>
                <c:pt idx="13">
                  <c:v>93.28</c:v>
                </c:pt>
                <c:pt idx="14">
                  <c:v>93.32</c:v>
                </c:pt>
              </c:numCache>
            </c:numRef>
          </c:val>
        </c:ser>
        <c:dLbls>
          <c:numFmt formatCode="0.0&quot;%&quot;" sourceLinked="0"/>
          <c:txPr>
            <a:bodyPr/>
            <a:lstStyle/>
            <a:p>
              <a:pPr>
                <a:defRPr b="0" i="0" strike="noStrike" sz="1000" u="none">
                  <a:solidFill>
                    <a:srgbClr val="1F2233"/>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F4250"/>
                </a:solidFill>
                <a:latin typeface="+mn-lt"/>
              </a:defRPr>
            </a:pPr>
            <a:endParaRPr lang="en-US"/>
          </a:p>
        </c:txPr>
        <c:crossAx val="2094734552"/>
        <c:crosses val="autoZero"/>
        <c:auto val="1"/>
        <c:lblAlgn val="ctr"/>
        <c:noMultiLvlLbl val="1"/>
      </c:catAx>
      <c:valAx>
        <c:axId val="2094734552"/>
        <c:scaling>
          <c:orientation val="minMax"/>
          <c:max val="100"/>
          <c:min val="80"/>
        </c:scaling>
        <c:delete val="0"/>
        <c:axPos val="b"/>
        <c:majorGridlines>
          <c:spPr>
            <a:ln w="6350" cap="flat">
              <a:solidFill>
                <a:srgbClr val="E6DECF"/>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E78"/>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Honest probabilities · log-loss (lower is better)</c:v>
                </c:pt>
              </c:strCache>
            </c:strRef>
          </c:tx>
          <c:spPr>
            <a:solidFill>
              <a:srgbClr val="C0503A"/>
            </a:solidFill>
            <a:effectLst/>
          </c:spPr>
          <c:invertIfNegative val="0"/>
          <c:dLbls>
            <c:numFmt formatCode="0.000" sourceLinked="0"/>
            <c:txPr>
              <a:bodyPr/>
              <a:lstStyle/>
              <a:p>
                <a:pPr>
                  <a:defRPr b="0" i="0" strike="noStrike" sz="1100" u="none">
                    <a:solidFill>
                      <a:srgbClr val="1F2233"/>
                    </a:solidFill>
                    <a:latin typeface="+mn-lt"/>
                  </a:defRPr>
                </a:pPr>
              </a:p>
            </c:txPr>
            <c:showLegendKey val="0"/>
            <c:showVal val="1"/>
            <c:showCatName val="0"/>
            <c:showSerName val="0"/>
            <c:showPercent val="0"/>
            <c:showBubbleSize val="0"/>
            <c:showLeaderLines val="0"/>
          </c:dLbls>
          <c:dPt>
            <c:idx val="0"/>
            <c:invertIfNegative val="0"/>
            <c:bubble3D val="0"/>
            <c:spPr>
              <a:solidFill>
                <a:srgbClr val="C0503A"/>
              </a:solidFill>
              <a:effectLst/>
            </c:spPr>
          </c:dPt>
          <c:dPt>
            <c:idx val="1"/>
            <c:invertIfNegative val="0"/>
            <c:bubble3D val="0"/>
            <c:spPr>
              <a:solidFill>
                <a:srgbClr val="CFC7B6"/>
              </a:solidFill>
              <a:effectLst/>
            </c:spPr>
          </c:dPt>
          <c:dPt>
            <c:idx val="2"/>
            <c:invertIfNegative val="0"/>
            <c:bubble3D val="0"/>
            <c:spPr>
              <a:solidFill>
                <a:srgbClr val="4A5874"/>
              </a:solidFill>
              <a:effectLst/>
            </c:spPr>
          </c:dPt>
          <c:cat>
            <c:multiLvlStrRef>
              <c:f>Sheet1!$A$2:$A$4</c:f>
              <c:multiLvlStrCache>
                <c:ptCount val="3"/>
                <c:lvl>
                  <c:pt idx="0">
                    <c:v>ADAR</c:v>
                  </c:pt>
                  <c:pt idx="1">
                    <c:v>Stacking (Laya + experts)</c:v>
                  </c:pt>
                  <c:pt idx="2">
                    <c:v>Laya zero-shot</c:v>
                  </c:pt>
                </c:lvl>
              </c:multiLvlStrCache>
            </c:multiLvlStrRef>
          </c:cat>
          <c:val>
            <c:numRef>
              <c:f>Sheet1!$B$2:$B$4</c:f>
              <c:numCache>
                <c:formatCode>General</c:formatCode>
                <c:ptCount val="3"/>
                <c:pt idx="0">
                  <c:v>0.197</c:v>
                </c:pt>
                <c:pt idx="1">
                  <c:v>0.232</c:v>
                </c:pt>
                <c:pt idx="2">
                  <c:v>0.237</c:v>
                </c:pt>
              </c:numCache>
            </c:numRef>
          </c:val>
        </c:ser>
        <c:dLbls>
          <c:numFmt formatCode="0.000" sourceLinked="0"/>
          <c:txPr>
            <a:bodyPr/>
            <a:lstStyle/>
            <a:p>
              <a:pPr>
                <a:defRPr b="0" i="0" strike="noStrike" sz="1100" u="none">
                  <a:solidFill>
                    <a:srgbClr val="1F22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F425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 · CPU ms per input</c:v>
                </c:pt>
              </c:strCache>
            </c:strRef>
          </c:tx>
          <c:spPr>
            <a:solidFill>
              <a:srgbClr val="4A5874"/>
            </a:solidFill>
            <a:effectLst/>
          </c:spPr>
          <c:invertIfNegative val="0"/>
          <c:dLbls>
            <c:numFmt formatCode="0&quot; ms&quot;" sourceLinked="0"/>
            <c:txPr>
              <a:bodyPr/>
              <a:lstStyle/>
              <a:p>
                <a:pPr>
                  <a:defRPr b="0" i="0" strike="noStrike" sz="1100" u="none">
                    <a:solidFill>
                      <a:srgbClr val="1F2233"/>
                    </a:solidFill>
                    <a:latin typeface="+mn-lt"/>
                  </a:defRPr>
                </a:pPr>
              </a:p>
            </c:txPr>
            <c:showLegendKey val="0"/>
            <c:showVal val="1"/>
            <c:showCatName val="0"/>
            <c:showSerName val="0"/>
            <c:showPercent val="0"/>
            <c:showBubbleSize val="0"/>
            <c:showLeaderLines val="0"/>
          </c:dLbls>
          <c:dPt>
            <c:idx val="0"/>
            <c:invertIfNegative val="0"/>
            <c:bubble3D val="0"/>
            <c:spPr>
              <a:solidFill>
                <a:srgbClr val="4A5874"/>
              </a:solidFill>
              <a:effectLst/>
            </c:spPr>
          </c:dPt>
          <c:dPt>
            <c:idx val="1"/>
            <c:invertIfNegative val="0"/>
            <c:bubble3D val="0"/>
            <c:spPr>
              <a:solidFill>
                <a:srgbClr val="C0503A"/>
              </a:solidFill>
              <a:effectLst/>
            </c:spPr>
          </c:dPt>
          <c:dPt>
            <c:idx val="2"/>
            <c:invertIfNegative val="0"/>
            <c:bubble3D val="0"/>
            <c:spPr>
              <a:solidFill>
                <a:srgbClr val="DE9C8C"/>
              </a:solidFill>
              <a:effectLst/>
            </c:spPr>
          </c:dPt>
          <c:cat>
            <c:multiLvlStrRef>
              <c:f>Sheet1!$A$2:$A$4</c:f>
              <c:multiLvlStrCache>
                <c:ptCount val="3"/>
                <c:lvl>
                  <c:pt idx="0">
                    <c:v>Laya zero-shot</c:v>
                  </c:pt>
                  <c:pt idx="1">
                    <c:v>Always Laya + ADAR</c:v>
                  </c:pt>
                  <c:pt idx="2">
                    <c:v>ADAR cascade</c:v>
                  </c:pt>
                </c:lvl>
              </c:multiLvlStrCache>
            </c:multiLvlStrRef>
          </c:cat>
          <c:val>
            <c:numRef>
              <c:f>Sheet1!$B$2:$B$4</c:f>
              <c:numCache>
                <c:formatCode>General</c:formatCode>
                <c:ptCount val="3"/>
                <c:pt idx="0">
                  <c:v>706</c:v>
                </c:pt>
                <c:pt idx="1">
                  <c:v>492</c:v>
                </c:pt>
                <c:pt idx="2">
                  <c:v>189</c:v>
                </c:pt>
              </c:numCache>
            </c:numRef>
          </c:val>
        </c:ser>
        <c:dLbls>
          <c:numFmt formatCode="0&quot; ms&quot;" sourceLinked="0"/>
          <c:txPr>
            <a:bodyPr/>
            <a:lstStyle/>
            <a:p>
              <a:pPr>
                <a:defRPr b="0" i="0" strike="noStrike" sz="1100" u="none">
                  <a:solidFill>
                    <a:srgbClr val="1F22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F425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accuracy</c:v>
                </c:pt>
              </c:strCache>
            </c:strRef>
          </c:tx>
          <c:spPr>
            <a:solidFill>
              <a:srgbClr val="4A5874"/>
            </a:solidFill>
            <a:effectLst/>
          </c:spPr>
          <c:invertIfNegative val="0"/>
          <c:dLbls>
            <c:numFmt formatCode="0.0&quot;%&quot;" sourceLinked="0"/>
            <c:txPr>
              <a:bodyPr/>
              <a:lstStyle/>
              <a:p>
                <a:pPr>
                  <a:defRPr b="0" i="0" strike="noStrike" sz="1000" u="none">
                    <a:solidFill>
                      <a:srgbClr val="1F2233"/>
                    </a:solidFill>
                    <a:latin typeface="+mn-lt"/>
                  </a:defRPr>
                </a:pPr>
              </a:p>
            </c:txPr>
            <c:showLegendKey val="0"/>
            <c:showVal val="1"/>
            <c:showCatName val="0"/>
            <c:showSerName val="0"/>
            <c:showPercent val="0"/>
            <c:showBubbleSize val="0"/>
            <c:showLeaderLines val="0"/>
          </c:dLbls>
          <c:dPt>
            <c:idx val="0"/>
            <c:invertIfNegative val="0"/>
            <c:bubble3D val="0"/>
            <c:spPr>
              <a:solidFill>
                <a:srgbClr val="4A5874"/>
              </a:solidFill>
              <a:effectLst/>
            </c:spPr>
          </c:dPt>
          <c:dPt>
            <c:idx val="1"/>
            <c:invertIfNegative val="0"/>
            <c:bubble3D val="0"/>
            <c:spPr>
              <a:solidFill>
                <a:srgbClr val="4A5874"/>
              </a:solidFill>
              <a:effectLst/>
            </c:spPr>
          </c:dPt>
          <c:dPt>
            <c:idx val="2"/>
            <c:invertIfNegative val="0"/>
            <c:bubble3D val="0"/>
            <c:spPr>
              <a:solidFill>
                <a:srgbClr val="CFC7B6"/>
              </a:solidFill>
              <a:effectLst/>
            </c:spPr>
          </c:dPt>
          <c:dPt>
            <c:idx val="3"/>
            <c:invertIfNegative val="0"/>
            <c:bubble3D val="0"/>
            <c:spPr>
              <a:solidFill>
                <a:srgbClr val="CFC7B6"/>
              </a:solidFill>
              <a:effectLst/>
            </c:spPr>
          </c:dPt>
          <c:dPt>
            <c:idx val="4"/>
            <c:invertIfNegative val="0"/>
            <c:bubble3D val="0"/>
            <c:spPr>
              <a:solidFill>
                <a:srgbClr val="CFC7B6"/>
              </a:solidFill>
              <a:effectLst/>
            </c:spPr>
          </c:dPt>
          <c:dPt>
            <c:idx val="5"/>
            <c:invertIfNegative val="0"/>
            <c:bubble3D val="0"/>
            <c:spPr>
              <a:solidFill>
                <a:srgbClr val="CFC7B6"/>
              </a:solidFill>
              <a:effectLst/>
            </c:spPr>
          </c:dPt>
          <c:dPt>
            <c:idx val="6"/>
            <c:invertIfNegative val="0"/>
            <c:bubble3D val="0"/>
            <c:spPr>
              <a:solidFill>
                <a:srgbClr val="CFC7B6"/>
              </a:solidFill>
              <a:effectLst/>
            </c:spPr>
          </c:dPt>
          <c:dPt>
            <c:idx val="7"/>
            <c:invertIfNegative val="0"/>
            <c:bubble3D val="0"/>
            <c:spPr>
              <a:solidFill>
                <a:srgbClr val="CFC7B6"/>
              </a:solidFill>
              <a:effectLst/>
            </c:spPr>
          </c:dPt>
          <c:dPt>
            <c:idx val="8"/>
            <c:invertIfNegative val="0"/>
            <c:bubble3D val="0"/>
            <c:spPr>
              <a:solidFill>
                <a:srgbClr val="A79E8C"/>
              </a:solidFill>
              <a:effectLst/>
            </c:spPr>
          </c:dPt>
          <c:dPt>
            <c:idx val="9"/>
            <c:invertIfNegative val="0"/>
            <c:bubble3D val="0"/>
            <c:spPr>
              <a:solidFill>
                <a:srgbClr val="A79E8C"/>
              </a:solidFill>
              <a:effectLst/>
            </c:spPr>
          </c:dPt>
          <c:dPt>
            <c:idx val="10"/>
            <c:invertIfNegative val="0"/>
            <c:bubble3D val="0"/>
            <c:spPr>
              <a:solidFill>
                <a:srgbClr val="C0503A"/>
              </a:solidFill>
              <a:effectLst/>
            </c:spPr>
          </c:dPt>
          <c:dPt>
            <c:idx val="11"/>
            <c:invertIfNegative val="0"/>
            <c:bubble3D val="0"/>
            <c:spPr>
              <a:solidFill>
                <a:srgbClr val="A79E8C"/>
              </a:solidFill>
              <a:effectLst/>
            </c:spPr>
          </c:dPt>
          <c:dPt>
            <c:idx val="12"/>
            <c:invertIfNegative val="0"/>
            <c:bubble3D val="0"/>
            <c:spPr>
              <a:solidFill>
                <a:srgbClr val="A79E8C"/>
              </a:solidFill>
              <a:effectLst/>
            </c:spPr>
          </c:dPt>
          <c:dPt>
            <c:idx val="13"/>
            <c:invertIfNegative val="0"/>
            <c:bubble3D val="0"/>
            <c:spPr>
              <a:solidFill>
                <a:srgbClr val="DE9C8C"/>
              </a:solidFill>
              <a:effectLst/>
            </c:spPr>
          </c:dPt>
          <c:dPt>
            <c:idx val="14"/>
            <c:invertIfNegative val="0"/>
            <c:bubble3D val="0"/>
            <c:spPr>
              <a:solidFill>
                <a:srgbClr val="A79E8C"/>
              </a:solidFill>
              <a:effectLst/>
            </c:spPr>
          </c:dPt>
          <c:cat>
            <c:multiLvlStrRef>
              <c:f>Sheet1!$A$2:$A$16</c:f>
              <c:multiLvlStrCache>
                <c:ptCount val="15"/>
                <c:lvl>
                  <c:pt idx="0">
                    <c:v>Laya zero-shot</c:v>
                  </c:pt>
                  <c:pt idx="1">
                    <c:v>Laya + linear probe</c:v>
                  </c:pt>
                  <c:pt idx="2">
                    <c:v>Naive Bayes · TF-IDF</c:v>
                  </c:pt>
                  <c:pt idx="3">
                    <c:v>MLP · TF-IDF</c:v>
                  </c:pt>
                  <c:pt idx="4">
                    <c:v>Random forest · TF-IDF</c:v>
                  </c:pt>
                  <c:pt idx="5">
                    <c:v>Log. regression · TF-IDF</c:v>
                  </c:pt>
                  <c:pt idx="6">
                    <c:v>Stacking (Laya + experts)</c:v>
                  </c:pt>
                  <c:pt idx="7">
                    <c:v>Linear SVM · TF-IDF</c:v>
                  </c:pt>
                  <c:pt idx="8">
                    <c:v>TextCNN</c:v>
                  </c:pt>
                  <c:pt idx="9">
                    <c:v>Bi-RNN</c:v>
                  </c:pt>
                  <c:pt idx="10">
                    <c:v>ADAR (ours)</c:v>
                  </c:pt>
                  <c:pt idx="11">
                    <c:v>Bi-GRU</c:v>
                  </c:pt>
                  <c:pt idx="12">
                    <c:v>Average of 4 experts</c:v>
                  </c:pt>
                  <c:pt idx="13">
                    <c:v>ADAR cascade</c:v>
                  </c:pt>
                  <c:pt idx="14">
                    <c:v>Bi-LSTM</c:v>
                  </c:pt>
                </c:lvl>
              </c:multiLvlStrCache>
            </c:multiLvlStrRef>
          </c:cat>
          <c:val>
            <c:numRef>
              <c:f>Sheet1!$B$2:$B$16</c:f>
              <c:numCache>
                <c:formatCode>General</c:formatCode>
                <c:ptCount val="15"/>
                <c:pt idx="0">
                  <c:v>58.05</c:v>
                </c:pt>
                <c:pt idx="1">
                  <c:v>59.15</c:v>
                </c:pt>
                <c:pt idx="2">
                  <c:v>76.05</c:v>
                </c:pt>
                <c:pt idx="3">
                  <c:v>84.6</c:v>
                </c:pt>
                <c:pt idx="4">
                  <c:v>86.5</c:v>
                </c:pt>
                <c:pt idx="5">
                  <c:v>86.75</c:v>
                </c:pt>
                <c:pt idx="6">
                  <c:v>87.95</c:v>
                </c:pt>
                <c:pt idx="7">
                  <c:v>88.15</c:v>
                </c:pt>
                <c:pt idx="8">
                  <c:v>90.55</c:v>
                </c:pt>
                <c:pt idx="9">
                  <c:v>90.8</c:v>
                </c:pt>
                <c:pt idx="10">
                  <c:v>92</c:v>
                </c:pt>
                <c:pt idx="11">
                  <c:v>92.2</c:v>
                </c:pt>
                <c:pt idx="12">
                  <c:v>92.2</c:v>
                </c:pt>
                <c:pt idx="13">
                  <c:v>92.2</c:v>
                </c:pt>
                <c:pt idx="14">
                  <c:v>92.25</c:v>
                </c:pt>
              </c:numCache>
            </c:numRef>
          </c:val>
        </c:ser>
        <c:dLbls>
          <c:numFmt formatCode="0.0&quot;%&quot;" sourceLinked="0"/>
          <c:txPr>
            <a:bodyPr/>
            <a:lstStyle/>
            <a:p>
              <a:pPr>
                <a:defRPr b="0" i="0" strike="noStrike" sz="1000" u="none">
                  <a:solidFill>
                    <a:srgbClr val="1F2233"/>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F4250"/>
                </a:solidFill>
                <a:latin typeface="+mn-lt"/>
              </a:defRPr>
            </a:pPr>
            <a:endParaRPr lang="en-US"/>
          </a:p>
        </c:txPr>
        <c:crossAx val="2094734552"/>
        <c:crosses val="autoZero"/>
        <c:auto val="1"/>
        <c:lblAlgn val="ctr"/>
        <c:noMultiLvlLbl val="1"/>
      </c:catAx>
      <c:valAx>
        <c:axId val="2094734552"/>
        <c:scaling>
          <c:orientation val="minMax"/>
          <c:max val="100"/>
          <c:min val="55"/>
        </c:scaling>
        <c:delete val="0"/>
        <c:axPos val="b"/>
        <c:majorGridlines>
          <c:spPr>
            <a:ln w="6350" cap="flat">
              <a:solidFill>
                <a:srgbClr val="E6DECF"/>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E78"/>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is ADAR, Adaptive Deep Architecture Routing. On the right is the whole idea: small networks from our syllabus, the experts; a big open System-One model called Laya; and ADAR, a small trained head that decides, for every input, which of them to trust and whether the big model is needed at all. Every number in this deck comes from one full run of our notebook on Kaggle with the real Laya model, 63 minutes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terms we use throughout. A System-One model answers typed questions in a single pass, giving a probability for every option instead of generating text. Experts are our small syllabus networks. Out-of-fold means we only trust an expert's opinion on data it never trained on. Calibration asks whether 80 percent sure really means right 80 percent of the time; the expected calibration error, ECE, is the average gap. Log-loss punishes confident mistakes. A cascade lets cheap models answer first and escalates only the hard inputs. So every model is judged on two things: how often it is right, and how honest its confidence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all measured in our own run. First, the biggest model is not always the best: Laya gets only 58.1% on emotion tweets, while a 1.2 million parameter Bi-LSTM from our syllabus gets 92.2%. Second, the big model is expensive: on a CPU it is 635× slower than a TextCNN. Third, confidence is not honest: Laya's fine-tuned checkpoint has a calibration error of 0.214 on the typed-decisions benchmark. Our course objective is to identify the right architecture for an application. We asked whether a model can learn to make that choice per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System-One model is named after fast, intuitive System 1 thinking. Instead of writing text word by word like a chatbot, it reads a state, here a customer message, plus typed questions, and answers all of them in one forward pass: a probability for every option, a level on a scale, or a yes/no probability called noul. TypeSafe released the first one, Jev. We use Laya, the open-source alternative: a 395 million parameter ModernBERT-large encoder with a decision head, Apache licensed. Because it outputs probabilities, ADAR can weigh it against other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system. Text comes in on the left. Four small networks from our syllabus, TextCNN, RNN, LSTM and GRU, answer first; together they take 17 ms on a CPU. A router looks only at those experts and asks: are they sure? On AG News, 64% of the time they are, and we answer immediately. The other 36% escalate: the frozen Laya encoder reads the text, and the ADAR head combines Laya's view with the experts' votes, shown by the dashed line, to give the final answer plus calibrated probabilities. Let's zoom into the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head, every input becomes a short row of tokens. One STATE token is Laya's reading of the text. Each answer option is a token built from Laya's embedding of the label's written description plus every expert's vote for it. Each expert gets a token saying how sure it is. A small two-layer transformer lets all these tokens attend to each other. Out come three typed answers, in the style of a System-One model: choice, the answer; noul for each expert, the probability that this expert is right on this input, which becomes its routing weight alpha; and act, the probability that the head's own answer is right, which we use to abstain or escalate. The head has 2.3 million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make the head trustworthy. One: honest expert opinions. Each expert is trained three times, each time leaving out a third of the data, and we keep only its predictions on the third it never saw; otherwise the head would learn to trust experts that memorised their training data. Two: the loss adds the log score and the Brier score. Both are proper scoring rules: the only way to minimise them is to report your true belief, the same principle behind Laya's own training. Three: after training we fit one temperature on validation data, so that 80 percent confidence really means right 80 percent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cascade as a simulation. Every dot is an input. The experts answer first, and the router decides: taupe dots are answered right away, coral dots go to Laya plus ADAR. The split matches our AG News run, where 36% escalate. We trained two routers: a threshold on the predicted probability that the experts are right, with the cut-off chosen on validation data, and a REINFORCE policy from Unit IV with reward one for a correct answer minus lambda times the cost. On AG News the cascade is 2.6× cheaper than always running Laya plus ADAR, at 93.3% instead of 93.5%. On Emotion it calls Laya for 0.1% of inputs and is 41× cheaper. A perfect router would reach 94.9% on AG News, so there is still room to improve the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two public datasets. AG News: 114,000 training articles in four topics, 6,000 for validation and the official 7,600 for testing. Emotion: 16,000 short tweets in six emotions. We compare ADAR against 13 baselines: 5 scikit-learn models on TF-IDF features, the four syllabus networks and their average, Laya answering zero-shot, a logistic regression on Laya's embeddings, and a stacking model. Every model sees the same test rows and is calibrated on validation data; ADAR is trained with 3 seeds, and every claim needs a 95 percent bootstrap confidence interval that excludes zero. The whole pipeline ran in 63 minutes on Kaggle's free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AG News results on 7,600 test articles, sorted by accuracy; the axis starts high so the differences are visible. ADAR, averaged over 3 seeds, reaches 93.28% and ranks number 2 of 15. Laya on its own, answering zero-shot, gets 92.53%. The panel on the right gives each difference with its 95 percent confidence interval: against Laya zero-shot the difference is +0.93 pts, interval +0.42 to +1.47. ADAR significantly beats Laya zero-shot, the best syllabus network and the best scikit-learn model. 14 of our 14 quality checks passed on this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not the whole story. On the left is log-loss, which punishes confident mistakes; lower is better. ADAR's is 0.197, 15 percent lower than the best baseline, Stacking (Laya + experts), at 0.232, and Laya zero-shot is at 0.237. On the right is cost, CPU time per input. Laya on its own takes 706 ms. Running Laya plus ADAR on everything takes 492 ms. The cascade escalates only the hard inputs and averages 189 ms, 2.6× cheaper, at 93.3% accuracy instead of 93.3%.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dataset tells a different story. On emotion tweets Laya is weak: 58.1% zero-shot and 59.2% with a trained probe on its embeddings. Our small syllabus networks do far better; the best, Bi-LSTM, reaches 92.2%. ADAR reaches 92.0%. ADAR significantly beats Laya zero-shot and the best scikit-learn model; ties the best syllabus network (difference not significant). 10 of 14 checks passed. The router learned on its own that Laya rarely helps here: it calls Laya for 0.1% of tweets, giving 92.2% at 9.6 ms per input instead of 388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that every part earns its place, we removed one part at a time and retrained. Without the experts (Laya only): on AG News accuracy changes by -1.64 points, on Emotion by -27.30 points. Without Laya (experts only): on AG News accuracy changes by -0.83 points, on Emotion by -0.25 points. Without attention: on AG News accuracy changes by -0.26 points, on Emotion by -0.20 points. A change counts only when its 95 percent interval excludes zero. on AG News both sources are needed: removing either the experts or Laya costs significant accuracy; on Emotion the experts carry the result (-27.3 pts without them); attention mostly sharpens the probabilities (log-loss 0.202 without it, 0.197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tested on a public System-One benchmark, typed-decisions: 400 cases and 2,000 typed decisions. First, a sanity check: for Laya's fine-tuned checkpoint our scorer gives accuracy 0.766; the board lists 0.766. The board does not list its calibration, so we add it: Brier 0.061, KL 0.117 and ECE 0.214. Second, we applied ADAR's calibration step, per question-type temperatures fitted only on the train split. On base Laya, calibration error goes from 0.173 to 0.021 and KL from 0.569 to 0.433, with accuracy unchanged at 0.363. On the fine-tuned checkpoint the effect is mixed: ECE 0.214 to 0.063, Brier 0.061 to 0.148, partly because that checkpoint was trained on the same train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should this go? We chose by asking where our real result adds value. First, the typed-decisions benchmark: Laya's fine-tuned checkpoint is listed at 0.766 as self-reported, and the maintainer asked for its KL and Brier. Our run re-ran it independently, so we reply in that discussion with the missing metrics and open a pull request that puts the verified scores on the benchmark's Hub leaderboard. Second, the two trained heads go on Hugging Face with their results, so anyone can check them. The head-turner is RouterArena, a ranked leaderboard for routers between large language models, which is exactly ADAR's idea at a larger scale; that is our next phase because it needs other training data and an API budget. We deliberately do not add a 'Laya plus ADAR-Cal' row: its accuracy, 0.363, is below the board's own prior baseline, so it would look like a weak model even though only the calibration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touches all four units. Unit one: the TextCNN expert, backpropagation, batch normalisation, gradient clipping, AdamW with a cosine schedule. Unit two: CNN classifiers and training a new head on a frozen pretrained network. Unit three is the core: RNN, LSTM and GRU experts, embeddings, attention, a transformer head and a BERT-family encoder. Unit four: the REINFORCE router, a policy-gradient method with reward correct minus lambda times cost. And the course objective, identifying the right architecture for an application, is what ADAR automates.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context, here is how the class projects map onto the syllabus. Most implement one architecture from one unit: style transfer and the R-CNN family in Unit II; captioning, translation, the BERT classifier and the RNN comparison in Unit III; GANs and the RL projects in Unit IV. ADAR draws on all four units at once. It overlaps with three projects: it uses a BERT-family encoder, but as one input among several; it uses RNN, LSTM and GRU, but as experts it chooses between per input; and it uses REINFORCE, but for a real cost-versus-accuracy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the limits. Text classification only so far. Laya stays frozen; only the 2.3M-parameter head trains. On Emotion, ADAR does not beat the best syllabus network (Bi-LSTM) significantly. Attention’s accuracy gain is not significant. ADAR-Cal fixes calibration, not accuracy. One train/val/test protocol per dataset. Next: RouterArena: route between LLMs instead of small networks; An image task (CIFAR-10) with CNN experts; An echo-state network as a fifth expert; A short arXiv write-up.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in three steps. One: the Kaggle notebook runs the whole pipeline on free GPUs and writes the report; it took 63 minutes. Two: both trained heads are published on Hugging Face. Three: anyone can load a head and classify a sentence in three lines. The heads are packaged with model cards from this run, ready to upload. This is the real output from our run: the NASA sentence is classified as sci_tech with 92.7 percent probability, and the head estimates a 97 percent chance that its answer is right, so it does not escalate. Let me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code, the notebook and every result from this run are on GitHub.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AR_CONTENT">
    <p:bg>
      <p:bgPr>
        <a:solidFill>
          <a:srgbClr val="F7F3E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200" b="1" spc="200" kern="0" dirty="0">
                <a:solidFill>
                  <a:srgbClr val="A8432F"/>
                </a:solidFill>
              </a:defRPr>
            </a:lvl1pPr>
          </a:lstStyle>
          <a:p>
            <a:pPr indent="0" marL="0">
              <a:buNone/>
            </a:pP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rtlCol="0"/>
          <a:lstStyle>
            <a:lvl1pPr indent="0" marL="0">
              <a:buNone/>
              <a:defRPr lang="en-US" sz="3400" b="1" dirty="0">
                <a:solidFill>
                  <a:srgbClr val="1F2233"/>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DAR_DARK">
    <p:bg>
      <p:bgPr>
        <a:solidFill>
          <a:srgbClr val="1F22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772400" cy="1463040"/>
          </a:xfrm>
          <a:prstGeom prst="rect">
            <a:avLst/>
          </a:prstGeom>
          <a:noFill/>
          <a:ln/>
        </p:spPr>
        <p:txBody>
          <a:bodyPr wrap="square" rtlCol="0"/>
          <a:lstStyle>
            <a:lvl1pPr indent="0" marL="0">
              <a:buNone/>
              <a:defRPr lang="en-US" sz="7200" b="1" dirty="0">
                <a:solidFill>
                  <a:srgbClr val="FCFAF5"/>
                </a:solidFill>
                <a:latin typeface="Cambria" pitchFamily="34" charset="0"/>
                <a:ea typeface="Cambria" pitchFamily="34" charset="-122"/>
                <a:cs typeface="Cambria" pitchFamily="34" charset="-120"/>
              </a:defRPr>
            </a:lvl1pPr>
          </a:lstStyle>
          <a:p>
            <a:pPr indent="0" marL="0">
              <a:buNone/>
            </a:pPr>
            <a:endParaRPr lang="en-US" sz="7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772400" cy="1463040"/>
          </a:xfrm>
          <a:prstGeom prst="rect">
            <a:avLst/>
          </a:prstGeom>
          <a:noFill/>
          <a:ln/>
        </p:spPr>
        <p:txBody>
          <a:bodyPr wrap="square" lIns="0" tIns="0" rIns="0" bIns="0" rtlCol="0"/>
          <a:lstStyle/>
          <a:p>
            <a:pPr indent="0" marL="0">
              <a:buNone/>
            </a:pPr>
            <a:r>
              <a:rPr lang="en-US" sz="7200" b="1" dirty="0">
                <a:solidFill>
                  <a:srgbClr val="FCFAF5"/>
                </a:solidFill>
                <a:latin typeface="Cambria" pitchFamily="34" charset="0"/>
                <a:ea typeface="Cambria" pitchFamily="34" charset="-122"/>
                <a:cs typeface="Cambria" pitchFamily="34" charset="-120"/>
              </a:rPr>
              <a:t>ADAR</a:t>
            </a:r>
            <a:endParaRPr lang="en-US" sz="7200" dirty="0"/>
          </a:p>
        </p:txBody>
      </p:sp>
      <p:sp>
        <p:nvSpPr>
          <p:cNvPr id="3" name="Text 1"/>
          <p:cNvSpPr txBox="1"/>
          <p:nvPr/>
        </p:nvSpPr>
        <p:spPr>
          <a:xfrm>
            <a:off x="548640" y="1554480"/>
            <a:ext cx="7315200" cy="320040"/>
          </a:xfrm>
          <a:prstGeom prst="rect">
            <a:avLst/>
          </a:prstGeom>
          <a:noFill/>
          <a:ln/>
        </p:spPr>
        <p:txBody>
          <a:bodyPr wrap="square" lIns="0" tIns="0" rIns="0" bIns="0" rtlCol="0" anchor="t"/>
          <a:lstStyle/>
          <a:p>
            <a:pPr indent="0" marL="0">
              <a:buNone/>
            </a:pPr>
            <a:r>
              <a:rPr lang="en-US" sz="1300" b="1" spc="200" kern="0" dirty="0">
                <a:solidFill>
                  <a:srgbClr val="DE9C8C"/>
                </a:solidFill>
                <a:latin typeface="Calibri" pitchFamily="34" charset="0"/>
                <a:ea typeface="Calibri" pitchFamily="34" charset="-122"/>
                <a:cs typeface="Calibri" pitchFamily="34" charset="-120"/>
              </a:rPr>
              <a:t>DEEP LEARNING PROJECT · SYSTEM-ONE MODELS</a:t>
            </a:r>
            <a:endParaRPr lang="en-US" sz="1300" dirty="0"/>
          </a:p>
        </p:txBody>
      </p:sp>
      <p:sp>
        <p:nvSpPr>
          <p:cNvPr id="4" name="Text 2"/>
          <p:cNvSpPr txBox="1"/>
          <p:nvPr/>
        </p:nvSpPr>
        <p:spPr>
          <a:xfrm>
            <a:off x="548640" y="3474720"/>
            <a:ext cx="7315200" cy="548640"/>
          </a:xfrm>
          <a:prstGeom prst="rect">
            <a:avLst/>
          </a:prstGeom>
          <a:noFill/>
          <a:ln/>
        </p:spPr>
        <p:txBody>
          <a:bodyPr wrap="square" lIns="0" tIns="0" rIns="0" bIns="0" rtlCol="0" anchor="t"/>
          <a:lstStyle/>
          <a:p>
            <a:pPr indent="0" marL="0">
              <a:buNone/>
            </a:pPr>
            <a:r>
              <a:rPr lang="en-US" sz="2600" b="1" dirty="0">
                <a:solidFill>
                  <a:srgbClr val="FCFAF5"/>
                </a:solidFill>
                <a:latin typeface="Cambria" pitchFamily="34" charset="0"/>
                <a:ea typeface="Cambria" pitchFamily="34" charset="-122"/>
                <a:cs typeface="Cambria" pitchFamily="34" charset="-120"/>
              </a:rPr>
              <a:t>Adaptive Deep Architecture Routing</a:t>
            </a:r>
            <a:endParaRPr lang="en-US" sz="2600" dirty="0"/>
          </a:p>
        </p:txBody>
      </p:sp>
      <p:sp>
        <p:nvSpPr>
          <p:cNvPr id="5" name="Text 3"/>
          <p:cNvSpPr txBox="1"/>
          <p:nvPr/>
        </p:nvSpPr>
        <p:spPr>
          <a:xfrm>
            <a:off x="548640" y="4114800"/>
            <a:ext cx="6949440" cy="822960"/>
          </a:xfrm>
          <a:prstGeom prst="rect">
            <a:avLst/>
          </a:prstGeom>
          <a:noFill/>
          <a:ln/>
        </p:spPr>
        <p:txBody>
          <a:bodyPr wrap="square" lIns="0" tIns="0" rIns="0" bIns="0" rtlCol="0" anchor="t"/>
          <a:lstStyle/>
          <a:p>
            <a:pPr indent="0" marL="0">
              <a:buNone/>
            </a:pPr>
            <a:r>
              <a:rPr lang="en-US" sz="1600" dirty="0">
                <a:solidFill>
                  <a:srgbClr val="CFC9BC"/>
                </a:solidFill>
                <a:latin typeface="Calibri" pitchFamily="34" charset="0"/>
                <a:ea typeface="Calibri" pitchFamily="34" charset="-122"/>
                <a:cs typeface="Calibri" pitchFamily="34" charset="-120"/>
              </a:rPr>
              <a:t>A small trained head that decides which deep-learning model to trust for each input, and when the big model is worth calling.</a:t>
            </a:r>
            <a:endParaRPr lang="en-US" sz="1600" dirty="0"/>
          </a:p>
        </p:txBody>
      </p:sp>
      <p:sp>
        <p:nvSpPr>
          <p:cNvPr id="6" name="Text 4"/>
          <p:cNvSpPr txBox="1"/>
          <p:nvPr/>
        </p:nvSpPr>
        <p:spPr>
          <a:xfrm>
            <a:off x="548640" y="5303520"/>
            <a:ext cx="6400800" cy="320040"/>
          </a:xfrm>
          <a:prstGeom prst="rect">
            <a:avLst/>
          </a:prstGeom>
          <a:noFill/>
          <a:ln/>
        </p:spPr>
        <p:txBody>
          <a:bodyPr wrap="square" lIns="0" tIns="0" rIns="0" bIns="0" rtlCol="0" anchor="t"/>
          <a:lstStyle/>
          <a:p>
            <a:pPr indent="0" marL="0">
              <a:buNone/>
            </a:pPr>
            <a:r>
              <a:rPr lang="en-US" sz="1300" dirty="0">
                <a:solidFill>
                  <a:srgbClr val="A7A196"/>
                </a:solidFill>
                <a:latin typeface="Calibri" pitchFamily="34" charset="0"/>
                <a:ea typeface="Calibri" pitchFamily="34" charset="-122"/>
                <a:cs typeface="Calibri" pitchFamily="34" charset="-120"/>
              </a:rPr>
              <a:t>[Team names] · [Course code] · [Date]</a:t>
            </a:r>
            <a:endParaRPr lang="en-US" sz="1300" dirty="0"/>
          </a:p>
        </p:txBody>
      </p:sp>
      <p:sp>
        <p:nvSpPr>
          <p:cNvPr id="7" name="Shape 5"/>
          <p:cNvSpPr/>
          <p:nvPr/>
        </p:nvSpPr>
        <p:spPr>
          <a:xfrm>
            <a:off x="8503920" y="1463040"/>
            <a:ext cx="2194560" cy="960120"/>
          </a:xfrm>
          <a:prstGeom prst="roundRect">
            <a:avLst>
              <a:gd name="adj" fmla="val 9524"/>
            </a:avLst>
          </a:prstGeom>
          <a:solidFill>
            <a:srgbClr val="2A2E42"/>
          </a:solidFill>
          <a:ln w="15875">
            <a:solidFill>
              <a:srgbClr val="A79E8C"/>
            </a:solidFill>
            <a:prstDash val="solid"/>
          </a:ln>
        </p:spPr>
      </p:sp>
      <p:sp>
        <p:nvSpPr>
          <p:cNvPr id="8" name="Text 6"/>
          <p:cNvSpPr txBox="1"/>
          <p:nvPr/>
        </p:nvSpPr>
        <p:spPr>
          <a:xfrm>
            <a:off x="8503920" y="1645920"/>
            <a:ext cx="2194560" cy="731520"/>
          </a:xfrm>
          <a:prstGeom prst="rect">
            <a:avLst/>
          </a:prstGeom>
          <a:noFill/>
          <a:ln/>
        </p:spPr>
        <p:txBody>
          <a:bodyPr wrap="square" lIns="0" tIns="0" rIns="0" bIns="0" rtlCol="0" anchor="t"/>
          <a:lstStyle/>
          <a:p>
            <a:pPr algn="ctr" indent="0" marL="0">
              <a:buNone/>
            </a:pPr>
            <a:r>
              <a:rPr lang="en-US" sz="1800" b="1" dirty="0">
                <a:solidFill>
                  <a:srgbClr val="FCFAF5"/>
                </a:solidFill>
                <a:latin typeface="Calibri" pitchFamily="34" charset="0"/>
                <a:ea typeface="Calibri" pitchFamily="34" charset="-122"/>
                <a:cs typeface="Calibri" pitchFamily="34" charset="-120"/>
              </a:rPr>
              <a:t>Experts</a:t>
            </a:r>
            <a:endParaRPr lang="en-US" sz="1400" dirty="0"/>
          </a:p>
          <a:p>
            <a:pPr algn="ctr" indent="0" marL="0">
              <a:buNone/>
            </a:pPr>
            <a:r>
              <a:rPr lang="en-US" sz="1100" dirty="0">
                <a:solidFill>
                  <a:srgbClr val="FCFAF5"/>
                </a:solidFill>
                <a:latin typeface="Calibri" pitchFamily="34" charset="0"/>
                <a:ea typeface="Calibri" pitchFamily="34" charset="-122"/>
                <a:cs typeface="Calibri" pitchFamily="34" charset="-120"/>
              </a:rPr>
              <a:t>TextCNN · RNN · LSTM · GRU</a:t>
            </a:r>
            <a:endParaRPr lang="en-US" sz="1400" dirty="0"/>
          </a:p>
        </p:txBody>
      </p:sp>
      <p:sp>
        <p:nvSpPr>
          <p:cNvPr id="9" name="Shape 7"/>
          <p:cNvSpPr/>
          <p:nvPr/>
        </p:nvSpPr>
        <p:spPr>
          <a:xfrm>
            <a:off x="8503920" y="4023360"/>
            <a:ext cx="2194560" cy="960120"/>
          </a:xfrm>
          <a:prstGeom prst="roundRect">
            <a:avLst>
              <a:gd name="adj" fmla="val 9524"/>
            </a:avLst>
          </a:prstGeom>
          <a:solidFill>
            <a:srgbClr val="2A2E42"/>
          </a:solidFill>
          <a:ln w="15875">
            <a:solidFill>
              <a:srgbClr val="8C9AB8"/>
            </a:solidFill>
            <a:prstDash val="solid"/>
          </a:ln>
        </p:spPr>
      </p:sp>
      <p:sp>
        <p:nvSpPr>
          <p:cNvPr id="10" name="Text 8"/>
          <p:cNvSpPr txBox="1"/>
          <p:nvPr/>
        </p:nvSpPr>
        <p:spPr>
          <a:xfrm>
            <a:off x="8503920" y="4206240"/>
            <a:ext cx="2194560" cy="731520"/>
          </a:xfrm>
          <a:prstGeom prst="rect">
            <a:avLst/>
          </a:prstGeom>
          <a:noFill/>
          <a:ln/>
        </p:spPr>
        <p:txBody>
          <a:bodyPr wrap="square" lIns="0" tIns="0" rIns="0" bIns="0" rtlCol="0" anchor="t"/>
          <a:lstStyle/>
          <a:p>
            <a:pPr algn="ctr" indent="0" marL="0">
              <a:buNone/>
            </a:pPr>
            <a:r>
              <a:rPr lang="en-US" sz="1800" b="1" dirty="0">
                <a:solidFill>
                  <a:srgbClr val="FCFAF5"/>
                </a:solidFill>
                <a:latin typeface="Calibri" pitchFamily="34" charset="0"/>
                <a:ea typeface="Calibri" pitchFamily="34" charset="-122"/>
                <a:cs typeface="Calibri" pitchFamily="34" charset="-120"/>
              </a:rPr>
              <a:t>Laya</a:t>
            </a:r>
            <a:endParaRPr lang="en-US" sz="1400" dirty="0"/>
          </a:p>
          <a:p>
            <a:pPr algn="ctr" indent="0" marL="0">
              <a:buNone/>
            </a:pPr>
            <a:r>
              <a:rPr lang="en-US" sz="1100" dirty="0">
                <a:solidFill>
                  <a:srgbClr val="FCFAF5"/>
                </a:solidFill>
                <a:latin typeface="Calibri" pitchFamily="34" charset="0"/>
                <a:ea typeface="Calibri" pitchFamily="34" charset="-122"/>
                <a:cs typeface="Calibri" pitchFamily="34" charset="-120"/>
              </a:rPr>
              <a:t>System-One model</a:t>
            </a:r>
            <a:endParaRPr lang="en-US" sz="1400" dirty="0"/>
          </a:p>
        </p:txBody>
      </p:sp>
      <p:sp>
        <p:nvSpPr>
          <p:cNvPr id="11" name="Shape 9"/>
          <p:cNvSpPr/>
          <p:nvPr/>
        </p:nvSpPr>
        <p:spPr>
          <a:xfrm>
            <a:off x="9418320" y="2743200"/>
            <a:ext cx="2194560" cy="960120"/>
          </a:xfrm>
          <a:prstGeom prst="roundRect">
            <a:avLst>
              <a:gd name="adj" fmla="val 9524"/>
            </a:avLst>
          </a:prstGeom>
          <a:solidFill>
            <a:srgbClr val="F3DED5"/>
          </a:solidFill>
          <a:ln w="15875">
            <a:solidFill>
              <a:srgbClr val="C0503A"/>
            </a:solidFill>
            <a:prstDash val="solid"/>
          </a:ln>
        </p:spPr>
      </p:sp>
      <p:sp>
        <p:nvSpPr>
          <p:cNvPr id="12" name="Text 10"/>
          <p:cNvSpPr txBox="1"/>
          <p:nvPr/>
        </p:nvSpPr>
        <p:spPr>
          <a:xfrm>
            <a:off x="9418320" y="2926080"/>
            <a:ext cx="2194560" cy="731520"/>
          </a:xfrm>
          <a:prstGeom prst="rect">
            <a:avLst/>
          </a:prstGeom>
          <a:noFill/>
          <a:ln/>
        </p:spPr>
        <p:txBody>
          <a:bodyPr wrap="square" lIns="0" tIns="0" rIns="0" bIns="0" rtlCol="0" anchor="t"/>
          <a:lstStyle/>
          <a:p>
            <a:pPr algn="ctr" indent="0" marL="0">
              <a:buNone/>
            </a:pPr>
            <a:r>
              <a:rPr lang="en-US" sz="1800" b="1" dirty="0">
                <a:solidFill>
                  <a:srgbClr val="1F2233"/>
                </a:solidFill>
                <a:latin typeface="Calibri" pitchFamily="34" charset="0"/>
                <a:ea typeface="Calibri" pitchFamily="34" charset="-122"/>
                <a:cs typeface="Calibri" pitchFamily="34" charset="-120"/>
              </a:rPr>
              <a:t>ADAR</a:t>
            </a:r>
            <a:endParaRPr lang="en-US" sz="1400" dirty="0"/>
          </a:p>
          <a:p>
            <a:pPr algn="ctr" indent="0" marL="0">
              <a:buNone/>
            </a:pPr>
            <a:r>
              <a:rPr lang="en-US" sz="1100" dirty="0">
                <a:solidFill>
                  <a:srgbClr val="1F2233"/>
                </a:solidFill>
                <a:latin typeface="Calibri" pitchFamily="34" charset="0"/>
                <a:ea typeface="Calibri" pitchFamily="34" charset="-122"/>
                <a:cs typeface="Calibri" pitchFamily="34" charset="-120"/>
              </a:rPr>
              <a:t>decides per input</a:t>
            </a:r>
            <a:endParaRPr lang="en-US" sz="1400" dirty="0"/>
          </a:p>
        </p:txBody>
      </p:sp>
      <p:sp>
        <p:nvSpPr>
          <p:cNvPr id="13" name="Shape 11"/>
          <p:cNvSpPr/>
          <p:nvPr/>
        </p:nvSpPr>
        <p:spPr>
          <a:xfrm>
            <a:off x="9601200" y="2423160"/>
            <a:ext cx="457200" cy="320040"/>
          </a:xfrm>
          <a:prstGeom prst="line">
            <a:avLst/>
          </a:prstGeom>
          <a:noFill/>
          <a:ln w="15875">
            <a:solidFill>
              <a:srgbClr val="8A8F9C"/>
            </a:solidFill>
            <a:prstDash val="solid"/>
            <a:tailEnd type="triangle"/>
          </a:ln>
        </p:spPr>
      </p:sp>
      <p:sp>
        <p:nvSpPr>
          <p:cNvPr id="14" name="Shape 12"/>
          <p:cNvSpPr/>
          <p:nvPr/>
        </p:nvSpPr>
        <p:spPr>
          <a:xfrm flipV="1">
            <a:off x="9601200" y="4023360"/>
            <a:ext cx="457200" cy="320040"/>
          </a:xfrm>
          <a:prstGeom prst="line">
            <a:avLst/>
          </a:prstGeom>
          <a:noFill/>
          <a:ln w="15875">
            <a:solidFill>
              <a:srgbClr val="8A8F9C"/>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BEFORE WE START</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Key Terms</a:t>
            </a:r>
            <a:endParaRPr lang="en-US" sz="3400" dirty="0"/>
          </a:p>
        </p:txBody>
      </p:sp>
      <p:sp>
        <p:nvSpPr>
          <p:cNvPr id="5" name="Shape 2"/>
          <p:cNvSpPr/>
          <p:nvPr/>
        </p:nvSpPr>
        <p:spPr>
          <a:xfrm>
            <a:off x="548640" y="1600200"/>
            <a:ext cx="3566160" cy="1920240"/>
          </a:xfrm>
          <a:prstGeom prst="roundRect">
            <a:avLst>
              <a:gd name="adj" fmla="val 3810"/>
            </a:avLst>
          </a:prstGeom>
          <a:solidFill>
            <a:srgbClr val="FCFAF5"/>
          </a:solidFill>
          <a:ln w="9525">
            <a:solidFill>
              <a:srgbClr val="DDD3C0"/>
            </a:solidFill>
            <a:prstDash val="solid"/>
          </a:ln>
        </p:spPr>
      </p:sp>
      <p:sp>
        <p:nvSpPr>
          <p:cNvPr id="6" name="Text 3"/>
          <p:cNvSpPr txBox="1"/>
          <p:nvPr/>
        </p:nvSpPr>
        <p:spPr>
          <a:xfrm>
            <a:off x="731520" y="1764792"/>
            <a:ext cx="3200400" cy="365760"/>
          </a:xfrm>
          <a:prstGeom prst="rect">
            <a:avLst/>
          </a:prstGeom>
          <a:noFill/>
          <a:ln/>
        </p:spPr>
        <p:txBody>
          <a:bodyPr wrap="square" lIns="0" tIns="0" rIns="0" bIns="0" rtlCol="0" anchor="t"/>
          <a:lstStyle/>
          <a:p>
            <a:pPr indent="0" marL="0">
              <a:buNone/>
            </a:pPr>
            <a:r>
              <a:rPr lang="en-US" sz="1600" b="1" dirty="0">
                <a:solidFill>
                  <a:srgbClr val="1F2233"/>
                </a:solidFill>
                <a:latin typeface="Calibri" pitchFamily="34" charset="0"/>
                <a:ea typeface="Calibri" pitchFamily="34" charset="-122"/>
                <a:cs typeface="Calibri" pitchFamily="34" charset="-120"/>
              </a:rPr>
              <a:t>System-One model</a:t>
            </a:r>
            <a:endParaRPr lang="en-US" sz="1600" dirty="0"/>
          </a:p>
        </p:txBody>
      </p:sp>
      <p:sp>
        <p:nvSpPr>
          <p:cNvPr id="7" name="Text 4"/>
          <p:cNvSpPr txBox="1"/>
          <p:nvPr/>
        </p:nvSpPr>
        <p:spPr>
          <a:xfrm>
            <a:off x="731520" y="2167128"/>
            <a:ext cx="3200400" cy="1234440"/>
          </a:xfrm>
          <a:prstGeom prst="rect">
            <a:avLst/>
          </a:prstGeom>
          <a:noFill/>
          <a:ln/>
        </p:spPr>
        <p:txBody>
          <a:bodyPr wrap="square" lIns="0" tIns="0" rIns="0" bIns="0" rtlCol="0" anchor="t"/>
          <a:lstStyle/>
          <a:p>
            <a:pPr indent="0" marL="0">
              <a:buNone/>
            </a:pPr>
            <a:r>
              <a:rPr lang="en-US" sz="1300" dirty="0">
                <a:solidFill>
                  <a:srgbClr val="3F4250"/>
                </a:solidFill>
                <a:latin typeface="Calibri" pitchFamily="34" charset="0"/>
                <a:ea typeface="Calibri" pitchFamily="34" charset="-122"/>
                <a:cs typeface="Calibri" pitchFamily="34" charset="-120"/>
              </a:rPr>
              <a:t>Answers typed questions (choice, score, yes/no) in one forward pass, with a probability for every option. No text generation.</a:t>
            </a:r>
            <a:endParaRPr lang="en-US" sz="1300" dirty="0"/>
          </a:p>
        </p:txBody>
      </p:sp>
      <p:sp>
        <p:nvSpPr>
          <p:cNvPr id="8" name="Shape 5"/>
          <p:cNvSpPr/>
          <p:nvPr/>
        </p:nvSpPr>
        <p:spPr>
          <a:xfrm>
            <a:off x="4297680" y="1600200"/>
            <a:ext cx="3566160" cy="1920240"/>
          </a:xfrm>
          <a:prstGeom prst="roundRect">
            <a:avLst>
              <a:gd name="adj" fmla="val 3810"/>
            </a:avLst>
          </a:prstGeom>
          <a:solidFill>
            <a:srgbClr val="FCFAF5"/>
          </a:solidFill>
          <a:ln w="9525">
            <a:solidFill>
              <a:srgbClr val="DDD3C0"/>
            </a:solidFill>
            <a:prstDash val="solid"/>
          </a:ln>
        </p:spPr>
      </p:sp>
      <p:sp>
        <p:nvSpPr>
          <p:cNvPr id="9" name="Text 6"/>
          <p:cNvSpPr txBox="1"/>
          <p:nvPr/>
        </p:nvSpPr>
        <p:spPr>
          <a:xfrm>
            <a:off x="4480560" y="1764792"/>
            <a:ext cx="3200400" cy="365760"/>
          </a:xfrm>
          <a:prstGeom prst="rect">
            <a:avLst/>
          </a:prstGeom>
          <a:noFill/>
          <a:ln/>
        </p:spPr>
        <p:txBody>
          <a:bodyPr wrap="square" lIns="0" tIns="0" rIns="0" bIns="0" rtlCol="0" anchor="t"/>
          <a:lstStyle/>
          <a:p>
            <a:pPr indent="0" marL="0">
              <a:buNone/>
            </a:pPr>
            <a:r>
              <a:rPr lang="en-US" sz="1600" b="1" dirty="0">
                <a:solidFill>
                  <a:srgbClr val="1F2233"/>
                </a:solidFill>
                <a:latin typeface="Calibri" pitchFamily="34" charset="0"/>
                <a:ea typeface="Calibri" pitchFamily="34" charset="-122"/>
                <a:cs typeface="Calibri" pitchFamily="34" charset="-120"/>
              </a:rPr>
              <a:t>Expert</a:t>
            </a:r>
            <a:endParaRPr lang="en-US" sz="1600" dirty="0"/>
          </a:p>
        </p:txBody>
      </p:sp>
      <p:sp>
        <p:nvSpPr>
          <p:cNvPr id="10" name="Text 7"/>
          <p:cNvSpPr txBox="1"/>
          <p:nvPr/>
        </p:nvSpPr>
        <p:spPr>
          <a:xfrm>
            <a:off x="4480560" y="2167128"/>
            <a:ext cx="3200400" cy="1234440"/>
          </a:xfrm>
          <a:prstGeom prst="rect">
            <a:avLst/>
          </a:prstGeom>
          <a:noFill/>
          <a:ln/>
        </p:spPr>
        <p:txBody>
          <a:bodyPr wrap="square" lIns="0" tIns="0" rIns="0" bIns="0" rtlCol="0" anchor="t"/>
          <a:lstStyle/>
          <a:p>
            <a:pPr indent="0" marL="0">
              <a:buNone/>
            </a:pPr>
            <a:r>
              <a:rPr lang="en-US" sz="1300" dirty="0">
                <a:solidFill>
                  <a:srgbClr val="3F4250"/>
                </a:solidFill>
                <a:latin typeface="Calibri" pitchFamily="34" charset="0"/>
                <a:ea typeface="Calibri" pitchFamily="34" charset="-122"/>
                <a:cs typeface="Calibri" pitchFamily="34" charset="-120"/>
              </a:rPr>
              <a:t>A small syllabus network trained for the task: TextCNN, RNN, LSTM or GRU. 1.1 ms–6.4 ms per input on a CPU.</a:t>
            </a:r>
            <a:endParaRPr lang="en-US" sz="1300" dirty="0"/>
          </a:p>
        </p:txBody>
      </p:sp>
      <p:sp>
        <p:nvSpPr>
          <p:cNvPr id="11" name="Shape 8"/>
          <p:cNvSpPr/>
          <p:nvPr/>
        </p:nvSpPr>
        <p:spPr>
          <a:xfrm>
            <a:off x="8046720" y="1600200"/>
            <a:ext cx="3566160" cy="1920240"/>
          </a:xfrm>
          <a:prstGeom prst="roundRect">
            <a:avLst>
              <a:gd name="adj" fmla="val 3810"/>
            </a:avLst>
          </a:prstGeom>
          <a:solidFill>
            <a:srgbClr val="FCFAF5"/>
          </a:solidFill>
          <a:ln w="9525">
            <a:solidFill>
              <a:srgbClr val="DDD3C0"/>
            </a:solidFill>
            <a:prstDash val="solid"/>
          </a:ln>
        </p:spPr>
      </p:sp>
      <p:sp>
        <p:nvSpPr>
          <p:cNvPr id="12" name="Text 9"/>
          <p:cNvSpPr txBox="1"/>
          <p:nvPr/>
        </p:nvSpPr>
        <p:spPr>
          <a:xfrm>
            <a:off x="8229600" y="1764792"/>
            <a:ext cx="3200400" cy="365760"/>
          </a:xfrm>
          <a:prstGeom prst="rect">
            <a:avLst/>
          </a:prstGeom>
          <a:noFill/>
          <a:ln/>
        </p:spPr>
        <p:txBody>
          <a:bodyPr wrap="square" lIns="0" tIns="0" rIns="0" bIns="0" rtlCol="0" anchor="t"/>
          <a:lstStyle/>
          <a:p>
            <a:pPr indent="0" marL="0">
              <a:buNone/>
            </a:pPr>
            <a:r>
              <a:rPr lang="en-US" sz="1600" b="1" dirty="0">
                <a:solidFill>
                  <a:srgbClr val="1F2233"/>
                </a:solidFill>
                <a:latin typeface="Calibri" pitchFamily="34" charset="0"/>
                <a:ea typeface="Calibri" pitchFamily="34" charset="-122"/>
                <a:cs typeface="Calibri" pitchFamily="34" charset="-120"/>
              </a:rPr>
              <a:t>Out-of-fold</a:t>
            </a:r>
            <a:endParaRPr lang="en-US" sz="1600" dirty="0"/>
          </a:p>
        </p:txBody>
      </p:sp>
      <p:sp>
        <p:nvSpPr>
          <p:cNvPr id="13" name="Text 10"/>
          <p:cNvSpPr txBox="1"/>
          <p:nvPr/>
        </p:nvSpPr>
        <p:spPr>
          <a:xfrm>
            <a:off x="8229600" y="2167128"/>
            <a:ext cx="3200400" cy="1234440"/>
          </a:xfrm>
          <a:prstGeom prst="rect">
            <a:avLst/>
          </a:prstGeom>
          <a:noFill/>
          <a:ln/>
        </p:spPr>
        <p:txBody>
          <a:bodyPr wrap="square" lIns="0" tIns="0" rIns="0" bIns="0" rtlCol="0" anchor="t"/>
          <a:lstStyle/>
          <a:p>
            <a:pPr indent="0" marL="0">
              <a:buNone/>
            </a:pPr>
            <a:r>
              <a:rPr lang="en-US" sz="1300" dirty="0">
                <a:solidFill>
                  <a:srgbClr val="3F4250"/>
                </a:solidFill>
                <a:latin typeface="Calibri" pitchFamily="34" charset="0"/>
                <a:ea typeface="Calibri" pitchFamily="34" charset="-122"/>
                <a:cs typeface="Calibri" pitchFamily="34" charset="-120"/>
              </a:rPr>
              <a:t>We only use an expert’s opinion on data that expert never trained on, so its confidence is not inflated.</a:t>
            </a:r>
            <a:endParaRPr lang="en-US" sz="1300" dirty="0"/>
          </a:p>
        </p:txBody>
      </p:sp>
      <p:sp>
        <p:nvSpPr>
          <p:cNvPr id="14" name="Shape 11"/>
          <p:cNvSpPr/>
          <p:nvPr/>
        </p:nvSpPr>
        <p:spPr>
          <a:xfrm>
            <a:off x="548640" y="3703320"/>
            <a:ext cx="3566160" cy="1920240"/>
          </a:xfrm>
          <a:prstGeom prst="roundRect">
            <a:avLst>
              <a:gd name="adj" fmla="val 3810"/>
            </a:avLst>
          </a:prstGeom>
          <a:solidFill>
            <a:srgbClr val="FCFAF5"/>
          </a:solidFill>
          <a:ln w="9525">
            <a:solidFill>
              <a:srgbClr val="DDD3C0"/>
            </a:solidFill>
            <a:prstDash val="solid"/>
          </a:ln>
        </p:spPr>
      </p:sp>
      <p:sp>
        <p:nvSpPr>
          <p:cNvPr id="15" name="Text 12"/>
          <p:cNvSpPr txBox="1"/>
          <p:nvPr/>
        </p:nvSpPr>
        <p:spPr>
          <a:xfrm>
            <a:off x="731520" y="3867912"/>
            <a:ext cx="3200400" cy="365760"/>
          </a:xfrm>
          <a:prstGeom prst="rect">
            <a:avLst/>
          </a:prstGeom>
          <a:noFill/>
          <a:ln/>
        </p:spPr>
        <p:txBody>
          <a:bodyPr wrap="square" lIns="0" tIns="0" rIns="0" bIns="0" rtlCol="0" anchor="t"/>
          <a:lstStyle/>
          <a:p>
            <a:pPr indent="0" marL="0">
              <a:buNone/>
            </a:pPr>
            <a:r>
              <a:rPr lang="en-US" sz="1600" b="1" dirty="0">
                <a:solidFill>
                  <a:srgbClr val="1F2233"/>
                </a:solidFill>
                <a:latin typeface="Calibri" pitchFamily="34" charset="0"/>
                <a:ea typeface="Calibri" pitchFamily="34" charset="-122"/>
                <a:cs typeface="Calibri" pitchFamily="34" charset="-120"/>
              </a:rPr>
              <a:t>Calibration (ECE)</a:t>
            </a:r>
            <a:endParaRPr lang="en-US" sz="1600" dirty="0"/>
          </a:p>
        </p:txBody>
      </p:sp>
      <p:sp>
        <p:nvSpPr>
          <p:cNvPr id="16" name="Text 13"/>
          <p:cNvSpPr txBox="1"/>
          <p:nvPr/>
        </p:nvSpPr>
        <p:spPr>
          <a:xfrm>
            <a:off x="731520" y="4270248"/>
            <a:ext cx="3200400" cy="1234440"/>
          </a:xfrm>
          <a:prstGeom prst="rect">
            <a:avLst/>
          </a:prstGeom>
          <a:noFill/>
          <a:ln/>
        </p:spPr>
        <p:txBody>
          <a:bodyPr wrap="square" lIns="0" tIns="0" rIns="0" bIns="0" rtlCol="0" anchor="t"/>
          <a:lstStyle/>
          <a:p>
            <a:pPr indent="0" marL="0">
              <a:buNone/>
            </a:pPr>
            <a:r>
              <a:rPr lang="en-US" sz="1300" dirty="0">
                <a:solidFill>
                  <a:srgbClr val="3F4250"/>
                </a:solidFill>
                <a:latin typeface="Calibri" pitchFamily="34" charset="0"/>
                <a:ea typeface="Calibri" pitchFamily="34" charset="-122"/>
                <a:cs typeface="Calibri" pitchFamily="34" charset="-120"/>
              </a:rPr>
              <a:t>Does “80% sure” mean right 80% of the time? ECE is the average gap. Lower is better; 0 is perfect.</a:t>
            </a:r>
            <a:endParaRPr lang="en-US" sz="1300" dirty="0"/>
          </a:p>
        </p:txBody>
      </p:sp>
      <p:sp>
        <p:nvSpPr>
          <p:cNvPr id="17" name="Shape 14"/>
          <p:cNvSpPr/>
          <p:nvPr/>
        </p:nvSpPr>
        <p:spPr>
          <a:xfrm>
            <a:off x="4297680" y="3703320"/>
            <a:ext cx="3566160" cy="1920240"/>
          </a:xfrm>
          <a:prstGeom prst="roundRect">
            <a:avLst>
              <a:gd name="adj" fmla="val 3810"/>
            </a:avLst>
          </a:prstGeom>
          <a:solidFill>
            <a:srgbClr val="FCFAF5"/>
          </a:solidFill>
          <a:ln w="9525">
            <a:solidFill>
              <a:srgbClr val="DDD3C0"/>
            </a:solidFill>
            <a:prstDash val="solid"/>
          </a:ln>
        </p:spPr>
      </p:sp>
      <p:sp>
        <p:nvSpPr>
          <p:cNvPr id="18" name="Text 15"/>
          <p:cNvSpPr txBox="1"/>
          <p:nvPr/>
        </p:nvSpPr>
        <p:spPr>
          <a:xfrm>
            <a:off x="4480560" y="3867912"/>
            <a:ext cx="3200400" cy="365760"/>
          </a:xfrm>
          <a:prstGeom prst="rect">
            <a:avLst/>
          </a:prstGeom>
          <a:noFill/>
          <a:ln/>
        </p:spPr>
        <p:txBody>
          <a:bodyPr wrap="square" lIns="0" tIns="0" rIns="0" bIns="0" rtlCol="0" anchor="t"/>
          <a:lstStyle/>
          <a:p>
            <a:pPr indent="0" marL="0">
              <a:buNone/>
            </a:pPr>
            <a:r>
              <a:rPr lang="en-US" sz="1600" b="1" dirty="0">
                <a:solidFill>
                  <a:srgbClr val="1F2233"/>
                </a:solidFill>
                <a:latin typeface="Calibri" pitchFamily="34" charset="0"/>
                <a:ea typeface="Calibri" pitchFamily="34" charset="-122"/>
                <a:cs typeface="Calibri" pitchFamily="34" charset="-120"/>
              </a:rPr>
              <a:t>Log-loss (NLL)</a:t>
            </a:r>
            <a:endParaRPr lang="en-US" sz="1600" dirty="0"/>
          </a:p>
        </p:txBody>
      </p:sp>
      <p:sp>
        <p:nvSpPr>
          <p:cNvPr id="19" name="Text 16"/>
          <p:cNvSpPr txBox="1"/>
          <p:nvPr/>
        </p:nvSpPr>
        <p:spPr>
          <a:xfrm>
            <a:off x="4480560" y="4270248"/>
            <a:ext cx="3200400" cy="1234440"/>
          </a:xfrm>
          <a:prstGeom prst="rect">
            <a:avLst/>
          </a:prstGeom>
          <a:noFill/>
          <a:ln/>
        </p:spPr>
        <p:txBody>
          <a:bodyPr wrap="square" lIns="0" tIns="0" rIns="0" bIns="0" rtlCol="0" anchor="t"/>
          <a:lstStyle/>
          <a:p>
            <a:pPr indent="0" marL="0">
              <a:buNone/>
            </a:pPr>
            <a:r>
              <a:rPr lang="en-US" sz="1300" dirty="0">
                <a:solidFill>
                  <a:srgbClr val="3F4250"/>
                </a:solidFill>
                <a:latin typeface="Calibri" pitchFamily="34" charset="0"/>
                <a:ea typeface="Calibri" pitchFamily="34" charset="-122"/>
                <a:cs typeface="Calibri" pitchFamily="34" charset="-120"/>
              </a:rPr>
              <a:t>Punishes confident mistakes hardest. Lower means more honest probabilities, not just more right answers.</a:t>
            </a:r>
            <a:endParaRPr lang="en-US" sz="1300" dirty="0"/>
          </a:p>
        </p:txBody>
      </p:sp>
      <p:sp>
        <p:nvSpPr>
          <p:cNvPr id="20" name="Shape 17"/>
          <p:cNvSpPr/>
          <p:nvPr/>
        </p:nvSpPr>
        <p:spPr>
          <a:xfrm>
            <a:off x="8046720" y="3703320"/>
            <a:ext cx="3566160" cy="1920240"/>
          </a:xfrm>
          <a:prstGeom prst="roundRect">
            <a:avLst>
              <a:gd name="adj" fmla="val 3810"/>
            </a:avLst>
          </a:prstGeom>
          <a:solidFill>
            <a:srgbClr val="FCFAF5"/>
          </a:solidFill>
          <a:ln w="15875">
            <a:solidFill>
              <a:srgbClr val="C0503A"/>
            </a:solidFill>
            <a:prstDash val="solid"/>
          </a:ln>
        </p:spPr>
      </p:sp>
      <p:sp>
        <p:nvSpPr>
          <p:cNvPr id="21" name="Text 18"/>
          <p:cNvSpPr txBox="1"/>
          <p:nvPr/>
        </p:nvSpPr>
        <p:spPr>
          <a:xfrm>
            <a:off x="8229600" y="3867912"/>
            <a:ext cx="3200400" cy="365760"/>
          </a:xfrm>
          <a:prstGeom prst="rect">
            <a:avLst/>
          </a:prstGeom>
          <a:noFill/>
          <a:ln/>
        </p:spPr>
        <p:txBody>
          <a:bodyPr wrap="square" lIns="0" tIns="0" rIns="0" bIns="0" rtlCol="0" anchor="t"/>
          <a:lstStyle/>
          <a:p>
            <a:pPr indent="0" marL="0">
              <a:buNone/>
            </a:pPr>
            <a:r>
              <a:rPr lang="en-US" sz="1600" b="1" dirty="0">
                <a:solidFill>
                  <a:srgbClr val="1F2233"/>
                </a:solidFill>
                <a:latin typeface="Calibri" pitchFamily="34" charset="0"/>
                <a:ea typeface="Calibri" pitchFamily="34" charset="-122"/>
                <a:cs typeface="Calibri" pitchFamily="34" charset="-120"/>
              </a:rPr>
              <a:t>Cascade</a:t>
            </a:r>
            <a:endParaRPr lang="en-US" sz="1600" dirty="0"/>
          </a:p>
        </p:txBody>
      </p:sp>
      <p:sp>
        <p:nvSpPr>
          <p:cNvPr id="22" name="Text 19"/>
          <p:cNvSpPr txBox="1"/>
          <p:nvPr/>
        </p:nvSpPr>
        <p:spPr>
          <a:xfrm>
            <a:off x="8229600" y="4270248"/>
            <a:ext cx="3200400" cy="1234440"/>
          </a:xfrm>
          <a:prstGeom prst="rect">
            <a:avLst/>
          </a:prstGeom>
          <a:noFill/>
          <a:ln/>
        </p:spPr>
        <p:txBody>
          <a:bodyPr wrap="square" lIns="0" tIns="0" rIns="0" bIns="0" rtlCol="0" anchor="t"/>
          <a:lstStyle/>
          <a:p>
            <a:pPr indent="0" marL="0">
              <a:buNone/>
            </a:pPr>
            <a:r>
              <a:rPr lang="en-US" sz="1300" dirty="0">
                <a:solidFill>
                  <a:srgbClr val="3F4250"/>
                </a:solidFill>
                <a:latin typeface="Calibri" pitchFamily="34" charset="0"/>
                <a:ea typeface="Calibri" pitchFamily="34" charset="-122"/>
                <a:cs typeface="Calibri" pitchFamily="34" charset="-120"/>
              </a:rPr>
              <a:t>Cheap experts answer first; only inputs they are unsure about escalate to the expensive model.</a:t>
            </a:r>
            <a:endParaRPr lang="en-US" sz="1300" dirty="0"/>
          </a:p>
        </p:txBody>
      </p:sp>
      <p:sp>
        <p:nvSpPr>
          <p:cNvPr id="23" name="Shape 20"/>
          <p:cNvSpPr/>
          <p:nvPr/>
        </p:nvSpPr>
        <p:spPr>
          <a:xfrm>
            <a:off x="548640" y="5989320"/>
            <a:ext cx="11094415" cy="0"/>
          </a:xfrm>
          <a:prstGeom prst="line">
            <a:avLst/>
          </a:prstGeom>
          <a:noFill/>
          <a:ln w="9525">
            <a:solidFill>
              <a:srgbClr val="DDD3C0"/>
            </a:solidFill>
            <a:prstDash val="solid"/>
          </a:ln>
        </p:spPr>
      </p:sp>
      <p:sp>
        <p:nvSpPr>
          <p:cNvPr id="24" name="Text 21"/>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sets up: </a:t>
            </a:r>
            <a:pPr indent="0" marL="0">
              <a:buNone/>
            </a:pPr>
            <a:r>
              <a:rPr lang="en-US" sz="1300" dirty="0">
                <a:solidFill>
                  <a:srgbClr val="3F4250"/>
                </a:solidFill>
                <a:latin typeface="Calibri" pitchFamily="34" charset="0"/>
                <a:ea typeface="Calibri" pitchFamily="34" charset="-122"/>
                <a:cs typeface="Calibri" pitchFamily="34" charset="-120"/>
              </a:rPr>
              <a:t>we judge every model on two things, how often it is right and how honest its confidence is.</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WHY THIS PROJECT</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The Problem</a:t>
            </a:r>
            <a:endParaRPr lang="en-US" sz="3400" dirty="0"/>
          </a:p>
        </p:txBody>
      </p:sp>
      <p:sp>
        <p:nvSpPr>
          <p:cNvPr id="5" name="Shape 2"/>
          <p:cNvSpPr/>
          <p:nvPr/>
        </p:nvSpPr>
        <p:spPr>
          <a:xfrm>
            <a:off x="548640" y="1600200"/>
            <a:ext cx="3566160" cy="4023360"/>
          </a:xfrm>
          <a:prstGeom prst="roundRect">
            <a:avLst>
              <a:gd name="adj" fmla="val 2051"/>
            </a:avLst>
          </a:prstGeom>
          <a:solidFill>
            <a:srgbClr val="FCFAF5"/>
          </a:solidFill>
          <a:ln w="9525">
            <a:solidFill>
              <a:srgbClr val="DDD3C0"/>
            </a:solidFill>
            <a:prstDash val="solid"/>
          </a:ln>
        </p:spPr>
      </p:sp>
      <p:sp>
        <p:nvSpPr>
          <p:cNvPr id="6" name="Text 3"/>
          <p:cNvSpPr txBox="1"/>
          <p:nvPr/>
        </p:nvSpPr>
        <p:spPr>
          <a:xfrm>
            <a:off x="777240" y="1783080"/>
            <a:ext cx="3108960" cy="45720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THE BIG MODEL IS NOT ALWAYS RIGHT</a:t>
            </a:r>
            <a:endParaRPr lang="en-US" sz="1100" dirty="0"/>
          </a:p>
        </p:txBody>
      </p:sp>
      <p:sp>
        <p:nvSpPr>
          <p:cNvPr id="7" name="Text 4"/>
          <p:cNvSpPr txBox="1"/>
          <p:nvPr/>
        </p:nvSpPr>
        <p:spPr>
          <a:xfrm>
            <a:off x="777240" y="2286000"/>
            <a:ext cx="3108960" cy="1005840"/>
          </a:xfrm>
          <a:prstGeom prst="rect">
            <a:avLst/>
          </a:prstGeom>
          <a:noFill/>
          <a:ln/>
        </p:spPr>
        <p:txBody>
          <a:bodyPr wrap="square" lIns="0" tIns="0" rIns="0" bIns="0" rtlCol="0" anchor="t"/>
          <a:lstStyle/>
          <a:p>
            <a:pPr indent="0" marL="0">
              <a:buNone/>
            </a:pPr>
            <a:r>
              <a:rPr lang="en-US" sz="5400" b="1" dirty="0">
                <a:solidFill>
                  <a:srgbClr val="4A5874"/>
                </a:solidFill>
                <a:latin typeface="Cambria" pitchFamily="34" charset="0"/>
                <a:ea typeface="Cambria" pitchFamily="34" charset="-122"/>
                <a:cs typeface="Cambria" pitchFamily="34" charset="-120"/>
              </a:rPr>
              <a:t>58.1%</a:t>
            </a:r>
            <a:endParaRPr lang="en-US" sz="5400" dirty="0"/>
          </a:p>
        </p:txBody>
      </p:sp>
      <p:sp>
        <p:nvSpPr>
          <p:cNvPr id="8" name="Text 5"/>
          <p:cNvSpPr txBox="1"/>
          <p:nvPr/>
        </p:nvSpPr>
        <p:spPr>
          <a:xfrm>
            <a:off x="777240" y="3429000"/>
            <a:ext cx="3108960" cy="2011680"/>
          </a:xfrm>
          <a:prstGeom prst="rect">
            <a:avLst/>
          </a:prstGeom>
          <a:noFill/>
          <a:ln/>
        </p:spPr>
        <p:txBody>
          <a:bodyPr wrap="square" lIns="0" tIns="0" rIns="0" bIns="0" rtlCol="0" anchor="t"/>
          <a:lstStyle/>
          <a:p>
            <a:pPr indent="0" marL="0">
              <a:buNone/>
            </a:pPr>
            <a:r>
              <a:rPr lang="en-US" sz="1500" dirty="0">
                <a:solidFill>
                  <a:srgbClr val="3F4250"/>
                </a:solidFill>
                <a:latin typeface="Calibri" pitchFamily="34" charset="0"/>
                <a:ea typeface="Calibri" pitchFamily="34" charset="-122"/>
                <a:cs typeface="Calibri" pitchFamily="34" charset="-120"/>
              </a:rPr>
              <a:t>Laya (395M-parameter encoder) on Emotion tweets, zero-shot. A 1.2M-parameter Bi-LSTM gets 92.3%.</a:t>
            </a:r>
            <a:endParaRPr lang="en-US" sz="1500" dirty="0"/>
          </a:p>
        </p:txBody>
      </p:sp>
      <p:sp>
        <p:nvSpPr>
          <p:cNvPr id="9" name="Shape 6"/>
          <p:cNvSpPr/>
          <p:nvPr/>
        </p:nvSpPr>
        <p:spPr>
          <a:xfrm>
            <a:off x="4297680" y="1600200"/>
            <a:ext cx="3566160" cy="4023360"/>
          </a:xfrm>
          <a:prstGeom prst="roundRect">
            <a:avLst>
              <a:gd name="adj" fmla="val 2051"/>
            </a:avLst>
          </a:prstGeom>
          <a:solidFill>
            <a:srgbClr val="FCFAF5"/>
          </a:solidFill>
          <a:ln w="9525">
            <a:solidFill>
              <a:srgbClr val="DDD3C0"/>
            </a:solidFill>
            <a:prstDash val="solid"/>
          </a:ln>
        </p:spPr>
      </p:sp>
      <p:sp>
        <p:nvSpPr>
          <p:cNvPr id="10" name="Text 7"/>
          <p:cNvSpPr txBox="1"/>
          <p:nvPr/>
        </p:nvSpPr>
        <p:spPr>
          <a:xfrm>
            <a:off x="4526280" y="1783080"/>
            <a:ext cx="3108960" cy="45720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BIG MODELS ARE SLOW</a:t>
            </a:r>
            <a:endParaRPr lang="en-US" sz="1100" dirty="0"/>
          </a:p>
        </p:txBody>
      </p:sp>
      <p:sp>
        <p:nvSpPr>
          <p:cNvPr id="11" name="Text 8"/>
          <p:cNvSpPr txBox="1"/>
          <p:nvPr/>
        </p:nvSpPr>
        <p:spPr>
          <a:xfrm>
            <a:off x="4526280" y="2286000"/>
            <a:ext cx="3108960" cy="1005840"/>
          </a:xfrm>
          <a:prstGeom prst="rect">
            <a:avLst/>
          </a:prstGeom>
          <a:noFill/>
          <a:ln/>
        </p:spPr>
        <p:txBody>
          <a:bodyPr wrap="square" lIns="0" tIns="0" rIns="0" bIns="0" rtlCol="0" anchor="t"/>
          <a:lstStyle/>
          <a:p>
            <a:pPr indent="0" marL="0">
              <a:buNone/>
            </a:pPr>
            <a:r>
              <a:rPr lang="en-US" sz="5400" b="1" dirty="0">
                <a:solidFill>
                  <a:srgbClr val="1F2233"/>
                </a:solidFill>
                <a:latin typeface="Cambria" pitchFamily="34" charset="0"/>
                <a:ea typeface="Cambria" pitchFamily="34" charset="-122"/>
                <a:cs typeface="Cambria" pitchFamily="34" charset="-120"/>
              </a:rPr>
              <a:t>635×</a:t>
            </a:r>
            <a:endParaRPr lang="en-US" sz="5400" dirty="0"/>
          </a:p>
        </p:txBody>
      </p:sp>
      <p:sp>
        <p:nvSpPr>
          <p:cNvPr id="12" name="Text 9"/>
          <p:cNvSpPr txBox="1"/>
          <p:nvPr/>
        </p:nvSpPr>
        <p:spPr>
          <a:xfrm>
            <a:off x="4526280" y="3429000"/>
            <a:ext cx="3108960" cy="2011680"/>
          </a:xfrm>
          <a:prstGeom prst="rect">
            <a:avLst/>
          </a:prstGeom>
          <a:noFill/>
          <a:ln/>
        </p:spPr>
        <p:txBody>
          <a:bodyPr wrap="square" lIns="0" tIns="0" rIns="0" bIns="0" rtlCol="0" anchor="t"/>
          <a:lstStyle/>
          <a:p>
            <a:pPr indent="0" marL="0">
              <a:buNone/>
            </a:pPr>
            <a:r>
              <a:rPr lang="en-US" sz="1500" dirty="0">
                <a:solidFill>
                  <a:srgbClr val="3F4250"/>
                </a:solidFill>
                <a:latin typeface="Calibri" pitchFamily="34" charset="0"/>
                <a:ea typeface="Calibri" pitchFamily="34" charset="-122"/>
                <a:cs typeface="Calibri" pitchFamily="34" charset="-120"/>
              </a:rPr>
              <a:t>slower on a CPU: Laya takes 706 ms per news article, a TextCNN 1.1 ms.</a:t>
            </a:r>
            <a:endParaRPr lang="en-US" sz="1500" dirty="0"/>
          </a:p>
        </p:txBody>
      </p:sp>
      <p:sp>
        <p:nvSpPr>
          <p:cNvPr id="13" name="Shape 10"/>
          <p:cNvSpPr/>
          <p:nvPr/>
        </p:nvSpPr>
        <p:spPr>
          <a:xfrm>
            <a:off x="8046720" y="1600200"/>
            <a:ext cx="3566160" cy="4023360"/>
          </a:xfrm>
          <a:prstGeom prst="roundRect">
            <a:avLst>
              <a:gd name="adj" fmla="val 2051"/>
            </a:avLst>
          </a:prstGeom>
          <a:solidFill>
            <a:srgbClr val="FCFAF5"/>
          </a:solidFill>
          <a:ln w="9525">
            <a:solidFill>
              <a:srgbClr val="DDD3C0"/>
            </a:solidFill>
            <a:prstDash val="solid"/>
          </a:ln>
        </p:spPr>
      </p:sp>
      <p:sp>
        <p:nvSpPr>
          <p:cNvPr id="14" name="Text 11"/>
          <p:cNvSpPr txBox="1"/>
          <p:nvPr/>
        </p:nvSpPr>
        <p:spPr>
          <a:xfrm>
            <a:off x="8275320" y="1783080"/>
            <a:ext cx="3108960" cy="45720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CONFIDENCE IS NOT HONEST</a:t>
            </a:r>
            <a:endParaRPr lang="en-US" sz="1100" dirty="0"/>
          </a:p>
        </p:txBody>
      </p:sp>
      <p:sp>
        <p:nvSpPr>
          <p:cNvPr id="15" name="Text 12"/>
          <p:cNvSpPr txBox="1"/>
          <p:nvPr/>
        </p:nvSpPr>
        <p:spPr>
          <a:xfrm>
            <a:off x="8275320" y="2286000"/>
            <a:ext cx="3108960" cy="1005840"/>
          </a:xfrm>
          <a:prstGeom prst="rect">
            <a:avLst/>
          </a:prstGeom>
          <a:noFill/>
          <a:ln/>
        </p:spPr>
        <p:txBody>
          <a:bodyPr wrap="square" lIns="0" tIns="0" rIns="0" bIns="0" rtlCol="0" anchor="t"/>
          <a:lstStyle/>
          <a:p>
            <a:pPr indent="0" marL="0">
              <a:buNone/>
            </a:pPr>
            <a:r>
              <a:rPr lang="en-US" sz="5400" b="1" dirty="0">
                <a:solidFill>
                  <a:srgbClr val="A8432F"/>
                </a:solidFill>
                <a:latin typeface="Cambria" pitchFamily="34" charset="0"/>
                <a:ea typeface="Cambria" pitchFamily="34" charset="-122"/>
                <a:cs typeface="Cambria" pitchFamily="34" charset="-120"/>
              </a:rPr>
              <a:t>0.214</a:t>
            </a:r>
            <a:endParaRPr lang="en-US" sz="5400" dirty="0"/>
          </a:p>
        </p:txBody>
      </p:sp>
      <p:sp>
        <p:nvSpPr>
          <p:cNvPr id="16" name="Text 13"/>
          <p:cNvSpPr txBox="1"/>
          <p:nvPr/>
        </p:nvSpPr>
        <p:spPr>
          <a:xfrm>
            <a:off x="8275320" y="3429000"/>
            <a:ext cx="3108960" cy="2011680"/>
          </a:xfrm>
          <a:prstGeom prst="rect">
            <a:avLst/>
          </a:prstGeom>
          <a:noFill/>
          <a:ln/>
        </p:spPr>
        <p:txBody>
          <a:bodyPr wrap="square" lIns="0" tIns="0" rIns="0" bIns="0" rtlCol="0" anchor="t"/>
          <a:lstStyle/>
          <a:p>
            <a:pPr indent="0" marL="0">
              <a:buNone/>
            </a:pPr>
            <a:r>
              <a:rPr lang="en-US" sz="1500" dirty="0">
                <a:solidFill>
                  <a:srgbClr val="3F4250"/>
                </a:solidFill>
                <a:latin typeface="Calibri" pitchFamily="34" charset="0"/>
                <a:ea typeface="Calibri" pitchFamily="34" charset="-122"/>
                <a:cs typeface="Calibri" pitchFamily="34" charset="-120"/>
              </a:rPr>
              <a:t>calibration error (ECE) of Laya’s fine-tuned checkpoint on the typed-decisions benchmark: off by about 21 points.</a:t>
            </a:r>
            <a:endParaRPr lang="en-US" sz="1500" dirty="0"/>
          </a:p>
        </p:txBody>
      </p:sp>
      <p:sp>
        <p:nvSpPr>
          <p:cNvPr id="17" name="Shape 14"/>
          <p:cNvSpPr/>
          <p:nvPr/>
        </p:nvSpPr>
        <p:spPr>
          <a:xfrm>
            <a:off x="548640" y="5989320"/>
            <a:ext cx="11094415" cy="0"/>
          </a:xfrm>
          <a:prstGeom prst="line">
            <a:avLst/>
          </a:prstGeom>
          <a:noFill/>
          <a:ln w="9525">
            <a:solidFill>
              <a:srgbClr val="DDD3C0"/>
            </a:solidFill>
            <a:prstDash val="solid"/>
          </a:ln>
        </p:spPr>
      </p:sp>
      <p:sp>
        <p:nvSpPr>
          <p:cNvPr id="18" name="Text 15"/>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no single model wins on accuracy, cost and honesty at once, so the right choice depends on the input. The course asks us to pick the right architecture for an application; ADAR makes that choice for every input.</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BACKGROUND</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System-One Models</a:t>
            </a:r>
            <a:endParaRPr lang="en-US" sz="3400" dirty="0"/>
          </a:p>
        </p:txBody>
      </p:sp>
      <p:sp>
        <p:nvSpPr>
          <p:cNvPr id="5" name="Shape 2"/>
          <p:cNvSpPr/>
          <p:nvPr/>
        </p:nvSpPr>
        <p:spPr>
          <a:xfrm>
            <a:off x="548640" y="1645920"/>
            <a:ext cx="2377440" cy="1737360"/>
          </a:xfrm>
          <a:prstGeom prst="roundRect">
            <a:avLst>
              <a:gd name="adj" fmla="val 4211"/>
            </a:avLst>
          </a:prstGeom>
          <a:solidFill>
            <a:srgbClr val="FCFAF5"/>
          </a:solidFill>
          <a:ln w="15875">
            <a:solidFill>
              <a:srgbClr val="1F2233"/>
            </a:solidFill>
            <a:prstDash val="solid"/>
          </a:ln>
        </p:spPr>
      </p:sp>
      <p:sp>
        <p:nvSpPr>
          <p:cNvPr id="6" name="Text 3"/>
          <p:cNvSpPr txBox="1"/>
          <p:nvPr/>
        </p:nvSpPr>
        <p:spPr>
          <a:xfrm>
            <a:off x="731520" y="1810512"/>
            <a:ext cx="2011680" cy="365760"/>
          </a:xfrm>
          <a:prstGeom prst="rect">
            <a:avLst/>
          </a:prstGeom>
          <a:noFill/>
          <a:ln/>
        </p:spPr>
        <p:txBody>
          <a:bodyPr wrap="square" lIns="0" tIns="0" rIns="0" bIns="0" rtlCol="0" anchor="t"/>
          <a:lstStyle/>
          <a:p>
            <a:pPr indent="0" marL="0">
              <a:buNone/>
            </a:pPr>
            <a:r>
              <a:rPr lang="en-US" sz="1400" b="1" dirty="0">
                <a:solidFill>
                  <a:srgbClr val="1F2233"/>
                </a:solidFill>
                <a:latin typeface="Calibri" pitchFamily="34" charset="0"/>
                <a:ea typeface="Calibri" pitchFamily="34" charset="-122"/>
                <a:cs typeface="Calibri" pitchFamily="34" charset="-120"/>
              </a:rPr>
              <a:t>State</a:t>
            </a:r>
            <a:endParaRPr lang="en-US" sz="1400" dirty="0"/>
          </a:p>
        </p:txBody>
      </p:sp>
      <p:sp>
        <p:nvSpPr>
          <p:cNvPr id="7" name="Text 4"/>
          <p:cNvSpPr txBox="1"/>
          <p:nvPr/>
        </p:nvSpPr>
        <p:spPr>
          <a:xfrm>
            <a:off x="731520" y="2212848"/>
            <a:ext cx="2011680" cy="105156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“We were billed twice. Refund it or we cancel.”</a:t>
            </a:r>
            <a:endParaRPr lang="en-US" sz="1400" dirty="0"/>
          </a:p>
        </p:txBody>
      </p:sp>
      <p:sp>
        <p:nvSpPr>
          <p:cNvPr id="8" name="Shape 5"/>
          <p:cNvSpPr/>
          <p:nvPr/>
        </p:nvSpPr>
        <p:spPr>
          <a:xfrm>
            <a:off x="2990088" y="2377440"/>
            <a:ext cx="329184" cy="274320"/>
          </a:xfrm>
          <a:prstGeom prst="rightArrow">
            <a:avLst/>
          </a:prstGeom>
          <a:solidFill>
            <a:srgbClr val="6B6E78"/>
          </a:solidFill>
          <a:ln w="12700">
            <a:solidFill>
              <a:srgbClr val="6B6E78"/>
            </a:solidFill>
            <a:prstDash val="solid"/>
          </a:ln>
        </p:spPr>
      </p:sp>
      <p:sp>
        <p:nvSpPr>
          <p:cNvPr id="9" name="Shape 6"/>
          <p:cNvSpPr/>
          <p:nvPr/>
        </p:nvSpPr>
        <p:spPr>
          <a:xfrm>
            <a:off x="3383280" y="1645920"/>
            <a:ext cx="2377440" cy="1737360"/>
          </a:xfrm>
          <a:prstGeom prst="roundRect">
            <a:avLst>
              <a:gd name="adj" fmla="val 4211"/>
            </a:avLst>
          </a:prstGeom>
          <a:solidFill>
            <a:srgbClr val="FCFAF5"/>
          </a:solidFill>
          <a:ln w="15875">
            <a:solidFill>
              <a:srgbClr val="1F2233"/>
            </a:solidFill>
            <a:prstDash val="solid"/>
          </a:ln>
        </p:spPr>
      </p:sp>
      <p:sp>
        <p:nvSpPr>
          <p:cNvPr id="10" name="Text 7"/>
          <p:cNvSpPr txBox="1"/>
          <p:nvPr/>
        </p:nvSpPr>
        <p:spPr>
          <a:xfrm>
            <a:off x="3566160" y="1810512"/>
            <a:ext cx="2011680" cy="365760"/>
          </a:xfrm>
          <a:prstGeom prst="rect">
            <a:avLst/>
          </a:prstGeom>
          <a:noFill/>
          <a:ln/>
        </p:spPr>
        <p:txBody>
          <a:bodyPr wrap="square" lIns="0" tIns="0" rIns="0" bIns="0" rtlCol="0" anchor="t"/>
          <a:lstStyle/>
          <a:p>
            <a:pPr indent="0" marL="0">
              <a:buNone/>
            </a:pPr>
            <a:r>
              <a:rPr lang="en-US" sz="1400" b="1" dirty="0">
                <a:solidFill>
                  <a:srgbClr val="1F2233"/>
                </a:solidFill>
                <a:latin typeface="Calibri" pitchFamily="34" charset="0"/>
                <a:ea typeface="Calibri" pitchFamily="34" charset="-122"/>
                <a:cs typeface="Calibri" pitchFamily="34" charset="-120"/>
              </a:rPr>
              <a:t>Typed questions</a:t>
            </a:r>
            <a:endParaRPr lang="en-US" sz="1400" dirty="0"/>
          </a:p>
        </p:txBody>
      </p:sp>
      <p:sp>
        <p:nvSpPr>
          <p:cNvPr id="11" name="Text 8"/>
          <p:cNvSpPr txBox="1"/>
          <p:nvPr/>
        </p:nvSpPr>
        <p:spPr>
          <a:xfrm>
            <a:off x="3566160" y="2212848"/>
            <a:ext cx="2011680" cy="105156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department? choice</a:t>
            </a:r>
            <a:endParaRPr lang="en-US" sz="1400" dirty="0"/>
          </a:p>
          <a:p>
            <a:pPr indent="0" marL="0">
              <a:buNone/>
            </a:pPr>
            <a:r>
              <a:rPr lang="en-US" sz="1400" dirty="0">
                <a:solidFill>
                  <a:srgbClr val="3F4250"/>
                </a:solidFill>
                <a:latin typeface="Calibri" pitchFamily="34" charset="0"/>
                <a:ea typeface="Calibri" pitchFamily="34" charset="-122"/>
                <a:cs typeface="Calibri" pitchFamily="34" charset="-120"/>
              </a:rPr>
              <a:t>urgency? score</a:t>
            </a:r>
            <a:endParaRPr lang="en-US" sz="1400" dirty="0"/>
          </a:p>
          <a:p>
            <a:pPr indent="0" marL="0">
              <a:buNone/>
            </a:pPr>
            <a:r>
              <a:rPr lang="en-US" sz="1400" dirty="0">
                <a:solidFill>
                  <a:srgbClr val="3F4250"/>
                </a:solidFill>
                <a:latin typeface="Calibri" pitchFamily="34" charset="0"/>
                <a:ea typeface="Calibri" pitchFamily="34" charset="-122"/>
                <a:cs typeface="Calibri" pitchFamily="34" charset="-120"/>
              </a:rPr>
              <a:t>will they cancel? noul</a:t>
            </a:r>
            <a:endParaRPr lang="en-US" sz="1400" dirty="0"/>
          </a:p>
        </p:txBody>
      </p:sp>
      <p:sp>
        <p:nvSpPr>
          <p:cNvPr id="12" name="Shape 9"/>
          <p:cNvSpPr/>
          <p:nvPr/>
        </p:nvSpPr>
        <p:spPr>
          <a:xfrm>
            <a:off x="5824728" y="2377440"/>
            <a:ext cx="329184" cy="274320"/>
          </a:xfrm>
          <a:prstGeom prst="rightArrow">
            <a:avLst/>
          </a:prstGeom>
          <a:solidFill>
            <a:srgbClr val="6B6E78"/>
          </a:solidFill>
          <a:ln w="12700">
            <a:solidFill>
              <a:srgbClr val="6B6E78"/>
            </a:solidFill>
            <a:prstDash val="solid"/>
          </a:ln>
        </p:spPr>
      </p:sp>
      <p:sp>
        <p:nvSpPr>
          <p:cNvPr id="13" name="Shape 10"/>
          <p:cNvSpPr/>
          <p:nvPr/>
        </p:nvSpPr>
        <p:spPr>
          <a:xfrm>
            <a:off x="6217920" y="1645920"/>
            <a:ext cx="2377440" cy="1737360"/>
          </a:xfrm>
          <a:prstGeom prst="roundRect">
            <a:avLst>
              <a:gd name="adj" fmla="val 4211"/>
            </a:avLst>
          </a:prstGeom>
          <a:solidFill>
            <a:srgbClr val="FCFAF5"/>
          </a:solidFill>
          <a:ln w="15875">
            <a:solidFill>
              <a:srgbClr val="4A5874"/>
            </a:solidFill>
            <a:prstDash val="solid"/>
          </a:ln>
        </p:spPr>
      </p:sp>
      <p:sp>
        <p:nvSpPr>
          <p:cNvPr id="14" name="Text 11"/>
          <p:cNvSpPr txBox="1"/>
          <p:nvPr/>
        </p:nvSpPr>
        <p:spPr>
          <a:xfrm>
            <a:off x="6400800" y="1810512"/>
            <a:ext cx="2011680" cy="365760"/>
          </a:xfrm>
          <a:prstGeom prst="rect">
            <a:avLst/>
          </a:prstGeom>
          <a:noFill/>
          <a:ln/>
        </p:spPr>
        <p:txBody>
          <a:bodyPr wrap="square" lIns="0" tIns="0" rIns="0" bIns="0" rtlCol="0" anchor="t"/>
          <a:lstStyle/>
          <a:p>
            <a:pPr indent="0" marL="0">
              <a:buNone/>
            </a:pPr>
            <a:r>
              <a:rPr lang="en-US" sz="1400" b="1" dirty="0">
                <a:solidFill>
                  <a:srgbClr val="1F2233"/>
                </a:solidFill>
                <a:latin typeface="Calibri" pitchFamily="34" charset="0"/>
                <a:ea typeface="Calibri" pitchFamily="34" charset="-122"/>
                <a:cs typeface="Calibri" pitchFamily="34" charset="-120"/>
              </a:rPr>
              <a:t>Laya</a:t>
            </a:r>
            <a:endParaRPr lang="en-US" sz="1400" dirty="0"/>
          </a:p>
        </p:txBody>
      </p:sp>
      <p:sp>
        <p:nvSpPr>
          <p:cNvPr id="15" name="Text 12"/>
          <p:cNvSpPr txBox="1"/>
          <p:nvPr/>
        </p:nvSpPr>
        <p:spPr>
          <a:xfrm>
            <a:off x="6400800" y="2212848"/>
            <a:ext cx="2011680" cy="105156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one forward pass, no text generated</a:t>
            </a:r>
            <a:endParaRPr lang="en-US" sz="1400" dirty="0"/>
          </a:p>
        </p:txBody>
      </p:sp>
      <p:sp>
        <p:nvSpPr>
          <p:cNvPr id="16" name="Shape 13"/>
          <p:cNvSpPr/>
          <p:nvPr/>
        </p:nvSpPr>
        <p:spPr>
          <a:xfrm>
            <a:off x="8659368" y="2377440"/>
            <a:ext cx="329184" cy="274320"/>
          </a:xfrm>
          <a:prstGeom prst="rightArrow">
            <a:avLst/>
          </a:prstGeom>
          <a:solidFill>
            <a:srgbClr val="6B6E78"/>
          </a:solidFill>
          <a:ln w="12700">
            <a:solidFill>
              <a:srgbClr val="6B6E78"/>
            </a:solidFill>
            <a:prstDash val="solid"/>
          </a:ln>
        </p:spPr>
      </p:sp>
      <p:sp>
        <p:nvSpPr>
          <p:cNvPr id="17" name="Shape 14"/>
          <p:cNvSpPr/>
          <p:nvPr/>
        </p:nvSpPr>
        <p:spPr>
          <a:xfrm>
            <a:off x="9052560" y="1645920"/>
            <a:ext cx="2377440" cy="1737360"/>
          </a:xfrm>
          <a:prstGeom prst="roundRect">
            <a:avLst>
              <a:gd name="adj" fmla="val 4211"/>
            </a:avLst>
          </a:prstGeom>
          <a:solidFill>
            <a:srgbClr val="FCFAF5"/>
          </a:solidFill>
          <a:ln w="15875">
            <a:solidFill>
              <a:srgbClr val="1F2233"/>
            </a:solidFill>
            <a:prstDash val="solid"/>
          </a:ln>
        </p:spPr>
      </p:sp>
      <p:sp>
        <p:nvSpPr>
          <p:cNvPr id="18" name="Text 15"/>
          <p:cNvSpPr txBox="1"/>
          <p:nvPr/>
        </p:nvSpPr>
        <p:spPr>
          <a:xfrm>
            <a:off x="9235440" y="1810512"/>
            <a:ext cx="2011680" cy="365760"/>
          </a:xfrm>
          <a:prstGeom prst="rect">
            <a:avLst/>
          </a:prstGeom>
          <a:noFill/>
          <a:ln/>
        </p:spPr>
        <p:txBody>
          <a:bodyPr wrap="square" lIns="0" tIns="0" rIns="0" bIns="0" rtlCol="0" anchor="t"/>
          <a:lstStyle/>
          <a:p>
            <a:pPr indent="0" marL="0">
              <a:buNone/>
            </a:pPr>
            <a:r>
              <a:rPr lang="en-US" sz="1400" b="1" dirty="0">
                <a:solidFill>
                  <a:srgbClr val="1F2233"/>
                </a:solidFill>
                <a:latin typeface="Calibri" pitchFamily="34" charset="0"/>
                <a:ea typeface="Calibri" pitchFamily="34" charset="-122"/>
                <a:cs typeface="Calibri" pitchFamily="34" charset="-120"/>
              </a:rPr>
              <a:t>Typed answers</a:t>
            </a:r>
            <a:endParaRPr lang="en-US" sz="1400" dirty="0"/>
          </a:p>
        </p:txBody>
      </p:sp>
      <p:sp>
        <p:nvSpPr>
          <p:cNvPr id="19" name="Text 16"/>
          <p:cNvSpPr txBox="1"/>
          <p:nvPr/>
        </p:nvSpPr>
        <p:spPr>
          <a:xfrm>
            <a:off x="9235440" y="2212848"/>
            <a:ext cx="2011680" cy="105156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a probability for every option, a level, or P(yes)</a:t>
            </a:r>
            <a:endParaRPr lang="en-US" sz="1400" dirty="0"/>
          </a:p>
        </p:txBody>
      </p:sp>
      <p:sp>
        <p:nvSpPr>
          <p:cNvPr id="20" name="Shape 17"/>
          <p:cNvSpPr/>
          <p:nvPr/>
        </p:nvSpPr>
        <p:spPr>
          <a:xfrm>
            <a:off x="548640" y="3840480"/>
            <a:ext cx="3474720" cy="0"/>
          </a:xfrm>
          <a:prstGeom prst="line">
            <a:avLst/>
          </a:prstGeom>
          <a:noFill/>
          <a:ln w="12700">
            <a:solidFill>
              <a:srgbClr val="1F2233"/>
            </a:solidFill>
            <a:prstDash val="solid"/>
          </a:ln>
        </p:spPr>
      </p:sp>
      <p:sp>
        <p:nvSpPr>
          <p:cNvPr id="21" name="Text 18"/>
          <p:cNvSpPr txBox="1"/>
          <p:nvPr/>
        </p:nvSpPr>
        <p:spPr>
          <a:xfrm>
            <a:off x="548640" y="3977640"/>
            <a:ext cx="3474720" cy="548640"/>
          </a:xfrm>
          <a:prstGeom prst="rect">
            <a:avLst/>
          </a:prstGeom>
          <a:noFill/>
          <a:ln/>
        </p:spPr>
        <p:txBody>
          <a:bodyPr wrap="square" lIns="0" tIns="0" rIns="0" bIns="0" rtlCol="0" anchor="t"/>
          <a:lstStyle/>
          <a:p>
            <a:pPr indent="0" marL="0">
              <a:buNone/>
            </a:pPr>
            <a:r>
              <a:rPr lang="en-US" sz="2800" b="1" dirty="0">
                <a:solidFill>
                  <a:srgbClr val="1F2233"/>
                </a:solidFill>
                <a:latin typeface="Cambria" pitchFamily="34" charset="0"/>
                <a:ea typeface="Cambria" pitchFamily="34" charset="-122"/>
                <a:cs typeface="Cambria" pitchFamily="34" charset="-120"/>
              </a:rPr>
              <a:t>395M</a:t>
            </a:r>
            <a:endParaRPr lang="en-US" sz="2800" dirty="0"/>
          </a:p>
        </p:txBody>
      </p:sp>
      <p:sp>
        <p:nvSpPr>
          <p:cNvPr id="22" name="Text 19"/>
          <p:cNvSpPr txBox="1"/>
          <p:nvPr/>
        </p:nvSpPr>
        <p:spPr>
          <a:xfrm>
            <a:off x="548640" y="4572000"/>
            <a:ext cx="3474720" cy="91440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parameters in Laya’s ModernBERT-large encoder (measured in our run), plus a small decision head</a:t>
            </a:r>
            <a:endParaRPr lang="en-US" sz="1400" dirty="0"/>
          </a:p>
        </p:txBody>
      </p:sp>
      <p:sp>
        <p:nvSpPr>
          <p:cNvPr id="23" name="Shape 20"/>
          <p:cNvSpPr/>
          <p:nvPr/>
        </p:nvSpPr>
        <p:spPr>
          <a:xfrm>
            <a:off x="4297680" y="3840480"/>
            <a:ext cx="3474720" cy="0"/>
          </a:xfrm>
          <a:prstGeom prst="line">
            <a:avLst/>
          </a:prstGeom>
          <a:noFill/>
          <a:ln w="12700">
            <a:solidFill>
              <a:srgbClr val="1F2233"/>
            </a:solidFill>
            <a:prstDash val="solid"/>
          </a:ln>
        </p:spPr>
      </p:sp>
      <p:sp>
        <p:nvSpPr>
          <p:cNvPr id="24" name="Text 21"/>
          <p:cNvSpPr txBox="1"/>
          <p:nvPr/>
        </p:nvSpPr>
        <p:spPr>
          <a:xfrm>
            <a:off x="4297680" y="3977640"/>
            <a:ext cx="3474720" cy="548640"/>
          </a:xfrm>
          <a:prstGeom prst="rect">
            <a:avLst/>
          </a:prstGeom>
          <a:noFill/>
          <a:ln/>
        </p:spPr>
        <p:txBody>
          <a:bodyPr wrap="square" lIns="0" tIns="0" rIns="0" bIns="0" rtlCol="0" anchor="t"/>
          <a:lstStyle/>
          <a:p>
            <a:pPr indent="0" marL="0">
              <a:buNone/>
            </a:pPr>
            <a:r>
              <a:rPr lang="en-US" sz="2800" b="1" dirty="0">
                <a:solidFill>
                  <a:srgbClr val="1F2233"/>
                </a:solidFill>
                <a:latin typeface="Cambria" pitchFamily="34" charset="0"/>
                <a:ea typeface="Cambria" pitchFamily="34" charset="-122"/>
                <a:cs typeface="Cambria" pitchFamily="34" charset="-120"/>
              </a:rPr>
              <a:t>Open</a:t>
            </a:r>
            <a:endParaRPr lang="en-US" sz="2800" dirty="0"/>
          </a:p>
        </p:txBody>
      </p:sp>
      <p:sp>
        <p:nvSpPr>
          <p:cNvPr id="25" name="Text 22"/>
          <p:cNvSpPr txBox="1"/>
          <p:nvPr/>
        </p:nvSpPr>
        <p:spPr>
          <a:xfrm>
            <a:off x="4297680" y="4572000"/>
            <a:ext cx="3474720" cy="91440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Apache-2.0, the open alternative to TypeSafe’s Jev</a:t>
            </a:r>
            <a:endParaRPr lang="en-US" sz="1400" dirty="0"/>
          </a:p>
        </p:txBody>
      </p:sp>
      <p:sp>
        <p:nvSpPr>
          <p:cNvPr id="26" name="Shape 23"/>
          <p:cNvSpPr/>
          <p:nvPr/>
        </p:nvSpPr>
        <p:spPr>
          <a:xfrm>
            <a:off x="8046720" y="3840480"/>
            <a:ext cx="3474720" cy="0"/>
          </a:xfrm>
          <a:prstGeom prst="line">
            <a:avLst/>
          </a:prstGeom>
          <a:noFill/>
          <a:ln w="12700">
            <a:solidFill>
              <a:srgbClr val="1F2233"/>
            </a:solidFill>
            <a:prstDash val="solid"/>
          </a:ln>
        </p:spPr>
      </p:sp>
      <p:sp>
        <p:nvSpPr>
          <p:cNvPr id="27" name="Text 24"/>
          <p:cNvSpPr txBox="1"/>
          <p:nvPr/>
        </p:nvSpPr>
        <p:spPr>
          <a:xfrm>
            <a:off x="8046720" y="3977640"/>
            <a:ext cx="3474720" cy="548640"/>
          </a:xfrm>
          <a:prstGeom prst="rect">
            <a:avLst/>
          </a:prstGeom>
          <a:noFill/>
          <a:ln/>
        </p:spPr>
        <p:txBody>
          <a:bodyPr wrap="square" lIns="0" tIns="0" rIns="0" bIns="0" rtlCol="0" anchor="t"/>
          <a:lstStyle/>
          <a:p>
            <a:pPr indent="0" marL="0">
              <a:buNone/>
            </a:pPr>
            <a:r>
              <a:rPr lang="en-US" sz="2800" b="1" dirty="0">
                <a:solidFill>
                  <a:srgbClr val="1F2233"/>
                </a:solidFill>
                <a:latin typeface="Cambria" pitchFamily="34" charset="0"/>
                <a:ea typeface="Cambria" pitchFamily="34" charset="-122"/>
                <a:cs typeface="Cambria" pitchFamily="34" charset="-120"/>
              </a:rPr>
              <a:t>3 types</a:t>
            </a:r>
            <a:endParaRPr lang="en-US" sz="2800" dirty="0"/>
          </a:p>
        </p:txBody>
      </p:sp>
      <p:sp>
        <p:nvSpPr>
          <p:cNvPr id="28" name="Text 25"/>
          <p:cNvSpPr txBox="1"/>
          <p:nvPr/>
        </p:nvSpPr>
        <p:spPr>
          <a:xfrm>
            <a:off x="8046720" y="4572000"/>
            <a:ext cx="3474720" cy="91440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choice · score · noul (a yes/no probability)</a:t>
            </a:r>
            <a:endParaRPr lang="en-US" sz="1400" dirty="0"/>
          </a:p>
        </p:txBody>
      </p:sp>
      <p:sp>
        <p:nvSpPr>
          <p:cNvPr id="29" name="Shape 26"/>
          <p:cNvSpPr/>
          <p:nvPr/>
        </p:nvSpPr>
        <p:spPr>
          <a:xfrm>
            <a:off x="548640" y="5989320"/>
            <a:ext cx="11094415" cy="0"/>
          </a:xfrm>
          <a:prstGeom prst="line">
            <a:avLst/>
          </a:prstGeom>
          <a:noFill/>
          <a:ln w="9525">
            <a:solidFill>
              <a:srgbClr val="DDD3C0"/>
            </a:solidFill>
            <a:prstDash val="solid"/>
          </a:ln>
        </p:spPr>
      </p:sp>
      <p:sp>
        <p:nvSpPr>
          <p:cNvPr id="30" name="Text 27"/>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a System-One model already gives a probability for every option. ADAR needs exactly that to weigh Laya against the small networks.</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HOW ADAR WORKS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System Architecture</a:t>
            </a:r>
            <a:endParaRPr lang="en-US" sz="3400" dirty="0"/>
          </a:p>
        </p:txBody>
      </p:sp>
      <p:sp>
        <p:nvSpPr>
          <p:cNvPr id="5" name="Shape 2"/>
          <p:cNvSpPr/>
          <p:nvPr/>
        </p:nvSpPr>
        <p:spPr>
          <a:xfrm>
            <a:off x="548640" y="1828800"/>
            <a:ext cx="1554480" cy="822960"/>
          </a:xfrm>
          <a:prstGeom prst="roundRect">
            <a:avLst>
              <a:gd name="adj" fmla="val 8889"/>
            </a:avLst>
          </a:prstGeom>
          <a:solidFill>
            <a:srgbClr val="FCFAF5"/>
          </a:solidFill>
          <a:ln w="19050">
            <a:solidFill>
              <a:srgbClr val="1F2233"/>
            </a:solidFill>
            <a:prstDash val="solid"/>
          </a:ln>
        </p:spPr>
      </p:sp>
      <p:sp>
        <p:nvSpPr>
          <p:cNvPr id="6" name="Text 3"/>
          <p:cNvSpPr txBox="1"/>
          <p:nvPr/>
        </p:nvSpPr>
        <p:spPr>
          <a:xfrm>
            <a:off x="548640" y="1828800"/>
            <a:ext cx="1554480" cy="822960"/>
          </a:xfrm>
          <a:prstGeom prst="rect">
            <a:avLst/>
          </a:prstGeom>
          <a:noFill/>
          <a:ln/>
        </p:spPr>
        <p:txBody>
          <a:bodyPr wrap="square" lIns="0" tIns="0" rIns="0" bIns="0" rtlCol="0" anchor="ctr"/>
          <a:lstStyle/>
          <a:p>
            <a:pPr algn="ctr" indent="0" marL="0">
              <a:buNone/>
            </a:pPr>
            <a:r>
              <a:rPr lang="en-US" sz="1500" b="1" dirty="0">
                <a:solidFill>
                  <a:srgbClr val="1F2233"/>
                </a:solidFill>
                <a:latin typeface="Calibri" pitchFamily="34" charset="0"/>
                <a:ea typeface="Calibri" pitchFamily="34" charset="-122"/>
                <a:cs typeface="Calibri" pitchFamily="34" charset="-120"/>
              </a:rPr>
              <a:t>Input text</a:t>
            </a:r>
            <a:endParaRPr lang="en-US" sz="1400" dirty="0"/>
          </a:p>
        </p:txBody>
      </p:sp>
      <p:sp>
        <p:nvSpPr>
          <p:cNvPr id="7" name="Shape 4"/>
          <p:cNvSpPr/>
          <p:nvPr/>
        </p:nvSpPr>
        <p:spPr>
          <a:xfrm>
            <a:off x="2103120" y="2240280"/>
            <a:ext cx="457200" cy="0"/>
          </a:xfrm>
          <a:prstGeom prst="line">
            <a:avLst/>
          </a:prstGeom>
          <a:noFill/>
          <a:ln w="15875">
            <a:solidFill>
              <a:srgbClr val="1F2233"/>
            </a:solidFill>
            <a:prstDash val="solid"/>
            <a:tailEnd type="triangle"/>
          </a:ln>
        </p:spPr>
      </p:sp>
      <p:sp>
        <p:nvSpPr>
          <p:cNvPr id="8" name="Shape 5"/>
          <p:cNvSpPr/>
          <p:nvPr/>
        </p:nvSpPr>
        <p:spPr>
          <a:xfrm>
            <a:off x="2560320" y="1691640"/>
            <a:ext cx="2651760" cy="1097280"/>
          </a:xfrm>
          <a:prstGeom prst="roundRect">
            <a:avLst>
              <a:gd name="adj" fmla="val 6667"/>
            </a:avLst>
          </a:prstGeom>
          <a:solidFill>
            <a:srgbClr val="FCFAF5"/>
          </a:solidFill>
          <a:ln w="19050">
            <a:solidFill>
              <a:srgbClr val="A79E8C"/>
            </a:solidFill>
            <a:prstDash val="solid"/>
          </a:ln>
        </p:spPr>
      </p:sp>
      <p:sp>
        <p:nvSpPr>
          <p:cNvPr id="9" name="Text 6"/>
          <p:cNvSpPr txBox="1"/>
          <p:nvPr/>
        </p:nvSpPr>
        <p:spPr>
          <a:xfrm>
            <a:off x="2560320" y="1691640"/>
            <a:ext cx="2651760" cy="1097280"/>
          </a:xfrm>
          <a:prstGeom prst="rect">
            <a:avLst/>
          </a:prstGeom>
          <a:noFill/>
          <a:ln/>
        </p:spPr>
        <p:txBody>
          <a:bodyPr wrap="square" lIns="0" tIns="0" rIns="0" bIns="0" rtlCol="0" anchor="ctr"/>
          <a:lstStyle/>
          <a:p>
            <a:pPr algn="ctr" indent="0" marL="0">
              <a:buNone/>
            </a:pPr>
            <a:r>
              <a:rPr lang="en-US" sz="1500" b="1" dirty="0">
                <a:solidFill>
                  <a:srgbClr val="1F2233"/>
                </a:solidFill>
                <a:latin typeface="Calibri" pitchFamily="34" charset="0"/>
                <a:ea typeface="Calibri" pitchFamily="34" charset="-122"/>
                <a:cs typeface="Calibri" pitchFamily="34" charset="-120"/>
              </a:rPr>
              <a:t>Syllabus experts</a:t>
            </a:r>
            <a:endParaRPr lang="en-US" sz="1400" dirty="0"/>
          </a:p>
          <a:p>
            <a:pPr algn="ctr" indent="0" marL="0">
              <a:buNone/>
            </a:pPr>
            <a:r>
              <a:rPr lang="en-US" sz="1100" dirty="0">
                <a:solidFill>
                  <a:srgbClr val="6B6E78"/>
                </a:solidFill>
                <a:latin typeface="Calibri" pitchFamily="34" charset="0"/>
                <a:ea typeface="Calibri" pitchFamily="34" charset="-122"/>
                <a:cs typeface="Calibri" pitchFamily="34" charset="-120"/>
              </a:rPr>
              <a:t>TextCNN · RNN · LSTM · GRU</a:t>
            </a:r>
            <a:endParaRPr lang="en-US" sz="1400" dirty="0"/>
          </a:p>
          <a:p>
            <a:pPr algn="ctr" indent="0" marL="0">
              <a:buNone/>
            </a:pPr>
            <a:r>
              <a:rPr lang="en-US" sz="1100" dirty="0">
                <a:solidFill>
                  <a:srgbClr val="6B6E78"/>
                </a:solidFill>
                <a:latin typeface="Calibri" pitchFamily="34" charset="0"/>
                <a:ea typeface="Calibri" pitchFamily="34" charset="-122"/>
                <a:cs typeface="Calibri" pitchFamily="34" charset="-120"/>
              </a:rPr>
              <a:t>17 ms on a CPU, all four</a:t>
            </a:r>
            <a:endParaRPr lang="en-US" sz="1400" dirty="0"/>
          </a:p>
        </p:txBody>
      </p:sp>
      <p:sp>
        <p:nvSpPr>
          <p:cNvPr id="10" name="Shape 7"/>
          <p:cNvSpPr/>
          <p:nvPr/>
        </p:nvSpPr>
        <p:spPr>
          <a:xfrm>
            <a:off x="5212080" y="2240280"/>
            <a:ext cx="457200" cy="0"/>
          </a:xfrm>
          <a:prstGeom prst="line">
            <a:avLst/>
          </a:prstGeom>
          <a:noFill/>
          <a:ln w="15875">
            <a:solidFill>
              <a:srgbClr val="1F2233"/>
            </a:solidFill>
            <a:prstDash val="solid"/>
            <a:tailEnd type="triangle"/>
          </a:ln>
        </p:spPr>
      </p:sp>
      <p:sp>
        <p:nvSpPr>
          <p:cNvPr id="11" name="Shape 8"/>
          <p:cNvSpPr/>
          <p:nvPr/>
        </p:nvSpPr>
        <p:spPr>
          <a:xfrm>
            <a:off x="5669280" y="1691640"/>
            <a:ext cx="1645920" cy="1097280"/>
          </a:xfrm>
          <a:prstGeom prst="diamond">
            <a:avLst/>
          </a:prstGeom>
          <a:solidFill>
            <a:srgbClr val="FCFAF5"/>
          </a:solidFill>
          <a:ln w="15875">
            <a:solidFill>
              <a:srgbClr val="1F2233"/>
            </a:solidFill>
            <a:prstDash val="solid"/>
          </a:ln>
        </p:spPr>
      </p:sp>
      <p:sp>
        <p:nvSpPr>
          <p:cNvPr id="12" name="Text 9"/>
          <p:cNvSpPr txBox="1"/>
          <p:nvPr/>
        </p:nvSpPr>
        <p:spPr>
          <a:xfrm>
            <a:off x="5669280" y="1691640"/>
            <a:ext cx="1645920" cy="1097280"/>
          </a:xfrm>
          <a:prstGeom prst="rect">
            <a:avLst/>
          </a:prstGeom>
          <a:noFill/>
          <a:ln/>
        </p:spPr>
        <p:txBody>
          <a:bodyPr wrap="square" lIns="0" tIns="0" rIns="0" bIns="0" rtlCol="0" anchor="ctr"/>
          <a:lstStyle/>
          <a:p>
            <a:pPr algn="ctr" indent="0" marL="0">
              <a:buNone/>
            </a:pPr>
            <a:r>
              <a:rPr lang="en-US" sz="1600" b="1" dirty="0">
                <a:solidFill>
                  <a:srgbClr val="1F2233"/>
                </a:solidFill>
                <a:latin typeface="Calibri" pitchFamily="34" charset="0"/>
                <a:ea typeface="Calibri" pitchFamily="34" charset="-122"/>
                <a:cs typeface="Calibri" pitchFamily="34" charset="-120"/>
              </a:rPr>
              <a:t>Sure?</a:t>
            </a:r>
            <a:endParaRPr lang="en-US" sz="1600" dirty="0"/>
          </a:p>
        </p:txBody>
      </p:sp>
      <p:sp>
        <p:nvSpPr>
          <p:cNvPr id="13" name="Shape 10"/>
          <p:cNvSpPr/>
          <p:nvPr/>
        </p:nvSpPr>
        <p:spPr>
          <a:xfrm>
            <a:off x="7315200" y="2240280"/>
            <a:ext cx="1188720" cy="0"/>
          </a:xfrm>
          <a:prstGeom prst="line">
            <a:avLst/>
          </a:prstGeom>
          <a:noFill/>
          <a:ln w="15875">
            <a:solidFill>
              <a:srgbClr val="1F2233"/>
            </a:solidFill>
            <a:prstDash val="solid"/>
            <a:tailEnd type="triangle"/>
          </a:ln>
        </p:spPr>
      </p:sp>
      <p:sp>
        <p:nvSpPr>
          <p:cNvPr id="14" name="Text 11"/>
          <p:cNvSpPr txBox="1"/>
          <p:nvPr/>
        </p:nvSpPr>
        <p:spPr>
          <a:xfrm>
            <a:off x="7406640" y="1874520"/>
            <a:ext cx="1097280" cy="274320"/>
          </a:xfrm>
          <a:prstGeom prst="rect">
            <a:avLst/>
          </a:prstGeom>
          <a:noFill/>
          <a:ln/>
        </p:spPr>
        <p:txBody>
          <a:bodyPr wrap="square" lIns="0" tIns="0" rIns="0" bIns="0" rtlCol="0" anchor="t"/>
          <a:lstStyle/>
          <a:p>
            <a:pPr indent="0" marL="0">
              <a:buNone/>
            </a:pPr>
            <a:r>
              <a:rPr lang="en-US" sz="1200" b="1" dirty="0">
                <a:solidFill>
                  <a:srgbClr val="6B6E78"/>
                </a:solidFill>
                <a:latin typeface="Calibri" pitchFamily="34" charset="0"/>
                <a:ea typeface="Calibri" pitchFamily="34" charset="-122"/>
                <a:cs typeface="Calibri" pitchFamily="34" charset="-120"/>
              </a:rPr>
              <a:t>yes · 64%</a:t>
            </a:r>
            <a:endParaRPr lang="en-US" sz="1200" dirty="0"/>
          </a:p>
        </p:txBody>
      </p:sp>
      <p:sp>
        <p:nvSpPr>
          <p:cNvPr id="15" name="Shape 12"/>
          <p:cNvSpPr/>
          <p:nvPr/>
        </p:nvSpPr>
        <p:spPr>
          <a:xfrm>
            <a:off x="8503920" y="1828800"/>
            <a:ext cx="3108960" cy="822960"/>
          </a:xfrm>
          <a:prstGeom prst="roundRect">
            <a:avLst>
              <a:gd name="adj" fmla="val 8889"/>
            </a:avLst>
          </a:prstGeom>
          <a:solidFill>
            <a:srgbClr val="FCFAF5"/>
          </a:solidFill>
          <a:ln w="19050">
            <a:solidFill>
              <a:srgbClr val="A79E8C"/>
            </a:solidFill>
            <a:prstDash val="solid"/>
          </a:ln>
        </p:spPr>
      </p:sp>
      <p:sp>
        <p:nvSpPr>
          <p:cNvPr id="16" name="Text 13"/>
          <p:cNvSpPr txBox="1"/>
          <p:nvPr/>
        </p:nvSpPr>
        <p:spPr>
          <a:xfrm>
            <a:off x="8503920" y="1828800"/>
            <a:ext cx="3108960" cy="822960"/>
          </a:xfrm>
          <a:prstGeom prst="rect">
            <a:avLst/>
          </a:prstGeom>
          <a:noFill/>
          <a:ln/>
        </p:spPr>
        <p:txBody>
          <a:bodyPr wrap="square" lIns="0" tIns="0" rIns="0" bIns="0" rtlCol="0" anchor="ctr"/>
          <a:lstStyle/>
          <a:p>
            <a:pPr algn="ctr" indent="0" marL="0">
              <a:buNone/>
            </a:pPr>
            <a:r>
              <a:rPr lang="en-US" sz="1500" b="1" dirty="0">
                <a:solidFill>
                  <a:srgbClr val="1F2233"/>
                </a:solidFill>
                <a:latin typeface="Calibri" pitchFamily="34" charset="0"/>
                <a:ea typeface="Calibri" pitchFamily="34" charset="-122"/>
                <a:cs typeface="Calibri" pitchFamily="34" charset="-120"/>
              </a:rPr>
              <a:t>Answer from the experts</a:t>
            </a:r>
            <a:endParaRPr lang="en-US" sz="1400" dirty="0"/>
          </a:p>
          <a:p>
            <a:pPr algn="ctr" indent="0" marL="0">
              <a:buNone/>
            </a:pPr>
            <a:r>
              <a:rPr lang="en-US" sz="1100" dirty="0">
                <a:solidFill>
                  <a:srgbClr val="6B6E78"/>
                </a:solidFill>
                <a:latin typeface="Calibri" pitchFamily="34" charset="0"/>
                <a:ea typeface="Calibri" pitchFamily="34" charset="-122"/>
                <a:cs typeface="Calibri" pitchFamily="34" charset="-120"/>
              </a:rPr>
              <a:t>fast path</a:t>
            </a:r>
            <a:endParaRPr lang="en-US" sz="1400" dirty="0"/>
          </a:p>
        </p:txBody>
      </p:sp>
      <p:sp>
        <p:nvSpPr>
          <p:cNvPr id="17" name="Shape 14"/>
          <p:cNvSpPr/>
          <p:nvPr/>
        </p:nvSpPr>
        <p:spPr>
          <a:xfrm>
            <a:off x="6492240" y="2788920"/>
            <a:ext cx="0" cy="1143000"/>
          </a:xfrm>
          <a:prstGeom prst="line">
            <a:avLst/>
          </a:prstGeom>
          <a:noFill/>
          <a:ln w="15875">
            <a:solidFill>
              <a:srgbClr val="1F2233"/>
            </a:solidFill>
            <a:prstDash val="solid"/>
            <a:tailEnd type="triangle"/>
          </a:ln>
        </p:spPr>
      </p:sp>
      <p:sp>
        <p:nvSpPr>
          <p:cNvPr id="18" name="Text 15"/>
          <p:cNvSpPr txBox="1"/>
          <p:nvPr/>
        </p:nvSpPr>
        <p:spPr>
          <a:xfrm>
            <a:off x="6629400" y="3154680"/>
            <a:ext cx="1097280" cy="274320"/>
          </a:xfrm>
          <a:prstGeom prst="rect">
            <a:avLst/>
          </a:prstGeom>
          <a:noFill/>
          <a:ln/>
        </p:spPr>
        <p:txBody>
          <a:bodyPr wrap="square" lIns="0" tIns="0" rIns="0" bIns="0" rtlCol="0" anchor="t"/>
          <a:lstStyle/>
          <a:p>
            <a:pPr indent="0" marL="0">
              <a:buNone/>
            </a:pPr>
            <a:r>
              <a:rPr lang="en-US" sz="1200" b="1" dirty="0">
                <a:solidFill>
                  <a:srgbClr val="6B6E78"/>
                </a:solidFill>
                <a:latin typeface="Calibri" pitchFamily="34" charset="0"/>
                <a:ea typeface="Calibri" pitchFamily="34" charset="-122"/>
                <a:cs typeface="Calibri" pitchFamily="34" charset="-120"/>
              </a:rPr>
              <a:t>no · 36%</a:t>
            </a:r>
            <a:endParaRPr lang="en-US" sz="1200" dirty="0"/>
          </a:p>
        </p:txBody>
      </p:sp>
      <p:sp>
        <p:nvSpPr>
          <p:cNvPr id="19" name="Shape 16"/>
          <p:cNvSpPr/>
          <p:nvPr/>
        </p:nvSpPr>
        <p:spPr>
          <a:xfrm>
            <a:off x="5486400" y="3931920"/>
            <a:ext cx="2011680" cy="1005840"/>
          </a:xfrm>
          <a:prstGeom prst="roundRect">
            <a:avLst>
              <a:gd name="adj" fmla="val 7273"/>
            </a:avLst>
          </a:prstGeom>
          <a:solidFill>
            <a:srgbClr val="FCFAF5"/>
          </a:solidFill>
          <a:ln w="19050">
            <a:solidFill>
              <a:srgbClr val="4A5874"/>
            </a:solidFill>
            <a:prstDash val="solid"/>
          </a:ln>
        </p:spPr>
      </p:sp>
      <p:sp>
        <p:nvSpPr>
          <p:cNvPr id="20" name="Text 17"/>
          <p:cNvSpPr txBox="1"/>
          <p:nvPr/>
        </p:nvSpPr>
        <p:spPr>
          <a:xfrm>
            <a:off x="5486400" y="3931920"/>
            <a:ext cx="2011680" cy="1005840"/>
          </a:xfrm>
          <a:prstGeom prst="rect">
            <a:avLst/>
          </a:prstGeom>
          <a:noFill/>
          <a:ln/>
        </p:spPr>
        <p:txBody>
          <a:bodyPr wrap="square" lIns="0" tIns="0" rIns="0" bIns="0" rtlCol="0" anchor="ctr"/>
          <a:lstStyle/>
          <a:p>
            <a:pPr algn="ctr" indent="0" marL="0">
              <a:buNone/>
            </a:pPr>
            <a:r>
              <a:rPr lang="en-US" sz="1500" b="1" dirty="0">
                <a:solidFill>
                  <a:srgbClr val="1F2233"/>
                </a:solidFill>
                <a:latin typeface="Calibri" pitchFamily="34" charset="0"/>
                <a:ea typeface="Calibri" pitchFamily="34" charset="-122"/>
                <a:cs typeface="Calibri" pitchFamily="34" charset="-120"/>
              </a:rPr>
              <a:t>Laya encoder</a:t>
            </a:r>
            <a:endParaRPr lang="en-US" sz="1400" dirty="0"/>
          </a:p>
          <a:p>
            <a:pPr algn="ctr" indent="0" marL="0">
              <a:buNone/>
            </a:pPr>
            <a:r>
              <a:rPr lang="en-US" sz="1100" dirty="0">
                <a:solidFill>
                  <a:srgbClr val="6B6E78"/>
                </a:solidFill>
                <a:latin typeface="Calibri" pitchFamily="34" charset="0"/>
                <a:ea typeface="Calibri" pitchFamily="34" charset="-122"/>
                <a:cs typeface="Calibri" pitchFamily="34" charset="-120"/>
              </a:rPr>
              <a:t>frozen · 395M</a:t>
            </a:r>
            <a:endParaRPr lang="en-US" sz="1400" dirty="0"/>
          </a:p>
        </p:txBody>
      </p:sp>
      <p:sp>
        <p:nvSpPr>
          <p:cNvPr id="21" name="Shape 18"/>
          <p:cNvSpPr/>
          <p:nvPr/>
        </p:nvSpPr>
        <p:spPr>
          <a:xfrm>
            <a:off x="7498080" y="4434840"/>
            <a:ext cx="1005840" cy="0"/>
          </a:xfrm>
          <a:prstGeom prst="line">
            <a:avLst/>
          </a:prstGeom>
          <a:noFill/>
          <a:ln w="15875">
            <a:solidFill>
              <a:srgbClr val="1F2233"/>
            </a:solidFill>
            <a:prstDash val="solid"/>
            <a:tailEnd type="triangle"/>
          </a:ln>
        </p:spPr>
      </p:sp>
      <p:sp>
        <p:nvSpPr>
          <p:cNvPr id="22" name="Shape 19"/>
          <p:cNvSpPr/>
          <p:nvPr/>
        </p:nvSpPr>
        <p:spPr>
          <a:xfrm>
            <a:off x="8503920" y="3794760"/>
            <a:ext cx="3108960" cy="1280160"/>
          </a:xfrm>
          <a:prstGeom prst="roundRect">
            <a:avLst>
              <a:gd name="adj" fmla="val 5714"/>
            </a:avLst>
          </a:prstGeom>
          <a:solidFill>
            <a:srgbClr val="F3DED5"/>
          </a:solidFill>
          <a:ln w="19050">
            <a:solidFill>
              <a:srgbClr val="C0503A"/>
            </a:solidFill>
            <a:prstDash val="solid"/>
          </a:ln>
        </p:spPr>
      </p:sp>
      <p:sp>
        <p:nvSpPr>
          <p:cNvPr id="23" name="Text 20"/>
          <p:cNvSpPr txBox="1"/>
          <p:nvPr/>
        </p:nvSpPr>
        <p:spPr>
          <a:xfrm>
            <a:off x="8503920" y="3794760"/>
            <a:ext cx="3108960" cy="1280160"/>
          </a:xfrm>
          <a:prstGeom prst="rect">
            <a:avLst/>
          </a:prstGeom>
          <a:noFill/>
          <a:ln/>
        </p:spPr>
        <p:txBody>
          <a:bodyPr wrap="square" lIns="0" tIns="0" rIns="0" bIns="0" rtlCol="0" anchor="ctr"/>
          <a:lstStyle/>
          <a:p>
            <a:pPr algn="ctr" indent="0" marL="0">
              <a:buNone/>
            </a:pPr>
            <a:r>
              <a:rPr lang="en-US" sz="1500" b="1" dirty="0">
                <a:solidFill>
                  <a:srgbClr val="1F2233"/>
                </a:solidFill>
                <a:latin typeface="Calibri" pitchFamily="34" charset="0"/>
                <a:ea typeface="Calibri" pitchFamily="34" charset="-122"/>
                <a:cs typeface="Calibri" pitchFamily="34" charset="-120"/>
              </a:rPr>
              <a:t>ADAR head</a:t>
            </a:r>
            <a:endParaRPr lang="en-US" sz="1400" dirty="0"/>
          </a:p>
          <a:p>
            <a:pPr algn="ctr" indent="0" marL="0">
              <a:buNone/>
            </a:pPr>
            <a:r>
              <a:rPr lang="en-US" sz="1100" dirty="0">
                <a:solidFill>
                  <a:srgbClr val="6B6E78"/>
                </a:solidFill>
                <a:latin typeface="Calibri" pitchFamily="34" charset="0"/>
                <a:ea typeface="Calibri" pitchFamily="34" charset="-122"/>
                <a:cs typeface="Calibri" pitchFamily="34" charset="-120"/>
              </a:rPr>
              <a:t>answer · P(answer right)</a:t>
            </a:r>
            <a:endParaRPr lang="en-US" sz="1400" dirty="0"/>
          </a:p>
          <a:p>
            <a:pPr algn="ctr" indent="0" marL="0">
              <a:buNone/>
            </a:pPr>
            <a:r>
              <a:rPr lang="en-US" sz="1100" dirty="0">
                <a:solidFill>
                  <a:srgbClr val="6B6E78"/>
                </a:solidFill>
                <a:latin typeface="Calibri" pitchFamily="34" charset="0"/>
                <a:ea typeface="Calibri" pitchFamily="34" charset="-122"/>
                <a:cs typeface="Calibri" pitchFamily="34" charset="-120"/>
              </a:rPr>
              <a:t>P(each expert right) · 2.3M params</a:t>
            </a:r>
            <a:endParaRPr lang="en-US" sz="1400" dirty="0"/>
          </a:p>
        </p:txBody>
      </p:sp>
      <p:sp>
        <p:nvSpPr>
          <p:cNvPr id="24" name="Shape 21"/>
          <p:cNvSpPr/>
          <p:nvPr/>
        </p:nvSpPr>
        <p:spPr>
          <a:xfrm>
            <a:off x="3886200" y="2788920"/>
            <a:ext cx="0" cy="2697480"/>
          </a:xfrm>
          <a:prstGeom prst="line">
            <a:avLst/>
          </a:prstGeom>
          <a:noFill/>
          <a:ln w="15875">
            <a:solidFill>
              <a:srgbClr val="A79E8C"/>
            </a:solidFill>
            <a:prstDash val="dash"/>
          </a:ln>
        </p:spPr>
      </p:sp>
      <p:sp>
        <p:nvSpPr>
          <p:cNvPr id="25" name="Shape 22"/>
          <p:cNvSpPr/>
          <p:nvPr/>
        </p:nvSpPr>
        <p:spPr>
          <a:xfrm>
            <a:off x="3886200" y="5486400"/>
            <a:ext cx="6172200" cy="0"/>
          </a:xfrm>
          <a:prstGeom prst="line">
            <a:avLst/>
          </a:prstGeom>
          <a:noFill/>
          <a:ln w="15875">
            <a:solidFill>
              <a:srgbClr val="A79E8C"/>
            </a:solidFill>
            <a:prstDash val="dash"/>
          </a:ln>
        </p:spPr>
      </p:sp>
      <p:sp>
        <p:nvSpPr>
          <p:cNvPr id="26" name="Shape 23"/>
          <p:cNvSpPr/>
          <p:nvPr/>
        </p:nvSpPr>
        <p:spPr>
          <a:xfrm>
            <a:off x="10058400" y="5486400"/>
            <a:ext cx="0" cy="-411480"/>
          </a:xfrm>
          <a:prstGeom prst="line">
            <a:avLst/>
          </a:prstGeom>
          <a:noFill/>
          <a:ln w="15875">
            <a:solidFill>
              <a:srgbClr val="A79E8C"/>
            </a:solidFill>
            <a:prstDash val="dash"/>
            <a:tailEnd type="triangle"/>
          </a:ln>
        </p:spPr>
      </p:sp>
      <p:sp>
        <p:nvSpPr>
          <p:cNvPr id="27" name="Text 24"/>
          <p:cNvSpPr txBox="1"/>
          <p:nvPr/>
        </p:nvSpPr>
        <p:spPr>
          <a:xfrm>
            <a:off x="4023360" y="5532120"/>
            <a:ext cx="2743200" cy="274320"/>
          </a:xfrm>
          <a:prstGeom prst="rect">
            <a:avLst/>
          </a:prstGeom>
          <a:noFill/>
          <a:ln/>
        </p:spPr>
        <p:txBody>
          <a:bodyPr wrap="square" lIns="0" tIns="0" rIns="0" bIns="0" rtlCol="0" anchor="t"/>
          <a:lstStyle/>
          <a:p>
            <a:pPr indent="0" marL="0">
              <a:buNone/>
            </a:pPr>
            <a:r>
              <a:rPr lang="en-US" sz="1200" b="1" dirty="0">
                <a:solidFill>
                  <a:srgbClr val="6B6E78"/>
                </a:solidFill>
                <a:latin typeface="Calibri" pitchFamily="34" charset="0"/>
                <a:ea typeface="Calibri" pitchFamily="34" charset="-122"/>
                <a:cs typeface="Calibri" pitchFamily="34" charset="-120"/>
              </a:rPr>
              <a:t>expert votes + confidence</a:t>
            </a:r>
            <a:endParaRPr lang="en-US" sz="1200" dirty="0"/>
          </a:p>
        </p:txBody>
      </p:sp>
      <p:sp>
        <p:nvSpPr>
          <p:cNvPr id="28" name="Shape 25"/>
          <p:cNvSpPr/>
          <p:nvPr/>
        </p:nvSpPr>
        <p:spPr>
          <a:xfrm>
            <a:off x="548640" y="5989320"/>
            <a:ext cx="11094415" cy="0"/>
          </a:xfrm>
          <a:prstGeom prst="line">
            <a:avLst/>
          </a:prstGeom>
          <a:noFill/>
          <a:ln w="9525">
            <a:solidFill>
              <a:srgbClr val="DDD3C0"/>
            </a:solidFill>
            <a:prstDash val="solid"/>
          </a:ln>
        </p:spPr>
      </p:sp>
      <p:sp>
        <p:nvSpPr>
          <p:cNvPr id="29" name="Text 26"/>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on AG News, 64% of inputs never touch the 395M-parameter model; the rest get both views, combined by the head.</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HOW ADAR WORKS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Inside the ADAR Head</a:t>
            </a:r>
            <a:endParaRPr lang="en-US" sz="3400" dirty="0"/>
          </a:p>
        </p:txBody>
      </p:sp>
      <p:sp>
        <p:nvSpPr>
          <p:cNvPr id="5" name="Shape 2"/>
          <p:cNvSpPr/>
          <p:nvPr/>
        </p:nvSpPr>
        <p:spPr>
          <a:xfrm>
            <a:off x="548640" y="1463040"/>
            <a:ext cx="11094415" cy="4343400"/>
          </a:xfrm>
          <a:prstGeom prst="roundRect">
            <a:avLst>
              <a:gd name="adj" fmla="val 1684"/>
            </a:avLst>
          </a:prstGeom>
          <a:solidFill>
            <a:srgbClr val="FAEEE8"/>
          </a:solidFill>
          <a:ln w="15875">
            <a:solidFill>
              <a:srgbClr val="C0503A"/>
            </a:solidFill>
            <a:prstDash val="solid"/>
          </a:ln>
        </p:spPr>
      </p:sp>
      <p:sp>
        <p:nvSpPr>
          <p:cNvPr id="6" name="Text 3"/>
          <p:cNvSpPr txBox="1"/>
          <p:nvPr/>
        </p:nvSpPr>
        <p:spPr>
          <a:xfrm>
            <a:off x="777240" y="1600200"/>
            <a:ext cx="914400" cy="27432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INPUT</a:t>
            </a:r>
            <a:endParaRPr lang="en-US" sz="1100" dirty="0"/>
          </a:p>
        </p:txBody>
      </p:sp>
      <p:sp>
        <p:nvSpPr>
          <p:cNvPr id="7" name="Text 4"/>
          <p:cNvSpPr txBox="1"/>
          <p:nvPr/>
        </p:nvSpPr>
        <p:spPr>
          <a:xfrm>
            <a:off x="1965960" y="1600200"/>
            <a:ext cx="2743200" cy="27432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ANSWER OPTIONS</a:t>
            </a:r>
            <a:endParaRPr lang="en-US" sz="1100" dirty="0"/>
          </a:p>
        </p:txBody>
      </p:sp>
      <p:sp>
        <p:nvSpPr>
          <p:cNvPr id="8" name="Text 5"/>
          <p:cNvSpPr txBox="1"/>
          <p:nvPr/>
        </p:nvSpPr>
        <p:spPr>
          <a:xfrm>
            <a:off x="6537960" y="1600200"/>
            <a:ext cx="2743200" cy="27432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EXPERTS</a:t>
            </a:r>
            <a:endParaRPr lang="en-US" sz="1100" dirty="0"/>
          </a:p>
        </p:txBody>
      </p:sp>
      <p:sp>
        <p:nvSpPr>
          <p:cNvPr id="9" name="Shape 6"/>
          <p:cNvSpPr/>
          <p:nvPr/>
        </p:nvSpPr>
        <p:spPr>
          <a:xfrm>
            <a:off x="777240" y="1920240"/>
            <a:ext cx="1051560" cy="457200"/>
          </a:xfrm>
          <a:prstGeom prst="roundRect">
            <a:avLst>
              <a:gd name="adj" fmla="val 12000"/>
            </a:avLst>
          </a:prstGeom>
          <a:solidFill>
            <a:srgbClr val="FCFAF5"/>
          </a:solidFill>
          <a:ln w="15875">
            <a:solidFill>
              <a:srgbClr val="4A5874"/>
            </a:solidFill>
            <a:prstDash val="solid"/>
          </a:ln>
        </p:spPr>
      </p:sp>
      <p:sp>
        <p:nvSpPr>
          <p:cNvPr id="10" name="Text 7"/>
          <p:cNvSpPr txBox="1"/>
          <p:nvPr/>
        </p:nvSpPr>
        <p:spPr>
          <a:xfrm>
            <a:off x="777240" y="1920240"/>
            <a:ext cx="1051560" cy="457200"/>
          </a:xfrm>
          <a:prstGeom prst="rect">
            <a:avLst/>
          </a:prstGeom>
          <a:noFill/>
          <a:ln/>
        </p:spPr>
        <p:txBody>
          <a:bodyPr wrap="square" lIns="0" tIns="0" rIns="0" bIns="0" rtlCol="0" anchor="ctr"/>
          <a:lstStyle/>
          <a:p>
            <a:pPr algn="ctr" indent="0" marL="0">
              <a:buNone/>
            </a:pPr>
            <a:r>
              <a:rPr lang="en-US" sz="1200" b="1" dirty="0">
                <a:solidFill>
                  <a:srgbClr val="1F2233"/>
                </a:solidFill>
                <a:latin typeface="Courier New" pitchFamily="34" charset="0"/>
                <a:ea typeface="Courier New" pitchFamily="34" charset="-122"/>
                <a:cs typeface="Courier New" pitchFamily="34" charset="-120"/>
              </a:rPr>
              <a:t>STATE</a:t>
            </a:r>
            <a:endParaRPr lang="en-US" sz="1200" dirty="0"/>
          </a:p>
        </p:txBody>
      </p:sp>
      <p:sp>
        <p:nvSpPr>
          <p:cNvPr id="11" name="Shape 8"/>
          <p:cNvSpPr/>
          <p:nvPr/>
        </p:nvSpPr>
        <p:spPr>
          <a:xfrm>
            <a:off x="1956816" y="1920240"/>
            <a:ext cx="1051560" cy="457200"/>
          </a:xfrm>
          <a:prstGeom prst="roundRect">
            <a:avLst>
              <a:gd name="adj" fmla="val 12000"/>
            </a:avLst>
          </a:prstGeom>
          <a:solidFill>
            <a:srgbClr val="FCFAF5"/>
          </a:solidFill>
          <a:ln w="15875">
            <a:solidFill>
              <a:srgbClr val="1F2233"/>
            </a:solidFill>
            <a:prstDash val="dash"/>
          </a:ln>
        </p:spPr>
      </p:sp>
      <p:sp>
        <p:nvSpPr>
          <p:cNvPr id="12" name="Text 9"/>
          <p:cNvSpPr txBox="1"/>
          <p:nvPr/>
        </p:nvSpPr>
        <p:spPr>
          <a:xfrm>
            <a:off x="1956816" y="1920240"/>
            <a:ext cx="1051560" cy="457200"/>
          </a:xfrm>
          <a:prstGeom prst="rect">
            <a:avLst/>
          </a:prstGeom>
          <a:noFill/>
          <a:ln/>
        </p:spPr>
        <p:txBody>
          <a:bodyPr wrap="square" lIns="0" tIns="0" rIns="0" bIns="0" rtlCol="0" anchor="ctr"/>
          <a:lstStyle/>
          <a:p>
            <a:pPr algn="ctr" indent="0" marL="0">
              <a:buNone/>
            </a:pPr>
            <a:r>
              <a:rPr lang="en-US" sz="1200" b="1" dirty="0">
                <a:solidFill>
                  <a:srgbClr val="1F2233"/>
                </a:solidFill>
                <a:latin typeface="Courier New" pitchFamily="34" charset="0"/>
                <a:ea typeface="Courier New" pitchFamily="34" charset="-122"/>
                <a:cs typeface="Courier New" pitchFamily="34" charset="-120"/>
              </a:rPr>
              <a:t>world</a:t>
            </a:r>
            <a:endParaRPr lang="en-US" sz="1200" dirty="0"/>
          </a:p>
        </p:txBody>
      </p:sp>
      <p:sp>
        <p:nvSpPr>
          <p:cNvPr id="13" name="Shape 10"/>
          <p:cNvSpPr/>
          <p:nvPr/>
        </p:nvSpPr>
        <p:spPr>
          <a:xfrm>
            <a:off x="3136392" y="1920240"/>
            <a:ext cx="1051560" cy="457200"/>
          </a:xfrm>
          <a:prstGeom prst="roundRect">
            <a:avLst>
              <a:gd name="adj" fmla="val 12000"/>
            </a:avLst>
          </a:prstGeom>
          <a:solidFill>
            <a:srgbClr val="FCFAF5"/>
          </a:solidFill>
          <a:ln w="15875">
            <a:solidFill>
              <a:srgbClr val="1F2233"/>
            </a:solidFill>
            <a:prstDash val="dash"/>
          </a:ln>
        </p:spPr>
      </p:sp>
      <p:sp>
        <p:nvSpPr>
          <p:cNvPr id="14" name="Text 11"/>
          <p:cNvSpPr txBox="1"/>
          <p:nvPr/>
        </p:nvSpPr>
        <p:spPr>
          <a:xfrm>
            <a:off x="3136392" y="1920240"/>
            <a:ext cx="1051560" cy="457200"/>
          </a:xfrm>
          <a:prstGeom prst="rect">
            <a:avLst/>
          </a:prstGeom>
          <a:noFill/>
          <a:ln/>
        </p:spPr>
        <p:txBody>
          <a:bodyPr wrap="square" lIns="0" tIns="0" rIns="0" bIns="0" rtlCol="0" anchor="ctr"/>
          <a:lstStyle/>
          <a:p>
            <a:pPr algn="ctr" indent="0" marL="0">
              <a:buNone/>
            </a:pPr>
            <a:r>
              <a:rPr lang="en-US" sz="1200" b="1" dirty="0">
                <a:solidFill>
                  <a:srgbClr val="1F2233"/>
                </a:solidFill>
                <a:latin typeface="Courier New" pitchFamily="34" charset="0"/>
                <a:ea typeface="Courier New" pitchFamily="34" charset="-122"/>
                <a:cs typeface="Courier New" pitchFamily="34" charset="-120"/>
              </a:rPr>
              <a:t>sports</a:t>
            </a:r>
            <a:endParaRPr lang="en-US" sz="1200" dirty="0"/>
          </a:p>
        </p:txBody>
      </p:sp>
      <p:sp>
        <p:nvSpPr>
          <p:cNvPr id="15" name="Shape 12"/>
          <p:cNvSpPr/>
          <p:nvPr/>
        </p:nvSpPr>
        <p:spPr>
          <a:xfrm>
            <a:off x="4315968" y="1920240"/>
            <a:ext cx="1051560" cy="457200"/>
          </a:xfrm>
          <a:prstGeom prst="roundRect">
            <a:avLst>
              <a:gd name="adj" fmla="val 12000"/>
            </a:avLst>
          </a:prstGeom>
          <a:solidFill>
            <a:srgbClr val="FCFAF5"/>
          </a:solidFill>
          <a:ln w="15875">
            <a:solidFill>
              <a:srgbClr val="1F2233"/>
            </a:solidFill>
            <a:prstDash val="dash"/>
          </a:ln>
        </p:spPr>
      </p:sp>
      <p:sp>
        <p:nvSpPr>
          <p:cNvPr id="16" name="Text 13"/>
          <p:cNvSpPr txBox="1"/>
          <p:nvPr/>
        </p:nvSpPr>
        <p:spPr>
          <a:xfrm>
            <a:off x="4315968" y="1920240"/>
            <a:ext cx="1051560" cy="457200"/>
          </a:xfrm>
          <a:prstGeom prst="rect">
            <a:avLst/>
          </a:prstGeom>
          <a:noFill/>
          <a:ln/>
        </p:spPr>
        <p:txBody>
          <a:bodyPr wrap="square" lIns="0" tIns="0" rIns="0" bIns="0" rtlCol="0" anchor="ctr"/>
          <a:lstStyle/>
          <a:p>
            <a:pPr algn="ctr" indent="0" marL="0">
              <a:buNone/>
            </a:pPr>
            <a:r>
              <a:rPr lang="en-US" sz="1200" b="1" dirty="0">
                <a:solidFill>
                  <a:srgbClr val="1F2233"/>
                </a:solidFill>
                <a:latin typeface="Courier New" pitchFamily="34" charset="0"/>
                <a:ea typeface="Courier New" pitchFamily="34" charset="-122"/>
                <a:cs typeface="Courier New" pitchFamily="34" charset="-120"/>
              </a:rPr>
              <a:t>business</a:t>
            </a:r>
            <a:endParaRPr lang="en-US" sz="1200" dirty="0"/>
          </a:p>
        </p:txBody>
      </p:sp>
      <p:sp>
        <p:nvSpPr>
          <p:cNvPr id="17" name="Shape 14"/>
          <p:cNvSpPr/>
          <p:nvPr/>
        </p:nvSpPr>
        <p:spPr>
          <a:xfrm>
            <a:off x="5495544" y="1920240"/>
            <a:ext cx="1051560" cy="457200"/>
          </a:xfrm>
          <a:prstGeom prst="roundRect">
            <a:avLst>
              <a:gd name="adj" fmla="val 12000"/>
            </a:avLst>
          </a:prstGeom>
          <a:solidFill>
            <a:srgbClr val="FCFAF5"/>
          </a:solidFill>
          <a:ln w="15875">
            <a:solidFill>
              <a:srgbClr val="1F2233"/>
            </a:solidFill>
            <a:prstDash val="dash"/>
          </a:ln>
        </p:spPr>
      </p:sp>
      <p:sp>
        <p:nvSpPr>
          <p:cNvPr id="18" name="Text 15"/>
          <p:cNvSpPr txBox="1"/>
          <p:nvPr/>
        </p:nvSpPr>
        <p:spPr>
          <a:xfrm>
            <a:off x="5495544" y="1920240"/>
            <a:ext cx="1051560" cy="457200"/>
          </a:xfrm>
          <a:prstGeom prst="rect">
            <a:avLst/>
          </a:prstGeom>
          <a:noFill/>
          <a:ln/>
        </p:spPr>
        <p:txBody>
          <a:bodyPr wrap="square" lIns="0" tIns="0" rIns="0" bIns="0" rtlCol="0" anchor="ctr"/>
          <a:lstStyle/>
          <a:p>
            <a:pPr algn="ctr" indent="0" marL="0">
              <a:buNone/>
            </a:pPr>
            <a:r>
              <a:rPr lang="en-US" sz="1200" b="1" dirty="0">
                <a:solidFill>
                  <a:srgbClr val="1F2233"/>
                </a:solidFill>
                <a:latin typeface="Courier New" pitchFamily="34" charset="0"/>
                <a:ea typeface="Courier New" pitchFamily="34" charset="-122"/>
                <a:cs typeface="Courier New" pitchFamily="34" charset="-120"/>
              </a:rPr>
              <a:t>sci/tech</a:t>
            </a:r>
            <a:endParaRPr lang="en-US" sz="1200" dirty="0"/>
          </a:p>
        </p:txBody>
      </p:sp>
      <p:sp>
        <p:nvSpPr>
          <p:cNvPr id="19" name="Shape 16"/>
          <p:cNvSpPr/>
          <p:nvPr/>
        </p:nvSpPr>
        <p:spPr>
          <a:xfrm>
            <a:off x="6675120" y="1920240"/>
            <a:ext cx="1051560" cy="457200"/>
          </a:xfrm>
          <a:prstGeom prst="roundRect">
            <a:avLst>
              <a:gd name="adj" fmla="val 12000"/>
            </a:avLst>
          </a:prstGeom>
          <a:solidFill>
            <a:srgbClr val="FCFAF5"/>
          </a:solidFill>
          <a:ln w="15875">
            <a:solidFill>
              <a:srgbClr val="A79E8C"/>
            </a:solidFill>
            <a:prstDash val="solid"/>
          </a:ln>
        </p:spPr>
      </p:sp>
      <p:sp>
        <p:nvSpPr>
          <p:cNvPr id="20" name="Text 17"/>
          <p:cNvSpPr txBox="1"/>
          <p:nvPr/>
        </p:nvSpPr>
        <p:spPr>
          <a:xfrm>
            <a:off x="6675120" y="1920240"/>
            <a:ext cx="1051560" cy="457200"/>
          </a:xfrm>
          <a:prstGeom prst="rect">
            <a:avLst/>
          </a:prstGeom>
          <a:noFill/>
          <a:ln/>
        </p:spPr>
        <p:txBody>
          <a:bodyPr wrap="square" lIns="0" tIns="0" rIns="0" bIns="0" rtlCol="0" anchor="ctr"/>
          <a:lstStyle/>
          <a:p>
            <a:pPr algn="ctr" indent="0" marL="0">
              <a:buNone/>
            </a:pPr>
            <a:r>
              <a:rPr lang="en-US" sz="1200" b="1" dirty="0">
                <a:solidFill>
                  <a:srgbClr val="1F2233"/>
                </a:solidFill>
                <a:latin typeface="Courier New" pitchFamily="34" charset="0"/>
                <a:ea typeface="Courier New" pitchFamily="34" charset="-122"/>
                <a:cs typeface="Courier New" pitchFamily="34" charset="-120"/>
              </a:rPr>
              <a:t>CNN</a:t>
            </a:r>
            <a:endParaRPr lang="en-US" sz="1200" dirty="0"/>
          </a:p>
        </p:txBody>
      </p:sp>
      <p:sp>
        <p:nvSpPr>
          <p:cNvPr id="21" name="Shape 18"/>
          <p:cNvSpPr/>
          <p:nvPr/>
        </p:nvSpPr>
        <p:spPr>
          <a:xfrm>
            <a:off x="7854696" y="1920240"/>
            <a:ext cx="1051560" cy="457200"/>
          </a:xfrm>
          <a:prstGeom prst="roundRect">
            <a:avLst>
              <a:gd name="adj" fmla="val 12000"/>
            </a:avLst>
          </a:prstGeom>
          <a:solidFill>
            <a:srgbClr val="FCFAF5"/>
          </a:solidFill>
          <a:ln w="15875">
            <a:solidFill>
              <a:srgbClr val="A79E8C"/>
            </a:solidFill>
            <a:prstDash val="solid"/>
          </a:ln>
        </p:spPr>
      </p:sp>
      <p:sp>
        <p:nvSpPr>
          <p:cNvPr id="22" name="Text 19"/>
          <p:cNvSpPr txBox="1"/>
          <p:nvPr/>
        </p:nvSpPr>
        <p:spPr>
          <a:xfrm>
            <a:off x="7854696" y="1920240"/>
            <a:ext cx="1051560" cy="457200"/>
          </a:xfrm>
          <a:prstGeom prst="rect">
            <a:avLst/>
          </a:prstGeom>
          <a:noFill/>
          <a:ln/>
        </p:spPr>
        <p:txBody>
          <a:bodyPr wrap="square" lIns="0" tIns="0" rIns="0" bIns="0" rtlCol="0" anchor="ctr"/>
          <a:lstStyle/>
          <a:p>
            <a:pPr algn="ctr" indent="0" marL="0">
              <a:buNone/>
            </a:pPr>
            <a:r>
              <a:rPr lang="en-US" sz="1200" b="1" dirty="0">
                <a:solidFill>
                  <a:srgbClr val="1F2233"/>
                </a:solidFill>
                <a:latin typeface="Courier New" pitchFamily="34" charset="0"/>
                <a:ea typeface="Courier New" pitchFamily="34" charset="-122"/>
                <a:cs typeface="Courier New" pitchFamily="34" charset="-120"/>
              </a:rPr>
              <a:t>RNN</a:t>
            </a:r>
            <a:endParaRPr lang="en-US" sz="1200" dirty="0"/>
          </a:p>
        </p:txBody>
      </p:sp>
      <p:sp>
        <p:nvSpPr>
          <p:cNvPr id="23" name="Shape 20"/>
          <p:cNvSpPr/>
          <p:nvPr/>
        </p:nvSpPr>
        <p:spPr>
          <a:xfrm>
            <a:off x="9034272" y="1920240"/>
            <a:ext cx="1051560" cy="457200"/>
          </a:xfrm>
          <a:prstGeom prst="roundRect">
            <a:avLst>
              <a:gd name="adj" fmla="val 12000"/>
            </a:avLst>
          </a:prstGeom>
          <a:solidFill>
            <a:srgbClr val="FCFAF5"/>
          </a:solidFill>
          <a:ln w="15875">
            <a:solidFill>
              <a:srgbClr val="A79E8C"/>
            </a:solidFill>
            <a:prstDash val="solid"/>
          </a:ln>
        </p:spPr>
      </p:sp>
      <p:sp>
        <p:nvSpPr>
          <p:cNvPr id="24" name="Text 21"/>
          <p:cNvSpPr txBox="1"/>
          <p:nvPr/>
        </p:nvSpPr>
        <p:spPr>
          <a:xfrm>
            <a:off x="9034272" y="1920240"/>
            <a:ext cx="1051560" cy="457200"/>
          </a:xfrm>
          <a:prstGeom prst="rect">
            <a:avLst/>
          </a:prstGeom>
          <a:noFill/>
          <a:ln/>
        </p:spPr>
        <p:txBody>
          <a:bodyPr wrap="square" lIns="0" tIns="0" rIns="0" bIns="0" rtlCol="0" anchor="ctr"/>
          <a:lstStyle/>
          <a:p>
            <a:pPr algn="ctr" indent="0" marL="0">
              <a:buNone/>
            </a:pPr>
            <a:r>
              <a:rPr lang="en-US" sz="1200" b="1" dirty="0">
                <a:solidFill>
                  <a:srgbClr val="1F2233"/>
                </a:solidFill>
                <a:latin typeface="Courier New" pitchFamily="34" charset="0"/>
                <a:ea typeface="Courier New" pitchFamily="34" charset="-122"/>
                <a:cs typeface="Courier New" pitchFamily="34" charset="-120"/>
              </a:rPr>
              <a:t>LSTM</a:t>
            </a:r>
            <a:endParaRPr lang="en-US" sz="1200" dirty="0"/>
          </a:p>
        </p:txBody>
      </p:sp>
      <p:sp>
        <p:nvSpPr>
          <p:cNvPr id="25" name="Shape 22"/>
          <p:cNvSpPr/>
          <p:nvPr/>
        </p:nvSpPr>
        <p:spPr>
          <a:xfrm>
            <a:off x="10213848" y="1920240"/>
            <a:ext cx="1051560" cy="457200"/>
          </a:xfrm>
          <a:prstGeom prst="roundRect">
            <a:avLst>
              <a:gd name="adj" fmla="val 12000"/>
            </a:avLst>
          </a:prstGeom>
          <a:solidFill>
            <a:srgbClr val="FCFAF5"/>
          </a:solidFill>
          <a:ln w="15875">
            <a:solidFill>
              <a:srgbClr val="A79E8C"/>
            </a:solidFill>
            <a:prstDash val="solid"/>
          </a:ln>
        </p:spPr>
      </p:sp>
      <p:sp>
        <p:nvSpPr>
          <p:cNvPr id="26" name="Text 23"/>
          <p:cNvSpPr txBox="1"/>
          <p:nvPr/>
        </p:nvSpPr>
        <p:spPr>
          <a:xfrm>
            <a:off x="10213848" y="1920240"/>
            <a:ext cx="1051560" cy="457200"/>
          </a:xfrm>
          <a:prstGeom prst="rect">
            <a:avLst/>
          </a:prstGeom>
          <a:noFill/>
          <a:ln/>
        </p:spPr>
        <p:txBody>
          <a:bodyPr wrap="square" lIns="0" tIns="0" rIns="0" bIns="0" rtlCol="0" anchor="ctr"/>
          <a:lstStyle/>
          <a:p>
            <a:pPr algn="ctr" indent="0" marL="0">
              <a:buNone/>
            </a:pPr>
            <a:r>
              <a:rPr lang="en-US" sz="1200" b="1" dirty="0">
                <a:solidFill>
                  <a:srgbClr val="1F2233"/>
                </a:solidFill>
                <a:latin typeface="Courier New" pitchFamily="34" charset="0"/>
                <a:ea typeface="Courier New" pitchFamily="34" charset="-122"/>
                <a:cs typeface="Courier New" pitchFamily="34" charset="-120"/>
              </a:rPr>
              <a:t>GRU</a:t>
            </a:r>
            <a:endParaRPr lang="en-US" sz="1200" dirty="0"/>
          </a:p>
        </p:txBody>
      </p:sp>
      <p:sp>
        <p:nvSpPr>
          <p:cNvPr id="27" name="Shape 24"/>
          <p:cNvSpPr/>
          <p:nvPr/>
        </p:nvSpPr>
        <p:spPr>
          <a:xfrm>
            <a:off x="3108960" y="2697480"/>
            <a:ext cx="5943600" cy="548640"/>
          </a:xfrm>
          <a:prstGeom prst="roundRect">
            <a:avLst>
              <a:gd name="adj" fmla="val 13333"/>
            </a:avLst>
          </a:prstGeom>
          <a:solidFill>
            <a:srgbClr val="1F2233"/>
          </a:solidFill>
          <a:ln w="12700">
            <a:solidFill>
              <a:srgbClr val="1F2233"/>
            </a:solidFill>
            <a:prstDash val="solid"/>
          </a:ln>
        </p:spPr>
      </p:sp>
      <p:sp>
        <p:nvSpPr>
          <p:cNvPr id="28" name="Text 25"/>
          <p:cNvSpPr txBox="1"/>
          <p:nvPr/>
        </p:nvSpPr>
        <p:spPr>
          <a:xfrm>
            <a:off x="3108960" y="2697480"/>
            <a:ext cx="5943600" cy="548640"/>
          </a:xfrm>
          <a:prstGeom prst="rect">
            <a:avLst/>
          </a:prstGeom>
          <a:noFill/>
          <a:ln/>
        </p:spPr>
        <p:txBody>
          <a:bodyPr wrap="square" lIns="0" tIns="0" rIns="0" bIns="0" rtlCol="0" anchor="ctr"/>
          <a:lstStyle/>
          <a:p>
            <a:pPr algn="ctr" indent="0" marL="0">
              <a:buNone/>
            </a:pPr>
            <a:r>
              <a:rPr lang="en-US" sz="1500" b="1" dirty="0">
                <a:solidFill>
                  <a:srgbClr val="FCFAF5"/>
                </a:solidFill>
                <a:latin typeface="Calibri" pitchFamily="34" charset="0"/>
                <a:ea typeface="Calibri" pitchFamily="34" charset="-122"/>
                <a:cs typeface="Calibri" pitchFamily="34" charset="-120"/>
              </a:rPr>
              <a:t>2-layer transformer: the tokens attend to each other</a:t>
            </a:r>
            <a:endParaRPr lang="en-US" sz="1500" dirty="0"/>
          </a:p>
        </p:txBody>
      </p:sp>
      <p:sp>
        <p:nvSpPr>
          <p:cNvPr id="29" name="Shape 26"/>
          <p:cNvSpPr/>
          <p:nvPr/>
        </p:nvSpPr>
        <p:spPr>
          <a:xfrm>
            <a:off x="914400" y="3566160"/>
            <a:ext cx="3246120" cy="1920240"/>
          </a:xfrm>
          <a:prstGeom prst="roundRect">
            <a:avLst>
              <a:gd name="adj" fmla="val 3810"/>
            </a:avLst>
          </a:prstGeom>
          <a:solidFill>
            <a:srgbClr val="FCFAF5"/>
          </a:solidFill>
          <a:ln w="19050">
            <a:solidFill>
              <a:srgbClr val="C0503A"/>
            </a:solidFill>
            <a:prstDash val="solid"/>
          </a:ln>
        </p:spPr>
      </p:sp>
      <p:sp>
        <p:nvSpPr>
          <p:cNvPr id="30" name="Text 27"/>
          <p:cNvSpPr txBox="1"/>
          <p:nvPr/>
        </p:nvSpPr>
        <p:spPr>
          <a:xfrm>
            <a:off x="1097280" y="3703320"/>
            <a:ext cx="2834640" cy="411480"/>
          </a:xfrm>
          <a:prstGeom prst="rect">
            <a:avLst/>
          </a:prstGeom>
          <a:noFill/>
          <a:ln/>
        </p:spPr>
        <p:txBody>
          <a:bodyPr wrap="square" lIns="0" tIns="0" rIns="0" bIns="0" rtlCol="0" anchor="t"/>
          <a:lstStyle/>
          <a:p>
            <a:pPr indent="0" marL="0">
              <a:buNone/>
            </a:pPr>
            <a:r>
              <a:rPr lang="en-US" sz="1800" b="1" dirty="0">
                <a:solidFill>
                  <a:srgbClr val="1F2233"/>
                </a:solidFill>
                <a:latin typeface="Courier New" pitchFamily="34" charset="0"/>
                <a:ea typeface="Courier New" pitchFamily="34" charset="-122"/>
                <a:cs typeface="Courier New" pitchFamily="34" charset="-120"/>
              </a:rPr>
              <a:t>choice</a:t>
            </a:r>
            <a:endParaRPr lang="en-US" sz="1800" dirty="0"/>
          </a:p>
        </p:txBody>
      </p:sp>
      <p:sp>
        <p:nvSpPr>
          <p:cNvPr id="31" name="Text 28"/>
          <p:cNvSpPr txBox="1"/>
          <p:nvPr/>
        </p:nvSpPr>
        <p:spPr>
          <a:xfrm>
            <a:off x="1097280" y="4206240"/>
            <a:ext cx="2834640" cy="109728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a probability for every option: the answer</a:t>
            </a:r>
            <a:endParaRPr lang="en-US" sz="1400" dirty="0"/>
          </a:p>
        </p:txBody>
      </p:sp>
      <p:sp>
        <p:nvSpPr>
          <p:cNvPr id="32" name="Shape 29"/>
          <p:cNvSpPr/>
          <p:nvPr/>
        </p:nvSpPr>
        <p:spPr>
          <a:xfrm>
            <a:off x="4434840" y="3566160"/>
            <a:ext cx="3246120" cy="1920240"/>
          </a:xfrm>
          <a:prstGeom prst="roundRect">
            <a:avLst>
              <a:gd name="adj" fmla="val 3810"/>
            </a:avLst>
          </a:prstGeom>
          <a:solidFill>
            <a:srgbClr val="FCFAF5"/>
          </a:solidFill>
          <a:ln w="19050">
            <a:solidFill>
              <a:srgbClr val="A79E8C"/>
            </a:solidFill>
            <a:prstDash val="solid"/>
          </a:ln>
        </p:spPr>
      </p:sp>
      <p:sp>
        <p:nvSpPr>
          <p:cNvPr id="33" name="Text 30"/>
          <p:cNvSpPr txBox="1"/>
          <p:nvPr/>
        </p:nvSpPr>
        <p:spPr>
          <a:xfrm>
            <a:off x="4617720" y="3703320"/>
            <a:ext cx="2834640" cy="411480"/>
          </a:xfrm>
          <a:prstGeom prst="rect">
            <a:avLst/>
          </a:prstGeom>
          <a:noFill/>
          <a:ln/>
        </p:spPr>
        <p:txBody>
          <a:bodyPr wrap="square" lIns="0" tIns="0" rIns="0" bIns="0" rtlCol="0" anchor="t"/>
          <a:lstStyle/>
          <a:p>
            <a:pPr indent="0" marL="0">
              <a:buNone/>
            </a:pPr>
            <a:r>
              <a:rPr lang="en-US" sz="1800" b="1" dirty="0">
                <a:solidFill>
                  <a:srgbClr val="1F2233"/>
                </a:solidFill>
                <a:latin typeface="Courier New" pitchFamily="34" charset="0"/>
                <a:ea typeface="Courier New" pitchFamily="34" charset="-122"/>
                <a:cs typeface="Courier New" pitchFamily="34" charset="-120"/>
              </a:rPr>
              <a:t>noul × 4</a:t>
            </a:r>
            <a:endParaRPr lang="en-US" sz="1800" dirty="0"/>
          </a:p>
        </p:txBody>
      </p:sp>
      <p:sp>
        <p:nvSpPr>
          <p:cNvPr id="34" name="Text 31"/>
          <p:cNvSpPr txBox="1"/>
          <p:nvPr/>
        </p:nvSpPr>
        <p:spPr>
          <a:xfrm>
            <a:off x="4617720" y="4206240"/>
            <a:ext cx="2834640" cy="109728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P(this expert is right here): its routing weight α</a:t>
            </a:r>
            <a:endParaRPr lang="en-US" sz="1400" dirty="0"/>
          </a:p>
        </p:txBody>
      </p:sp>
      <p:sp>
        <p:nvSpPr>
          <p:cNvPr id="35" name="Shape 32"/>
          <p:cNvSpPr/>
          <p:nvPr/>
        </p:nvSpPr>
        <p:spPr>
          <a:xfrm>
            <a:off x="7955280" y="3566160"/>
            <a:ext cx="3246120" cy="1920240"/>
          </a:xfrm>
          <a:prstGeom prst="roundRect">
            <a:avLst>
              <a:gd name="adj" fmla="val 3810"/>
            </a:avLst>
          </a:prstGeom>
          <a:solidFill>
            <a:srgbClr val="FCFAF5"/>
          </a:solidFill>
          <a:ln w="19050">
            <a:solidFill>
              <a:srgbClr val="4A5874"/>
            </a:solidFill>
            <a:prstDash val="solid"/>
          </a:ln>
        </p:spPr>
      </p:sp>
      <p:sp>
        <p:nvSpPr>
          <p:cNvPr id="36" name="Text 33"/>
          <p:cNvSpPr txBox="1"/>
          <p:nvPr/>
        </p:nvSpPr>
        <p:spPr>
          <a:xfrm>
            <a:off x="8138160" y="3703320"/>
            <a:ext cx="2834640" cy="411480"/>
          </a:xfrm>
          <a:prstGeom prst="rect">
            <a:avLst/>
          </a:prstGeom>
          <a:noFill/>
          <a:ln/>
        </p:spPr>
        <p:txBody>
          <a:bodyPr wrap="square" lIns="0" tIns="0" rIns="0" bIns="0" rtlCol="0" anchor="t"/>
          <a:lstStyle/>
          <a:p>
            <a:pPr indent="0" marL="0">
              <a:buNone/>
            </a:pPr>
            <a:r>
              <a:rPr lang="en-US" sz="1800" b="1" dirty="0">
                <a:solidFill>
                  <a:srgbClr val="1F2233"/>
                </a:solidFill>
                <a:latin typeface="Courier New" pitchFamily="34" charset="0"/>
                <a:ea typeface="Courier New" pitchFamily="34" charset="-122"/>
                <a:cs typeface="Courier New" pitchFamily="34" charset="-120"/>
              </a:rPr>
              <a:t>act</a:t>
            </a:r>
            <a:endParaRPr lang="en-US" sz="1800" dirty="0"/>
          </a:p>
        </p:txBody>
      </p:sp>
      <p:sp>
        <p:nvSpPr>
          <p:cNvPr id="37" name="Text 34"/>
          <p:cNvSpPr txBox="1"/>
          <p:nvPr/>
        </p:nvSpPr>
        <p:spPr>
          <a:xfrm>
            <a:off x="8138160" y="4206240"/>
            <a:ext cx="2834640" cy="109728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P(my own answer is right): abstain or escalate</a:t>
            </a:r>
            <a:endParaRPr lang="en-US" sz="1400" dirty="0"/>
          </a:p>
        </p:txBody>
      </p:sp>
      <p:sp>
        <p:nvSpPr>
          <p:cNvPr id="38" name="Shape 35"/>
          <p:cNvSpPr/>
          <p:nvPr/>
        </p:nvSpPr>
        <p:spPr>
          <a:xfrm>
            <a:off x="548640" y="5989320"/>
            <a:ext cx="11094415" cy="0"/>
          </a:xfrm>
          <a:prstGeom prst="line">
            <a:avLst/>
          </a:prstGeom>
          <a:noFill/>
          <a:ln w="9525">
            <a:solidFill>
              <a:srgbClr val="DDD3C0"/>
            </a:solidFill>
            <a:prstDash val="solid"/>
          </a:ln>
        </p:spPr>
      </p:sp>
      <p:sp>
        <p:nvSpPr>
          <p:cNvPr id="39" name="Text 36"/>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the head has only 2.3M parameters and answers in the same typed format as a System-One model: an answer, plus how far to trust each source.</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HOW ADAR WORKS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How the Head Learns</a:t>
            </a:r>
            <a:endParaRPr lang="en-US" sz="3400" dirty="0"/>
          </a:p>
        </p:txBody>
      </p:sp>
      <p:sp>
        <p:nvSpPr>
          <p:cNvPr id="5" name="Shape 2"/>
          <p:cNvSpPr/>
          <p:nvPr/>
        </p:nvSpPr>
        <p:spPr>
          <a:xfrm>
            <a:off x="548640" y="1554480"/>
            <a:ext cx="3566160" cy="4206240"/>
          </a:xfrm>
          <a:prstGeom prst="roundRect">
            <a:avLst>
              <a:gd name="adj" fmla="val 2051"/>
            </a:avLst>
          </a:prstGeom>
          <a:solidFill>
            <a:srgbClr val="FCFAF5"/>
          </a:solidFill>
          <a:ln w="9525">
            <a:solidFill>
              <a:srgbClr val="DDD3C0"/>
            </a:solidFill>
            <a:prstDash val="solid"/>
          </a:ln>
        </p:spPr>
      </p:sp>
      <p:sp>
        <p:nvSpPr>
          <p:cNvPr id="6" name="Text 3"/>
          <p:cNvSpPr txBox="1"/>
          <p:nvPr/>
        </p:nvSpPr>
        <p:spPr>
          <a:xfrm>
            <a:off x="777240" y="1737360"/>
            <a:ext cx="3108960" cy="274320"/>
          </a:xfrm>
          <a:prstGeom prst="rect">
            <a:avLst/>
          </a:prstGeom>
          <a:noFill/>
          <a:ln/>
        </p:spPr>
        <p:txBody>
          <a:bodyPr wrap="square" lIns="0" tIns="0" rIns="0" bIns="0" rtlCol="0" anchor="t"/>
          <a:lstStyle/>
          <a:p>
            <a:pPr indent="0" marL="0">
              <a:buNone/>
            </a:pPr>
            <a:r>
              <a:rPr lang="en-US" sz="1100" b="1" spc="150" kern="0" dirty="0">
                <a:solidFill>
                  <a:srgbClr val="A8432F"/>
                </a:solidFill>
                <a:latin typeface="Calibri" pitchFamily="34" charset="0"/>
                <a:ea typeface="Calibri" pitchFamily="34" charset="-122"/>
                <a:cs typeface="Calibri" pitchFamily="34" charset="-120"/>
              </a:rPr>
              <a:t>1 · HONEST EXPERT OPINIONS</a:t>
            </a:r>
            <a:endParaRPr lang="en-US" sz="1100" dirty="0"/>
          </a:p>
        </p:txBody>
      </p:sp>
      <p:sp>
        <p:nvSpPr>
          <p:cNvPr id="7" name="Shape 4"/>
          <p:cNvSpPr/>
          <p:nvPr/>
        </p:nvSpPr>
        <p:spPr>
          <a:xfrm>
            <a:off x="777240" y="2194560"/>
            <a:ext cx="960120" cy="274320"/>
          </a:xfrm>
          <a:prstGeom prst="roundRect">
            <a:avLst>
              <a:gd name="adj" fmla="val 13333"/>
            </a:avLst>
          </a:prstGeom>
          <a:solidFill>
            <a:srgbClr val="FCFAF5"/>
          </a:solidFill>
          <a:ln w="12700">
            <a:solidFill>
              <a:srgbClr val="1F2233"/>
            </a:solidFill>
            <a:prstDash val="dash"/>
          </a:ln>
        </p:spPr>
      </p:sp>
      <p:sp>
        <p:nvSpPr>
          <p:cNvPr id="8" name="Text 5"/>
          <p:cNvSpPr txBox="1"/>
          <p:nvPr/>
        </p:nvSpPr>
        <p:spPr>
          <a:xfrm>
            <a:off x="777240" y="2194560"/>
            <a:ext cx="960120" cy="274320"/>
          </a:xfrm>
          <a:prstGeom prst="rect">
            <a:avLst/>
          </a:prstGeom>
          <a:noFill/>
          <a:ln/>
        </p:spPr>
        <p:txBody>
          <a:bodyPr wrap="square" lIns="0" tIns="0" rIns="0" bIns="0" rtlCol="0" anchor="ctr"/>
          <a:lstStyle/>
          <a:p>
            <a:pPr algn="ctr" indent="0" marL="0">
              <a:buNone/>
            </a:pPr>
            <a:r>
              <a:rPr lang="en-US" sz="1100" dirty="0">
                <a:solidFill>
                  <a:srgbClr val="1F2233"/>
                </a:solidFill>
                <a:latin typeface="Calibri" pitchFamily="34" charset="0"/>
                <a:ea typeface="Calibri" pitchFamily="34" charset="-122"/>
                <a:cs typeface="Calibri" pitchFamily="34" charset="-120"/>
              </a:rPr>
              <a:t>predict</a:t>
            </a:r>
            <a:endParaRPr lang="en-US" sz="1100" dirty="0"/>
          </a:p>
        </p:txBody>
      </p:sp>
      <p:sp>
        <p:nvSpPr>
          <p:cNvPr id="9" name="Shape 6"/>
          <p:cNvSpPr/>
          <p:nvPr/>
        </p:nvSpPr>
        <p:spPr>
          <a:xfrm>
            <a:off x="1828800" y="2194560"/>
            <a:ext cx="960120" cy="274320"/>
          </a:xfrm>
          <a:prstGeom prst="roundRect">
            <a:avLst>
              <a:gd name="adj" fmla="val 13333"/>
            </a:avLst>
          </a:prstGeom>
          <a:solidFill>
            <a:srgbClr val="EFE8DA"/>
          </a:solidFill>
          <a:ln w="12700">
            <a:solidFill>
              <a:srgbClr val="EFE8DA"/>
            </a:solidFill>
            <a:prstDash val="solid"/>
          </a:ln>
        </p:spPr>
      </p:sp>
      <p:sp>
        <p:nvSpPr>
          <p:cNvPr id="10" name="Text 7"/>
          <p:cNvSpPr txBox="1"/>
          <p:nvPr/>
        </p:nvSpPr>
        <p:spPr>
          <a:xfrm>
            <a:off x="1828800" y="2194560"/>
            <a:ext cx="960120" cy="274320"/>
          </a:xfrm>
          <a:prstGeom prst="rect">
            <a:avLst/>
          </a:prstGeom>
          <a:noFill/>
          <a:ln/>
        </p:spPr>
        <p:txBody>
          <a:bodyPr wrap="square" lIns="0" tIns="0" rIns="0" bIns="0" rtlCol="0" anchor="ctr"/>
          <a:lstStyle/>
          <a:p>
            <a:pPr algn="ctr" indent="0" marL="0">
              <a:buNone/>
            </a:pPr>
            <a:r>
              <a:rPr lang="en-US" sz="1100" dirty="0">
                <a:solidFill>
                  <a:srgbClr val="1F2233"/>
                </a:solidFill>
                <a:latin typeface="Calibri" pitchFamily="34" charset="0"/>
                <a:ea typeface="Calibri" pitchFamily="34" charset="-122"/>
                <a:cs typeface="Calibri" pitchFamily="34" charset="-120"/>
              </a:rPr>
              <a:t>train</a:t>
            </a:r>
            <a:endParaRPr lang="en-US" sz="1100" dirty="0"/>
          </a:p>
        </p:txBody>
      </p:sp>
      <p:sp>
        <p:nvSpPr>
          <p:cNvPr id="11" name="Shape 8"/>
          <p:cNvSpPr/>
          <p:nvPr/>
        </p:nvSpPr>
        <p:spPr>
          <a:xfrm>
            <a:off x="2880360" y="2194560"/>
            <a:ext cx="960120" cy="274320"/>
          </a:xfrm>
          <a:prstGeom prst="roundRect">
            <a:avLst>
              <a:gd name="adj" fmla="val 13333"/>
            </a:avLst>
          </a:prstGeom>
          <a:solidFill>
            <a:srgbClr val="EFE8DA"/>
          </a:solidFill>
          <a:ln w="12700">
            <a:solidFill>
              <a:srgbClr val="EFE8DA"/>
            </a:solidFill>
            <a:prstDash val="solid"/>
          </a:ln>
        </p:spPr>
      </p:sp>
      <p:sp>
        <p:nvSpPr>
          <p:cNvPr id="12" name="Text 9"/>
          <p:cNvSpPr txBox="1"/>
          <p:nvPr/>
        </p:nvSpPr>
        <p:spPr>
          <a:xfrm>
            <a:off x="2880360" y="2194560"/>
            <a:ext cx="960120" cy="274320"/>
          </a:xfrm>
          <a:prstGeom prst="rect">
            <a:avLst/>
          </a:prstGeom>
          <a:noFill/>
          <a:ln/>
        </p:spPr>
        <p:txBody>
          <a:bodyPr wrap="square" lIns="0" tIns="0" rIns="0" bIns="0" rtlCol="0" anchor="ctr"/>
          <a:lstStyle/>
          <a:p>
            <a:pPr algn="ctr" indent="0" marL="0">
              <a:buNone/>
            </a:pPr>
            <a:r>
              <a:rPr lang="en-US" sz="1100" dirty="0">
                <a:solidFill>
                  <a:srgbClr val="1F2233"/>
                </a:solidFill>
                <a:latin typeface="Calibri" pitchFamily="34" charset="0"/>
                <a:ea typeface="Calibri" pitchFamily="34" charset="-122"/>
                <a:cs typeface="Calibri" pitchFamily="34" charset="-120"/>
              </a:rPr>
              <a:t>train</a:t>
            </a:r>
            <a:endParaRPr lang="en-US" sz="1100" dirty="0"/>
          </a:p>
        </p:txBody>
      </p:sp>
      <p:sp>
        <p:nvSpPr>
          <p:cNvPr id="13" name="Shape 10"/>
          <p:cNvSpPr/>
          <p:nvPr/>
        </p:nvSpPr>
        <p:spPr>
          <a:xfrm>
            <a:off x="777240" y="2542032"/>
            <a:ext cx="960120" cy="274320"/>
          </a:xfrm>
          <a:prstGeom prst="roundRect">
            <a:avLst>
              <a:gd name="adj" fmla="val 13333"/>
            </a:avLst>
          </a:prstGeom>
          <a:solidFill>
            <a:srgbClr val="EFE8DA"/>
          </a:solidFill>
          <a:ln w="12700">
            <a:solidFill>
              <a:srgbClr val="EFE8DA"/>
            </a:solidFill>
            <a:prstDash val="solid"/>
          </a:ln>
        </p:spPr>
      </p:sp>
      <p:sp>
        <p:nvSpPr>
          <p:cNvPr id="14" name="Text 11"/>
          <p:cNvSpPr txBox="1"/>
          <p:nvPr/>
        </p:nvSpPr>
        <p:spPr>
          <a:xfrm>
            <a:off x="777240" y="2542032"/>
            <a:ext cx="960120" cy="274320"/>
          </a:xfrm>
          <a:prstGeom prst="rect">
            <a:avLst/>
          </a:prstGeom>
          <a:noFill/>
          <a:ln/>
        </p:spPr>
        <p:txBody>
          <a:bodyPr wrap="square" lIns="0" tIns="0" rIns="0" bIns="0" rtlCol="0" anchor="ctr"/>
          <a:lstStyle/>
          <a:p>
            <a:pPr algn="ctr" indent="0" marL="0">
              <a:buNone/>
            </a:pPr>
            <a:r>
              <a:rPr lang="en-US" sz="1100" dirty="0">
                <a:solidFill>
                  <a:srgbClr val="1F2233"/>
                </a:solidFill>
                <a:latin typeface="Calibri" pitchFamily="34" charset="0"/>
                <a:ea typeface="Calibri" pitchFamily="34" charset="-122"/>
                <a:cs typeface="Calibri" pitchFamily="34" charset="-120"/>
              </a:rPr>
              <a:t>train</a:t>
            </a:r>
            <a:endParaRPr lang="en-US" sz="1100" dirty="0"/>
          </a:p>
        </p:txBody>
      </p:sp>
      <p:sp>
        <p:nvSpPr>
          <p:cNvPr id="15" name="Shape 12"/>
          <p:cNvSpPr/>
          <p:nvPr/>
        </p:nvSpPr>
        <p:spPr>
          <a:xfrm>
            <a:off x="1828800" y="2542032"/>
            <a:ext cx="960120" cy="274320"/>
          </a:xfrm>
          <a:prstGeom prst="roundRect">
            <a:avLst>
              <a:gd name="adj" fmla="val 13333"/>
            </a:avLst>
          </a:prstGeom>
          <a:solidFill>
            <a:srgbClr val="FCFAF5"/>
          </a:solidFill>
          <a:ln w="12700">
            <a:solidFill>
              <a:srgbClr val="1F2233"/>
            </a:solidFill>
            <a:prstDash val="dash"/>
          </a:ln>
        </p:spPr>
      </p:sp>
      <p:sp>
        <p:nvSpPr>
          <p:cNvPr id="16" name="Text 13"/>
          <p:cNvSpPr txBox="1"/>
          <p:nvPr/>
        </p:nvSpPr>
        <p:spPr>
          <a:xfrm>
            <a:off x="1828800" y="2542032"/>
            <a:ext cx="960120" cy="274320"/>
          </a:xfrm>
          <a:prstGeom prst="rect">
            <a:avLst/>
          </a:prstGeom>
          <a:noFill/>
          <a:ln/>
        </p:spPr>
        <p:txBody>
          <a:bodyPr wrap="square" lIns="0" tIns="0" rIns="0" bIns="0" rtlCol="0" anchor="ctr"/>
          <a:lstStyle/>
          <a:p>
            <a:pPr algn="ctr" indent="0" marL="0">
              <a:buNone/>
            </a:pPr>
            <a:r>
              <a:rPr lang="en-US" sz="1100" dirty="0">
                <a:solidFill>
                  <a:srgbClr val="1F2233"/>
                </a:solidFill>
                <a:latin typeface="Calibri" pitchFamily="34" charset="0"/>
                <a:ea typeface="Calibri" pitchFamily="34" charset="-122"/>
                <a:cs typeface="Calibri" pitchFamily="34" charset="-120"/>
              </a:rPr>
              <a:t>predict</a:t>
            </a:r>
            <a:endParaRPr lang="en-US" sz="1100" dirty="0"/>
          </a:p>
        </p:txBody>
      </p:sp>
      <p:sp>
        <p:nvSpPr>
          <p:cNvPr id="17" name="Shape 14"/>
          <p:cNvSpPr/>
          <p:nvPr/>
        </p:nvSpPr>
        <p:spPr>
          <a:xfrm>
            <a:off x="2880360" y="2542032"/>
            <a:ext cx="960120" cy="274320"/>
          </a:xfrm>
          <a:prstGeom prst="roundRect">
            <a:avLst>
              <a:gd name="adj" fmla="val 13333"/>
            </a:avLst>
          </a:prstGeom>
          <a:solidFill>
            <a:srgbClr val="EFE8DA"/>
          </a:solidFill>
          <a:ln w="12700">
            <a:solidFill>
              <a:srgbClr val="EFE8DA"/>
            </a:solidFill>
            <a:prstDash val="solid"/>
          </a:ln>
        </p:spPr>
      </p:sp>
      <p:sp>
        <p:nvSpPr>
          <p:cNvPr id="18" name="Text 15"/>
          <p:cNvSpPr txBox="1"/>
          <p:nvPr/>
        </p:nvSpPr>
        <p:spPr>
          <a:xfrm>
            <a:off x="2880360" y="2542032"/>
            <a:ext cx="960120" cy="274320"/>
          </a:xfrm>
          <a:prstGeom prst="rect">
            <a:avLst/>
          </a:prstGeom>
          <a:noFill/>
          <a:ln/>
        </p:spPr>
        <p:txBody>
          <a:bodyPr wrap="square" lIns="0" tIns="0" rIns="0" bIns="0" rtlCol="0" anchor="ctr"/>
          <a:lstStyle/>
          <a:p>
            <a:pPr algn="ctr" indent="0" marL="0">
              <a:buNone/>
            </a:pPr>
            <a:r>
              <a:rPr lang="en-US" sz="1100" dirty="0">
                <a:solidFill>
                  <a:srgbClr val="1F2233"/>
                </a:solidFill>
                <a:latin typeface="Calibri" pitchFamily="34" charset="0"/>
                <a:ea typeface="Calibri" pitchFamily="34" charset="-122"/>
                <a:cs typeface="Calibri" pitchFamily="34" charset="-120"/>
              </a:rPr>
              <a:t>train</a:t>
            </a:r>
            <a:endParaRPr lang="en-US" sz="1100" dirty="0"/>
          </a:p>
        </p:txBody>
      </p:sp>
      <p:sp>
        <p:nvSpPr>
          <p:cNvPr id="19" name="Shape 16"/>
          <p:cNvSpPr/>
          <p:nvPr/>
        </p:nvSpPr>
        <p:spPr>
          <a:xfrm>
            <a:off x="777240" y="2889504"/>
            <a:ext cx="960120" cy="274320"/>
          </a:xfrm>
          <a:prstGeom prst="roundRect">
            <a:avLst>
              <a:gd name="adj" fmla="val 13333"/>
            </a:avLst>
          </a:prstGeom>
          <a:solidFill>
            <a:srgbClr val="EFE8DA"/>
          </a:solidFill>
          <a:ln w="12700">
            <a:solidFill>
              <a:srgbClr val="EFE8DA"/>
            </a:solidFill>
            <a:prstDash val="solid"/>
          </a:ln>
        </p:spPr>
      </p:sp>
      <p:sp>
        <p:nvSpPr>
          <p:cNvPr id="20" name="Text 17"/>
          <p:cNvSpPr txBox="1"/>
          <p:nvPr/>
        </p:nvSpPr>
        <p:spPr>
          <a:xfrm>
            <a:off x="777240" y="2889504"/>
            <a:ext cx="960120" cy="274320"/>
          </a:xfrm>
          <a:prstGeom prst="rect">
            <a:avLst/>
          </a:prstGeom>
          <a:noFill/>
          <a:ln/>
        </p:spPr>
        <p:txBody>
          <a:bodyPr wrap="square" lIns="0" tIns="0" rIns="0" bIns="0" rtlCol="0" anchor="ctr"/>
          <a:lstStyle/>
          <a:p>
            <a:pPr algn="ctr" indent="0" marL="0">
              <a:buNone/>
            </a:pPr>
            <a:r>
              <a:rPr lang="en-US" sz="1100" dirty="0">
                <a:solidFill>
                  <a:srgbClr val="1F2233"/>
                </a:solidFill>
                <a:latin typeface="Calibri" pitchFamily="34" charset="0"/>
                <a:ea typeface="Calibri" pitchFamily="34" charset="-122"/>
                <a:cs typeface="Calibri" pitchFamily="34" charset="-120"/>
              </a:rPr>
              <a:t>train</a:t>
            </a:r>
            <a:endParaRPr lang="en-US" sz="1100" dirty="0"/>
          </a:p>
        </p:txBody>
      </p:sp>
      <p:sp>
        <p:nvSpPr>
          <p:cNvPr id="21" name="Shape 18"/>
          <p:cNvSpPr/>
          <p:nvPr/>
        </p:nvSpPr>
        <p:spPr>
          <a:xfrm>
            <a:off x="1828800" y="2889504"/>
            <a:ext cx="960120" cy="274320"/>
          </a:xfrm>
          <a:prstGeom prst="roundRect">
            <a:avLst>
              <a:gd name="adj" fmla="val 13333"/>
            </a:avLst>
          </a:prstGeom>
          <a:solidFill>
            <a:srgbClr val="EFE8DA"/>
          </a:solidFill>
          <a:ln w="12700">
            <a:solidFill>
              <a:srgbClr val="EFE8DA"/>
            </a:solidFill>
            <a:prstDash val="solid"/>
          </a:ln>
        </p:spPr>
      </p:sp>
      <p:sp>
        <p:nvSpPr>
          <p:cNvPr id="22" name="Text 19"/>
          <p:cNvSpPr txBox="1"/>
          <p:nvPr/>
        </p:nvSpPr>
        <p:spPr>
          <a:xfrm>
            <a:off x="1828800" y="2889504"/>
            <a:ext cx="960120" cy="274320"/>
          </a:xfrm>
          <a:prstGeom prst="rect">
            <a:avLst/>
          </a:prstGeom>
          <a:noFill/>
          <a:ln/>
        </p:spPr>
        <p:txBody>
          <a:bodyPr wrap="square" lIns="0" tIns="0" rIns="0" bIns="0" rtlCol="0" anchor="ctr"/>
          <a:lstStyle/>
          <a:p>
            <a:pPr algn="ctr" indent="0" marL="0">
              <a:buNone/>
            </a:pPr>
            <a:r>
              <a:rPr lang="en-US" sz="1100" dirty="0">
                <a:solidFill>
                  <a:srgbClr val="1F2233"/>
                </a:solidFill>
                <a:latin typeface="Calibri" pitchFamily="34" charset="0"/>
                <a:ea typeface="Calibri" pitchFamily="34" charset="-122"/>
                <a:cs typeface="Calibri" pitchFamily="34" charset="-120"/>
              </a:rPr>
              <a:t>train</a:t>
            </a:r>
            <a:endParaRPr lang="en-US" sz="1100" dirty="0"/>
          </a:p>
        </p:txBody>
      </p:sp>
      <p:sp>
        <p:nvSpPr>
          <p:cNvPr id="23" name="Shape 20"/>
          <p:cNvSpPr/>
          <p:nvPr/>
        </p:nvSpPr>
        <p:spPr>
          <a:xfrm>
            <a:off x="2880360" y="2889504"/>
            <a:ext cx="960120" cy="274320"/>
          </a:xfrm>
          <a:prstGeom prst="roundRect">
            <a:avLst>
              <a:gd name="adj" fmla="val 13333"/>
            </a:avLst>
          </a:prstGeom>
          <a:solidFill>
            <a:srgbClr val="FCFAF5"/>
          </a:solidFill>
          <a:ln w="12700">
            <a:solidFill>
              <a:srgbClr val="1F2233"/>
            </a:solidFill>
            <a:prstDash val="dash"/>
          </a:ln>
        </p:spPr>
      </p:sp>
      <p:sp>
        <p:nvSpPr>
          <p:cNvPr id="24" name="Text 21"/>
          <p:cNvSpPr txBox="1"/>
          <p:nvPr/>
        </p:nvSpPr>
        <p:spPr>
          <a:xfrm>
            <a:off x="2880360" y="2889504"/>
            <a:ext cx="960120" cy="274320"/>
          </a:xfrm>
          <a:prstGeom prst="rect">
            <a:avLst/>
          </a:prstGeom>
          <a:noFill/>
          <a:ln/>
        </p:spPr>
        <p:txBody>
          <a:bodyPr wrap="square" lIns="0" tIns="0" rIns="0" bIns="0" rtlCol="0" anchor="ctr"/>
          <a:lstStyle/>
          <a:p>
            <a:pPr algn="ctr" indent="0" marL="0">
              <a:buNone/>
            </a:pPr>
            <a:r>
              <a:rPr lang="en-US" sz="1100" dirty="0">
                <a:solidFill>
                  <a:srgbClr val="1F2233"/>
                </a:solidFill>
                <a:latin typeface="Calibri" pitchFamily="34" charset="0"/>
                <a:ea typeface="Calibri" pitchFamily="34" charset="-122"/>
                <a:cs typeface="Calibri" pitchFamily="34" charset="-120"/>
              </a:rPr>
              <a:t>predict</a:t>
            </a:r>
            <a:endParaRPr lang="en-US" sz="1100" dirty="0"/>
          </a:p>
        </p:txBody>
      </p:sp>
      <p:sp>
        <p:nvSpPr>
          <p:cNvPr id="25" name="Text 22"/>
          <p:cNvSpPr txBox="1"/>
          <p:nvPr/>
        </p:nvSpPr>
        <p:spPr>
          <a:xfrm>
            <a:off x="777240" y="3337560"/>
            <a:ext cx="3108960" cy="2194560"/>
          </a:xfrm>
          <a:prstGeom prst="rect">
            <a:avLst/>
          </a:prstGeom>
          <a:noFill/>
          <a:ln/>
        </p:spPr>
        <p:txBody>
          <a:bodyPr wrap="square" lIns="0" tIns="0" rIns="0" bIns="0" rtlCol="0" anchor="t"/>
          <a:lstStyle/>
          <a:p>
            <a:pPr indent="0" marL="0">
              <a:buNone/>
            </a:pPr>
            <a:r>
              <a:rPr lang="en-US" sz="1500" dirty="0">
                <a:solidFill>
                  <a:srgbClr val="1F2233"/>
                </a:solidFill>
                <a:latin typeface="Calibri" pitchFamily="34" charset="0"/>
                <a:ea typeface="Calibri" pitchFamily="34" charset="-122"/>
                <a:cs typeface="Calibri" pitchFamily="34" charset="-120"/>
              </a:rPr>
              <a:t>Each expert trains 3 times and only predicts the third of the data it never saw. The head learns from those honest opinions.</a:t>
            </a:r>
            <a:endParaRPr lang="en-US" sz="1500" dirty="0"/>
          </a:p>
        </p:txBody>
      </p:sp>
      <p:sp>
        <p:nvSpPr>
          <p:cNvPr id="26" name="Shape 23"/>
          <p:cNvSpPr/>
          <p:nvPr/>
        </p:nvSpPr>
        <p:spPr>
          <a:xfrm>
            <a:off x="4297680" y="1554480"/>
            <a:ext cx="3566160" cy="4206240"/>
          </a:xfrm>
          <a:prstGeom prst="roundRect">
            <a:avLst>
              <a:gd name="adj" fmla="val 2051"/>
            </a:avLst>
          </a:prstGeom>
          <a:solidFill>
            <a:srgbClr val="FCFAF5"/>
          </a:solidFill>
          <a:ln w="9525">
            <a:solidFill>
              <a:srgbClr val="DDD3C0"/>
            </a:solidFill>
            <a:prstDash val="solid"/>
          </a:ln>
        </p:spPr>
      </p:sp>
      <p:sp>
        <p:nvSpPr>
          <p:cNvPr id="27" name="Text 24"/>
          <p:cNvSpPr txBox="1"/>
          <p:nvPr/>
        </p:nvSpPr>
        <p:spPr>
          <a:xfrm>
            <a:off x="4526280" y="1737360"/>
            <a:ext cx="3108960" cy="274320"/>
          </a:xfrm>
          <a:prstGeom prst="rect">
            <a:avLst/>
          </a:prstGeom>
          <a:noFill/>
          <a:ln/>
        </p:spPr>
        <p:txBody>
          <a:bodyPr wrap="square" lIns="0" tIns="0" rIns="0" bIns="0" rtlCol="0" anchor="t"/>
          <a:lstStyle/>
          <a:p>
            <a:pPr indent="0" marL="0">
              <a:buNone/>
            </a:pPr>
            <a:r>
              <a:rPr lang="en-US" sz="1100" b="1" spc="150" kern="0" dirty="0">
                <a:solidFill>
                  <a:srgbClr val="A8432F"/>
                </a:solidFill>
                <a:latin typeface="Calibri" pitchFamily="34" charset="0"/>
                <a:ea typeface="Calibri" pitchFamily="34" charset="-122"/>
                <a:cs typeface="Calibri" pitchFamily="34" charset="-120"/>
              </a:rPr>
              <a:t>2 · A LOSS THAT REWARDS HONESTY</a:t>
            </a:r>
            <a:endParaRPr lang="en-US" sz="1100" dirty="0"/>
          </a:p>
        </p:txBody>
      </p:sp>
      <p:sp>
        <p:nvSpPr>
          <p:cNvPr id="28" name="Shape 25"/>
          <p:cNvSpPr/>
          <p:nvPr/>
        </p:nvSpPr>
        <p:spPr>
          <a:xfrm>
            <a:off x="4526280" y="2194560"/>
            <a:ext cx="3108960" cy="731520"/>
          </a:xfrm>
          <a:prstGeom prst="roundRect">
            <a:avLst>
              <a:gd name="adj" fmla="val 7500"/>
            </a:avLst>
          </a:prstGeom>
          <a:solidFill>
            <a:srgbClr val="EFE8DA"/>
          </a:solidFill>
          <a:ln w="12700">
            <a:solidFill>
              <a:srgbClr val="EFE8DA"/>
            </a:solidFill>
            <a:prstDash val="solid"/>
          </a:ln>
        </p:spPr>
      </p:sp>
      <p:sp>
        <p:nvSpPr>
          <p:cNvPr id="29" name="Text 26"/>
          <p:cNvSpPr txBox="1"/>
          <p:nvPr/>
        </p:nvSpPr>
        <p:spPr>
          <a:xfrm>
            <a:off x="4617720" y="2194560"/>
            <a:ext cx="2926080" cy="731520"/>
          </a:xfrm>
          <a:prstGeom prst="rect">
            <a:avLst/>
          </a:prstGeom>
          <a:noFill/>
          <a:ln/>
        </p:spPr>
        <p:txBody>
          <a:bodyPr wrap="square" lIns="0" tIns="0" rIns="0" bIns="0" rtlCol="0" anchor="ctr"/>
          <a:lstStyle/>
          <a:p>
            <a:pPr indent="0" marL="0">
              <a:buNone/>
            </a:pPr>
            <a:r>
              <a:rPr lang="en-US" sz="1300" b="1" dirty="0">
                <a:solidFill>
                  <a:srgbClr val="1F2233"/>
                </a:solidFill>
                <a:latin typeface="Courier New" pitchFamily="34" charset="0"/>
                <a:ea typeface="Courier New" pitchFamily="34" charset="-122"/>
                <a:cs typeface="Courier New" pitchFamily="34" charset="-120"/>
              </a:rPr>
              <a:t>L = −log p_y + Σ_k (p_k − y_k)²</a:t>
            </a:r>
            <a:endParaRPr lang="en-US" sz="1300" dirty="0"/>
          </a:p>
        </p:txBody>
      </p:sp>
      <p:sp>
        <p:nvSpPr>
          <p:cNvPr id="30" name="Text 27"/>
          <p:cNvSpPr txBox="1"/>
          <p:nvPr/>
        </p:nvSpPr>
        <p:spPr>
          <a:xfrm>
            <a:off x="4526280" y="3337560"/>
            <a:ext cx="3108960" cy="2194560"/>
          </a:xfrm>
          <a:prstGeom prst="rect">
            <a:avLst/>
          </a:prstGeom>
          <a:noFill/>
          <a:ln/>
        </p:spPr>
        <p:txBody>
          <a:bodyPr wrap="square" lIns="0" tIns="0" rIns="0" bIns="0" rtlCol="0" anchor="t"/>
          <a:lstStyle/>
          <a:p>
            <a:pPr indent="0" marL="0">
              <a:buNone/>
            </a:pPr>
            <a:r>
              <a:rPr lang="en-US" sz="1500" dirty="0">
                <a:solidFill>
                  <a:srgbClr val="1F2233"/>
                </a:solidFill>
                <a:latin typeface="Calibri" pitchFamily="34" charset="0"/>
                <a:ea typeface="Calibri" pitchFamily="34" charset="-122"/>
                <a:cs typeface="Calibri" pitchFamily="34" charset="-120"/>
              </a:rPr>
              <a:t>Log score + Brier score. Both are lowest only when the probabilities are honest: proper scoring rules, the same idea Laya is trained with.</a:t>
            </a:r>
            <a:endParaRPr lang="en-US" sz="1500" dirty="0"/>
          </a:p>
        </p:txBody>
      </p:sp>
      <p:sp>
        <p:nvSpPr>
          <p:cNvPr id="31" name="Shape 28"/>
          <p:cNvSpPr/>
          <p:nvPr/>
        </p:nvSpPr>
        <p:spPr>
          <a:xfrm>
            <a:off x="8046720" y="1554480"/>
            <a:ext cx="3566160" cy="4206240"/>
          </a:xfrm>
          <a:prstGeom prst="roundRect">
            <a:avLst>
              <a:gd name="adj" fmla="val 2051"/>
            </a:avLst>
          </a:prstGeom>
          <a:solidFill>
            <a:srgbClr val="FCFAF5"/>
          </a:solidFill>
          <a:ln w="9525">
            <a:solidFill>
              <a:srgbClr val="DDD3C0"/>
            </a:solidFill>
            <a:prstDash val="solid"/>
          </a:ln>
        </p:spPr>
      </p:sp>
      <p:sp>
        <p:nvSpPr>
          <p:cNvPr id="32" name="Text 29"/>
          <p:cNvSpPr txBox="1"/>
          <p:nvPr/>
        </p:nvSpPr>
        <p:spPr>
          <a:xfrm>
            <a:off x="8275320" y="1737360"/>
            <a:ext cx="3108960" cy="274320"/>
          </a:xfrm>
          <a:prstGeom prst="rect">
            <a:avLst/>
          </a:prstGeom>
          <a:noFill/>
          <a:ln/>
        </p:spPr>
        <p:txBody>
          <a:bodyPr wrap="square" lIns="0" tIns="0" rIns="0" bIns="0" rtlCol="0" anchor="t"/>
          <a:lstStyle/>
          <a:p>
            <a:pPr indent="0" marL="0">
              <a:buNone/>
            </a:pPr>
            <a:r>
              <a:rPr lang="en-US" sz="1100" b="1" spc="150" kern="0" dirty="0">
                <a:solidFill>
                  <a:srgbClr val="A8432F"/>
                </a:solidFill>
                <a:latin typeface="Calibri" pitchFamily="34" charset="0"/>
                <a:ea typeface="Calibri" pitchFamily="34" charset="-122"/>
                <a:cs typeface="Calibri" pitchFamily="34" charset="-120"/>
              </a:rPr>
              <a:t>3 · CALIBRATE</a:t>
            </a:r>
            <a:endParaRPr lang="en-US" sz="1100" dirty="0"/>
          </a:p>
        </p:txBody>
      </p:sp>
      <p:sp>
        <p:nvSpPr>
          <p:cNvPr id="33" name="Shape 30"/>
          <p:cNvSpPr/>
          <p:nvPr/>
        </p:nvSpPr>
        <p:spPr>
          <a:xfrm>
            <a:off x="8275320" y="2194560"/>
            <a:ext cx="3108960" cy="731520"/>
          </a:xfrm>
          <a:prstGeom prst="roundRect">
            <a:avLst>
              <a:gd name="adj" fmla="val 7500"/>
            </a:avLst>
          </a:prstGeom>
          <a:solidFill>
            <a:srgbClr val="EFE8DA"/>
          </a:solidFill>
          <a:ln w="12700">
            <a:solidFill>
              <a:srgbClr val="EFE8DA"/>
            </a:solidFill>
            <a:prstDash val="solid"/>
          </a:ln>
        </p:spPr>
      </p:sp>
      <p:sp>
        <p:nvSpPr>
          <p:cNvPr id="34" name="Text 31"/>
          <p:cNvSpPr txBox="1"/>
          <p:nvPr/>
        </p:nvSpPr>
        <p:spPr>
          <a:xfrm>
            <a:off x="8366760" y="2194560"/>
            <a:ext cx="2926080" cy="731520"/>
          </a:xfrm>
          <a:prstGeom prst="rect">
            <a:avLst/>
          </a:prstGeom>
          <a:noFill/>
          <a:ln/>
        </p:spPr>
        <p:txBody>
          <a:bodyPr wrap="square" lIns="0" tIns="0" rIns="0" bIns="0" rtlCol="0" anchor="ctr"/>
          <a:lstStyle/>
          <a:p>
            <a:pPr indent="0" marL="0">
              <a:buNone/>
            </a:pPr>
            <a:r>
              <a:rPr lang="en-US" sz="1300" b="1" dirty="0">
                <a:solidFill>
                  <a:srgbClr val="1F2233"/>
                </a:solidFill>
                <a:latin typeface="Courier New" pitchFamily="34" charset="0"/>
                <a:ea typeface="Courier New" pitchFamily="34" charset="-122"/>
                <a:cs typeface="Courier New" pitchFamily="34" charset="-120"/>
              </a:rPr>
              <a:t>p = softmax(z / T)</a:t>
            </a:r>
            <a:endParaRPr lang="en-US" sz="1300" dirty="0"/>
          </a:p>
        </p:txBody>
      </p:sp>
      <p:sp>
        <p:nvSpPr>
          <p:cNvPr id="35" name="Text 32"/>
          <p:cNvSpPr txBox="1"/>
          <p:nvPr/>
        </p:nvSpPr>
        <p:spPr>
          <a:xfrm>
            <a:off x="8275320" y="3337560"/>
            <a:ext cx="3108960" cy="2194560"/>
          </a:xfrm>
          <a:prstGeom prst="rect">
            <a:avLst/>
          </a:prstGeom>
          <a:noFill/>
          <a:ln/>
        </p:spPr>
        <p:txBody>
          <a:bodyPr wrap="square" lIns="0" tIns="0" rIns="0" bIns="0" rtlCol="0" anchor="t"/>
          <a:lstStyle/>
          <a:p>
            <a:pPr indent="0" marL="0">
              <a:buNone/>
            </a:pPr>
            <a:r>
              <a:rPr lang="en-US" sz="1500" dirty="0">
                <a:solidFill>
                  <a:srgbClr val="1F2233"/>
                </a:solidFill>
                <a:latin typeface="Calibri" pitchFamily="34" charset="0"/>
                <a:ea typeface="Calibri" pitchFamily="34" charset="-122"/>
                <a:cs typeface="Calibri" pitchFamily="34" charset="-120"/>
              </a:rPr>
              <a:t>One temperature T is fitted on validation data, so “80% sure” means right about 80% of the time.</a:t>
            </a:r>
            <a:endParaRPr lang="en-US" sz="1500" dirty="0"/>
          </a:p>
        </p:txBody>
      </p:sp>
      <p:sp>
        <p:nvSpPr>
          <p:cNvPr id="36" name="Shape 33"/>
          <p:cNvSpPr/>
          <p:nvPr/>
        </p:nvSpPr>
        <p:spPr>
          <a:xfrm>
            <a:off x="548640" y="5989320"/>
            <a:ext cx="11094415" cy="0"/>
          </a:xfrm>
          <a:prstGeom prst="line">
            <a:avLst/>
          </a:prstGeom>
          <a:noFill/>
          <a:ln w="9525">
            <a:solidFill>
              <a:srgbClr val="DDD3C0"/>
            </a:solidFill>
            <a:prstDash val="solid"/>
          </a:ln>
        </p:spPr>
      </p:sp>
      <p:sp>
        <p:nvSpPr>
          <p:cNvPr id="37" name="Text 34"/>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every training choice targets honest probabilities, not only accuracy; the router and the leaderboard work depend on that.</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HOW ADAR WORKS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The Cascade Router</a:t>
            </a:r>
            <a:endParaRPr lang="en-US" sz="3400" dirty="0"/>
          </a:p>
        </p:txBody>
      </p:sp>
      <p:sp>
        <p:nvSpPr>
          <p:cNvPr id="5" name="Shape 2"/>
          <p:cNvSpPr/>
          <p:nvPr/>
        </p:nvSpPr>
        <p:spPr>
          <a:xfrm>
            <a:off x="548640" y="1554480"/>
            <a:ext cx="5394960" cy="1280160"/>
          </a:xfrm>
          <a:prstGeom prst="roundRect">
            <a:avLst>
              <a:gd name="adj" fmla="val 5714"/>
            </a:avLst>
          </a:prstGeom>
          <a:solidFill>
            <a:srgbClr val="FCFAF5"/>
          </a:solidFill>
          <a:ln w="9525">
            <a:solidFill>
              <a:srgbClr val="DDD3C0"/>
            </a:solidFill>
            <a:prstDash val="solid"/>
          </a:ln>
        </p:spPr>
      </p:sp>
      <p:sp>
        <p:nvSpPr>
          <p:cNvPr id="6" name="Text 3"/>
          <p:cNvSpPr txBox="1"/>
          <p:nvPr/>
        </p:nvSpPr>
        <p:spPr>
          <a:xfrm>
            <a:off x="731520" y="1719072"/>
            <a:ext cx="5029200" cy="365760"/>
          </a:xfrm>
          <a:prstGeom prst="rect">
            <a:avLst/>
          </a:prstGeom>
          <a:noFill/>
          <a:ln/>
        </p:spPr>
        <p:txBody>
          <a:bodyPr wrap="square" lIns="0" tIns="0" rIns="0" bIns="0" rtlCol="0" anchor="t"/>
          <a:lstStyle/>
          <a:p>
            <a:pPr indent="0" marL="0">
              <a:buNone/>
            </a:pPr>
            <a:r>
              <a:rPr lang="en-US" sz="1600" b="1" dirty="0">
                <a:solidFill>
                  <a:srgbClr val="1F2233"/>
                </a:solidFill>
                <a:latin typeface="Calibri" pitchFamily="34" charset="0"/>
                <a:ea typeface="Calibri" pitchFamily="34" charset="-122"/>
                <a:cs typeface="Calibri" pitchFamily="34" charset="-120"/>
              </a:rPr>
              <a:t>Threshold router</a:t>
            </a:r>
            <a:endParaRPr lang="en-US" sz="1600" dirty="0"/>
          </a:p>
        </p:txBody>
      </p:sp>
      <p:sp>
        <p:nvSpPr>
          <p:cNvPr id="7" name="Text 4"/>
          <p:cNvSpPr txBox="1"/>
          <p:nvPr/>
        </p:nvSpPr>
        <p:spPr>
          <a:xfrm>
            <a:off x="731520" y="2121408"/>
            <a:ext cx="5029200" cy="594360"/>
          </a:xfrm>
          <a:prstGeom prst="rect">
            <a:avLst/>
          </a:prstGeom>
          <a:noFill/>
          <a:ln/>
        </p:spPr>
        <p:txBody>
          <a:bodyPr wrap="square" lIns="0" tIns="0" rIns="0" bIns="0" rtlCol="0" anchor="t"/>
          <a:lstStyle/>
          <a:p>
            <a:pPr indent="0" marL="0">
              <a:buNone/>
            </a:pPr>
            <a:r>
              <a:rPr lang="en-US" sz="1300" dirty="0">
                <a:solidFill>
                  <a:srgbClr val="3F4250"/>
                </a:solidFill>
                <a:latin typeface="Calibri" pitchFamily="34" charset="0"/>
                <a:ea typeface="Calibri" pitchFamily="34" charset="-122"/>
                <a:cs typeface="Calibri" pitchFamily="34" charset="-120"/>
              </a:rPr>
              <a:t>Escalate when P(experts right) &lt; τ; τ is picked on validation data.</a:t>
            </a:r>
            <a:endParaRPr lang="en-US" sz="1300" dirty="0"/>
          </a:p>
        </p:txBody>
      </p:sp>
      <p:sp>
        <p:nvSpPr>
          <p:cNvPr id="8" name="Shape 5"/>
          <p:cNvSpPr/>
          <p:nvPr/>
        </p:nvSpPr>
        <p:spPr>
          <a:xfrm>
            <a:off x="548640" y="2971800"/>
            <a:ext cx="5394960" cy="1463040"/>
          </a:xfrm>
          <a:prstGeom prst="roundRect">
            <a:avLst>
              <a:gd name="adj" fmla="val 5000"/>
            </a:avLst>
          </a:prstGeom>
          <a:solidFill>
            <a:srgbClr val="FCFAF5"/>
          </a:solidFill>
          <a:ln w="9525">
            <a:solidFill>
              <a:srgbClr val="DDD3C0"/>
            </a:solidFill>
            <a:prstDash val="solid"/>
          </a:ln>
        </p:spPr>
      </p:sp>
      <p:sp>
        <p:nvSpPr>
          <p:cNvPr id="9" name="Text 6"/>
          <p:cNvSpPr txBox="1"/>
          <p:nvPr/>
        </p:nvSpPr>
        <p:spPr>
          <a:xfrm>
            <a:off x="731520" y="3136392"/>
            <a:ext cx="5029200" cy="365760"/>
          </a:xfrm>
          <a:prstGeom prst="rect">
            <a:avLst/>
          </a:prstGeom>
          <a:noFill/>
          <a:ln/>
        </p:spPr>
        <p:txBody>
          <a:bodyPr wrap="square" lIns="0" tIns="0" rIns="0" bIns="0" rtlCol="0" anchor="t"/>
          <a:lstStyle/>
          <a:p>
            <a:pPr indent="0" marL="0">
              <a:buNone/>
            </a:pPr>
            <a:r>
              <a:rPr lang="en-US" sz="1600" b="1" dirty="0">
                <a:solidFill>
                  <a:srgbClr val="1F2233"/>
                </a:solidFill>
                <a:latin typeface="Calibri" pitchFamily="34" charset="0"/>
                <a:ea typeface="Calibri" pitchFamily="34" charset="-122"/>
                <a:cs typeface="Calibri" pitchFamily="34" charset="-120"/>
              </a:rPr>
              <a:t>REINFORCE router · Unit IV</a:t>
            </a:r>
            <a:endParaRPr lang="en-US" sz="1600" dirty="0"/>
          </a:p>
        </p:txBody>
      </p:sp>
      <p:sp>
        <p:nvSpPr>
          <p:cNvPr id="10" name="Text 7"/>
          <p:cNvSpPr txBox="1"/>
          <p:nvPr/>
        </p:nvSpPr>
        <p:spPr>
          <a:xfrm>
            <a:off x="731520" y="3538728"/>
            <a:ext cx="5029200" cy="777240"/>
          </a:xfrm>
          <a:prstGeom prst="rect">
            <a:avLst/>
          </a:prstGeom>
          <a:noFill/>
          <a:ln/>
        </p:spPr>
        <p:txBody>
          <a:bodyPr wrap="square" lIns="0" tIns="0" rIns="0" bIns="0" rtlCol="0" anchor="t"/>
          <a:lstStyle/>
          <a:p>
            <a:pPr indent="0" marL="0">
              <a:buNone/>
            </a:pPr>
            <a:r>
              <a:rPr lang="en-US" sz="1300" dirty="0">
                <a:solidFill>
                  <a:srgbClr val="3F4250"/>
                </a:solidFill>
                <a:latin typeface="Calibri" pitchFamily="34" charset="0"/>
                <a:ea typeface="Calibri" pitchFamily="34" charset="-122"/>
                <a:cs typeface="Calibri" pitchFamily="34" charset="-120"/>
              </a:rPr>
              <a:t>Reward r = 1[correct] − λ·cost. A small policy learns the same decision by policy gradient. At λ = 0.05 it calls Laya on 16% of articles for 93.25%.</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217920" y="1554480"/>
          <a:ext cx="5394960" cy="914400"/>
        </p:xfrm>
        <a:graphic>
          <a:graphicData uri="http://schemas.openxmlformats.org/drawingml/2006/table">
            <a:tbl>
              <a:tblPr/>
              <a:tblGrid>
                <a:gridCol w="2103120"/>
                <a:gridCol w="1645920"/>
                <a:gridCol w="1645920"/>
              </a:tblGrid>
              <a:tr h="0">
                <a:tc>
                  <a:txBody>
                    <a:bodyPr/>
                    <a:lstStyle/>
                    <a:p>
                      <a:pPr algn="l" indent="0" marL="0">
                        <a:buNone/>
                      </a:pP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b="1" dirty="0">
                          <a:solidFill>
                            <a:srgbClr val="6B6E78"/>
                          </a:solidFill>
                          <a:latin typeface="Calibri" pitchFamily="34" charset="0"/>
                          <a:ea typeface="Calibri" pitchFamily="34" charset="-122"/>
                          <a:cs typeface="Calibri" pitchFamily="34" charset="-120"/>
                        </a:rPr>
                        <a:t>AG News</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b="1" dirty="0">
                          <a:solidFill>
                            <a:srgbClr val="6B6E78"/>
                          </a:solidFill>
                          <a:latin typeface="Calibri" pitchFamily="34" charset="0"/>
                          <a:ea typeface="Calibri" pitchFamily="34" charset="-122"/>
                          <a:cs typeface="Calibri" pitchFamily="34" charset="-120"/>
                        </a:rPr>
                        <a:t>Emotion</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300" dirty="0">
                          <a:solidFill>
                            <a:srgbClr val="1F2233"/>
                          </a:solidFill>
                          <a:latin typeface="Calibri" pitchFamily="34" charset="0"/>
                          <a:ea typeface="Calibri" pitchFamily="34" charset="-122"/>
                          <a:cs typeface="Calibri" pitchFamily="34" charset="-120"/>
                        </a:rPr>
                        <a:t>Laya called on</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300" dirty="0">
                          <a:solidFill>
                            <a:srgbClr val="1F2233"/>
                          </a:solidFill>
                          <a:latin typeface="Calibri" pitchFamily="34" charset="0"/>
                          <a:ea typeface="Calibri" pitchFamily="34" charset="-122"/>
                          <a:cs typeface="Calibri" pitchFamily="34" charset="-120"/>
                        </a:rPr>
                        <a:t>Cascade accuracy</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93.32%</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92.20%</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300" dirty="0">
                          <a:solidFill>
                            <a:srgbClr val="1F2233"/>
                          </a:solidFill>
                          <a:latin typeface="Calibri" pitchFamily="34" charset="0"/>
                          <a:ea typeface="Calibri" pitchFamily="34" charset="-122"/>
                          <a:cs typeface="Calibri" pitchFamily="34" charset="-120"/>
                        </a:rPr>
                        <a:t>Always Laya + ADAR</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93.46%</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92.25%</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300" dirty="0">
                          <a:solidFill>
                            <a:srgbClr val="1F2233"/>
                          </a:solidFill>
                          <a:latin typeface="Calibri" pitchFamily="34" charset="0"/>
                          <a:ea typeface="Calibri" pitchFamily="34" charset="-122"/>
                          <a:cs typeface="Calibri" pitchFamily="34" charset="-120"/>
                        </a:rPr>
                        <a:t>CPU ms per input</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189 ms vs 492 ms</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9.6 ms vs 388 ms</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300" dirty="0">
                          <a:solidFill>
                            <a:srgbClr val="1F2233"/>
                          </a:solidFill>
                          <a:latin typeface="Calibri" pitchFamily="34" charset="0"/>
                          <a:ea typeface="Calibri" pitchFamily="34" charset="-122"/>
                          <a:cs typeface="Calibri" pitchFamily="34" charset="-120"/>
                        </a:rPr>
                        <a:t>Cheaper by</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41×</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bl>
          </a:graphicData>
        </a:graphic>
      </p:graphicFrame>
      <p:sp>
        <p:nvSpPr>
          <p:cNvPr id="12" name="Text 8"/>
          <p:cNvSpPr txBox="1"/>
          <p:nvPr/>
        </p:nvSpPr>
        <p:spPr>
          <a:xfrm>
            <a:off x="6217920" y="4206240"/>
            <a:ext cx="5394960" cy="548640"/>
          </a:xfrm>
          <a:prstGeom prst="rect">
            <a:avLst/>
          </a:prstGeom>
          <a:noFill/>
          <a:ln/>
        </p:spPr>
        <p:txBody>
          <a:bodyPr wrap="square" lIns="0" tIns="0" rIns="0" bIns="0" rtlCol="0" anchor="t"/>
          <a:lstStyle/>
          <a:p>
            <a:pPr indent="0" marL="0">
              <a:buNone/>
            </a:pPr>
            <a:r>
              <a:rPr lang="en-US" sz="1300" dirty="0">
                <a:solidFill>
                  <a:srgbClr val="6B6E78"/>
                </a:solidFill>
                <a:latin typeface="Calibri" pitchFamily="34" charset="0"/>
                <a:ea typeface="Calibri" pitchFamily="34" charset="-122"/>
                <a:cs typeface="Calibri" pitchFamily="34" charset="-120"/>
              </a:rPr>
              <a:t>Headroom: a perfect router would reach 94.87% on AG News, calling Laya on only 8% of inputs.</a:t>
            </a:r>
            <a:endParaRPr lang="en-US" sz="1300" dirty="0"/>
          </a:p>
        </p:txBody>
      </p:sp>
      <p:sp>
        <p:nvSpPr>
          <p:cNvPr id="13" name="Shape 9"/>
          <p:cNvSpPr/>
          <p:nvPr/>
        </p:nvSpPr>
        <p:spPr>
          <a:xfrm>
            <a:off x="548640" y="5989320"/>
            <a:ext cx="11094415" cy="0"/>
          </a:xfrm>
          <a:prstGeom prst="line">
            <a:avLst/>
          </a:prstGeom>
          <a:noFill/>
          <a:ln w="9525">
            <a:solidFill>
              <a:srgbClr val="DDD3C0"/>
            </a:solidFill>
            <a:prstDash val="solid"/>
          </a:ln>
        </p:spPr>
      </p:sp>
      <p:sp>
        <p:nvSpPr>
          <p:cNvPr id="14" name="Text 10"/>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the router learns per dataset how often the big model is worth its cost: 36% of news articles, 0.1% of tweets.</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RESULTS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Experiment Setup</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828800"/>
                <a:gridCol w="3776472"/>
                <a:gridCol w="1463040"/>
                <a:gridCol w="1280160"/>
                <a:gridCol w="1280160"/>
                <a:gridCol w="1463040"/>
              </a:tblGrid>
              <a:tr h="0">
                <a:tc>
                  <a:txBody>
                    <a:bodyPr/>
                    <a:lstStyle/>
                    <a:p>
                      <a:pPr algn="l" indent="0" marL="0">
                        <a:buNone/>
                      </a:pPr>
                      <a:r>
                        <a:rPr lang="en-US" sz="1500" b="1" dirty="0">
                          <a:solidFill>
                            <a:srgbClr val="6B6E78"/>
                          </a:solidFill>
                          <a:latin typeface="Calibri" pitchFamily="34" charset="0"/>
                          <a:ea typeface="Calibri" pitchFamily="34" charset="-122"/>
                          <a:cs typeface="Calibri" pitchFamily="34" charset="-120"/>
                        </a:rPr>
                        <a:t>Dataset</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l" indent="0" marL="0">
                        <a:buNone/>
                      </a:pPr>
                      <a:r>
                        <a:rPr lang="en-US" sz="1500" b="1" dirty="0">
                          <a:solidFill>
                            <a:srgbClr val="6B6E78"/>
                          </a:solidFill>
                          <a:latin typeface="Calibri" pitchFamily="34" charset="0"/>
                          <a:ea typeface="Calibri" pitchFamily="34" charset="-122"/>
                          <a:cs typeface="Calibri" pitchFamily="34" charset="-120"/>
                        </a:rPr>
                        <a:t>Text</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b="1" dirty="0">
                          <a:solidFill>
                            <a:srgbClr val="6B6E78"/>
                          </a:solidFill>
                          <a:latin typeface="Calibri" pitchFamily="34" charset="0"/>
                          <a:ea typeface="Calibri" pitchFamily="34" charset="-122"/>
                          <a:cs typeface="Calibri" pitchFamily="34" charset="-120"/>
                        </a:rPr>
                        <a:t>Train</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b="1" dirty="0">
                          <a:solidFill>
                            <a:srgbClr val="6B6E78"/>
                          </a:solidFill>
                          <a:latin typeface="Calibri" pitchFamily="34" charset="0"/>
                          <a:ea typeface="Calibri" pitchFamily="34" charset="-122"/>
                          <a:cs typeface="Calibri" pitchFamily="34" charset="-120"/>
                        </a:rPr>
                        <a:t>Val</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b="1" dirty="0">
                          <a:solidFill>
                            <a:srgbClr val="6B6E78"/>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b="1" dirty="0">
                          <a:solidFill>
                            <a:srgbClr val="6B6E78"/>
                          </a:solidFill>
                          <a:latin typeface="Calibri" pitchFamily="34" charset="0"/>
                          <a:ea typeface="Calibri" pitchFamily="34" charset="-122"/>
                          <a:cs typeface="Calibri" pitchFamily="34" charset="-120"/>
                        </a:rPr>
                        <a:t>Classes</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500" dirty="0">
                          <a:solidFill>
                            <a:srgbClr val="1F2233"/>
                          </a:solidFill>
                          <a:latin typeface="Calibri" pitchFamily="34" charset="0"/>
                          <a:ea typeface="Calibri" pitchFamily="34" charset="-122"/>
                          <a:cs typeface="Calibri" pitchFamily="34" charset="-120"/>
                        </a:rPr>
                        <a:t>AG News</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l" indent="0" marL="0">
                        <a:buNone/>
                      </a:pPr>
                      <a:r>
                        <a:rPr lang="en-US" sz="1500" dirty="0">
                          <a:solidFill>
                            <a:srgbClr val="1F2233"/>
                          </a:solidFill>
                          <a:latin typeface="Calibri" pitchFamily="34" charset="0"/>
                          <a:ea typeface="Calibri" pitchFamily="34" charset="-122"/>
                          <a:cs typeface="Calibri" pitchFamily="34" charset="-120"/>
                        </a:rPr>
                        <a:t>news headline + first line</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114,000</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6,000</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7,600</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500" dirty="0">
                          <a:solidFill>
                            <a:srgbClr val="1F2233"/>
                          </a:solidFill>
                          <a:latin typeface="Calibri" pitchFamily="34" charset="0"/>
                          <a:ea typeface="Calibri" pitchFamily="34" charset="-122"/>
                          <a:cs typeface="Calibri" pitchFamily="34" charset="-120"/>
                        </a:rPr>
                        <a:t>Emotion</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l" indent="0" marL="0">
                        <a:buNone/>
                      </a:pPr>
                      <a:r>
                        <a:rPr lang="en-US" sz="1500" dirty="0">
                          <a:solidFill>
                            <a:srgbClr val="1F2233"/>
                          </a:solidFill>
                          <a:latin typeface="Calibri" pitchFamily="34" charset="0"/>
                          <a:ea typeface="Calibri" pitchFamily="34" charset="-122"/>
                          <a:cs typeface="Calibri" pitchFamily="34" charset="-120"/>
                        </a:rPr>
                        <a:t>short English tweets</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16,000</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2,000</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2,000</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bl>
          </a:graphicData>
        </a:graphic>
      </p:graphicFrame>
      <p:sp>
        <p:nvSpPr>
          <p:cNvPr id="6" name="Shape 2"/>
          <p:cNvSpPr/>
          <p:nvPr/>
        </p:nvSpPr>
        <p:spPr>
          <a:xfrm>
            <a:off x="548640" y="3383280"/>
            <a:ext cx="3474720" cy="0"/>
          </a:xfrm>
          <a:prstGeom prst="line">
            <a:avLst/>
          </a:prstGeom>
          <a:noFill/>
          <a:ln w="12700">
            <a:solidFill>
              <a:srgbClr val="1F2233"/>
            </a:solidFill>
            <a:prstDash val="solid"/>
          </a:ln>
        </p:spPr>
      </p:sp>
      <p:sp>
        <p:nvSpPr>
          <p:cNvPr id="7" name="Text 3"/>
          <p:cNvSpPr txBox="1"/>
          <p:nvPr/>
        </p:nvSpPr>
        <p:spPr>
          <a:xfrm>
            <a:off x="548640" y="3520440"/>
            <a:ext cx="3474720" cy="548640"/>
          </a:xfrm>
          <a:prstGeom prst="rect">
            <a:avLst/>
          </a:prstGeom>
          <a:noFill/>
          <a:ln/>
        </p:spPr>
        <p:txBody>
          <a:bodyPr wrap="square" lIns="0" tIns="0" rIns="0" bIns="0" rtlCol="0" anchor="t"/>
          <a:lstStyle/>
          <a:p>
            <a:pPr indent="0" marL="0">
              <a:buNone/>
            </a:pPr>
            <a:r>
              <a:rPr lang="en-US" sz="2600" b="1" dirty="0">
                <a:solidFill>
                  <a:srgbClr val="1F2233"/>
                </a:solidFill>
                <a:latin typeface="Cambria" pitchFamily="34" charset="0"/>
                <a:ea typeface="Cambria" pitchFamily="34" charset="-122"/>
                <a:cs typeface="Cambria" pitchFamily="34" charset="-120"/>
              </a:rPr>
              <a:t>13 baselines</a:t>
            </a:r>
            <a:endParaRPr lang="en-US" sz="2600" dirty="0"/>
          </a:p>
        </p:txBody>
      </p:sp>
      <p:sp>
        <p:nvSpPr>
          <p:cNvPr id="8" name="Text 4"/>
          <p:cNvSpPr txBox="1"/>
          <p:nvPr/>
        </p:nvSpPr>
        <p:spPr>
          <a:xfrm>
            <a:off x="548640" y="4114800"/>
            <a:ext cx="3474720" cy="128016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5 scikit-learn models, 4 syllabus networks and their average, Laya zero-shot, Laya probe, stacking</a:t>
            </a:r>
            <a:endParaRPr lang="en-US" sz="1400" dirty="0"/>
          </a:p>
        </p:txBody>
      </p:sp>
      <p:sp>
        <p:nvSpPr>
          <p:cNvPr id="9" name="Shape 5"/>
          <p:cNvSpPr/>
          <p:nvPr/>
        </p:nvSpPr>
        <p:spPr>
          <a:xfrm>
            <a:off x="4297680" y="3383280"/>
            <a:ext cx="3474720" cy="0"/>
          </a:xfrm>
          <a:prstGeom prst="line">
            <a:avLst/>
          </a:prstGeom>
          <a:noFill/>
          <a:ln w="12700">
            <a:solidFill>
              <a:srgbClr val="1F2233"/>
            </a:solidFill>
            <a:prstDash val="solid"/>
          </a:ln>
        </p:spPr>
      </p:sp>
      <p:sp>
        <p:nvSpPr>
          <p:cNvPr id="10" name="Text 6"/>
          <p:cNvSpPr txBox="1"/>
          <p:nvPr/>
        </p:nvSpPr>
        <p:spPr>
          <a:xfrm>
            <a:off x="4297680" y="3520440"/>
            <a:ext cx="3474720" cy="548640"/>
          </a:xfrm>
          <a:prstGeom prst="rect">
            <a:avLst/>
          </a:prstGeom>
          <a:noFill/>
          <a:ln/>
        </p:spPr>
        <p:txBody>
          <a:bodyPr wrap="square" lIns="0" tIns="0" rIns="0" bIns="0" rtlCol="0" anchor="t"/>
          <a:lstStyle/>
          <a:p>
            <a:pPr indent="0" marL="0">
              <a:buNone/>
            </a:pPr>
            <a:r>
              <a:rPr lang="en-US" sz="2600" b="1" dirty="0">
                <a:solidFill>
                  <a:srgbClr val="1F2233"/>
                </a:solidFill>
                <a:latin typeface="Cambria" pitchFamily="34" charset="0"/>
                <a:ea typeface="Cambria" pitchFamily="34" charset="-122"/>
                <a:cs typeface="Cambria" pitchFamily="34" charset="-120"/>
              </a:rPr>
              <a:t>Fair tests</a:t>
            </a:r>
            <a:endParaRPr lang="en-US" sz="2600" dirty="0"/>
          </a:p>
        </p:txBody>
      </p:sp>
      <p:sp>
        <p:nvSpPr>
          <p:cNvPr id="11" name="Text 7"/>
          <p:cNvSpPr txBox="1"/>
          <p:nvPr/>
        </p:nvSpPr>
        <p:spPr>
          <a:xfrm>
            <a:off x="4297680" y="4114800"/>
            <a:ext cx="3474720" cy="128016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same test rows, every model calibrated on validation data, ADAR over 3 seeds, 95% bootstrap confidence intervals</a:t>
            </a:r>
            <a:endParaRPr lang="en-US" sz="1400" dirty="0"/>
          </a:p>
        </p:txBody>
      </p:sp>
      <p:sp>
        <p:nvSpPr>
          <p:cNvPr id="12" name="Shape 8"/>
          <p:cNvSpPr/>
          <p:nvPr/>
        </p:nvSpPr>
        <p:spPr>
          <a:xfrm>
            <a:off x="8046720" y="3383280"/>
            <a:ext cx="3474720" cy="0"/>
          </a:xfrm>
          <a:prstGeom prst="line">
            <a:avLst/>
          </a:prstGeom>
          <a:noFill/>
          <a:ln w="12700">
            <a:solidFill>
              <a:srgbClr val="1F2233"/>
            </a:solidFill>
            <a:prstDash val="solid"/>
          </a:ln>
        </p:spPr>
      </p:sp>
      <p:sp>
        <p:nvSpPr>
          <p:cNvPr id="13" name="Text 9"/>
          <p:cNvSpPr txBox="1"/>
          <p:nvPr/>
        </p:nvSpPr>
        <p:spPr>
          <a:xfrm>
            <a:off x="8046720" y="3520440"/>
            <a:ext cx="3474720" cy="548640"/>
          </a:xfrm>
          <a:prstGeom prst="rect">
            <a:avLst/>
          </a:prstGeom>
          <a:noFill/>
          <a:ln/>
        </p:spPr>
        <p:txBody>
          <a:bodyPr wrap="square" lIns="0" tIns="0" rIns="0" bIns="0" rtlCol="0" anchor="t"/>
          <a:lstStyle/>
          <a:p>
            <a:pPr indent="0" marL="0">
              <a:buNone/>
            </a:pPr>
            <a:r>
              <a:rPr lang="en-US" sz="2600" b="1" dirty="0">
                <a:solidFill>
                  <a:srgbClr val="1F2233"/>
                </a:solidFill>
                <a:latin typeface="Cambria" pitchFamily="34" charset="0"/>
                <a:ea typeface="Cambria" pitchFamily="34" charset="-122"/>
                <a:cs typeface="Cambria" pitchFamily="34" charset="-120"/>
              </a:rPr>
              <a:t>63 minutes</a:t>
            </a:r>
            <a:endParaRPr lang="en-US" sz="2600" dirty="0"/>
          </a:p>
        </p:txBody>
      </p:sp>
      <p:sp>
        <p:nvSpPr>
          <p:cNvPr id="14" name="Text 10"/>
          <p:cNvSpPr txBox="1"/>
          <p:nvPr/>
        </p:nvSpPr>
        <p:spPr>
          <a:xfrm>
            <a:off x="8046720" y="4114800"/>
            <a:ext cx="3474720" cy="128016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whole pipeline on Kaggle’s free GPU T4 ×2, resumable after every stage</a:t>
            </a:r>
            <a:endParaRPr lang="en-US" sz="1400" dirty="0"/>
          </a:p>
        </p:txBody>
      </p:sp>
      <p:sp>
        <p:nvSpPr>
          <p:cNvPr id="15" name="Shape 11"/>
          <p:cNvSpPr/>
          <p:nvPr/>
        </p:nvSpPr>
        <p:spPr>
          <a:xfrm>
            <a:off x="548640" y="5989320"/>
            <a:ext cx="11094415" cy="0"/>
          </a:xfrm>
          <a:prstGeom prst="line">
            <a:avLst/>
          </a:prstGeom>
          <a:noFill/>
          <a:ln w="9525">
            <a:solidFill>
              <a:srgbClr val="DDD3C0"/>
            </a:solidFill>
            <a:prstDash val="solid"/>
          </a:ln>
        </p:spPr>
      </p:sp>
      <p:sp>
        <p:nvSpPr>
          <p:cNvPr id="16" name="Text 12"/>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every model sees the same test rows and the same calibration step, and a claim counts only if its confidence interval excludes zero.</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RESULTS · TEST ACCURACY</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AG News Results</a:t>
            </a:r>
            <a:endParaRPr lang="en-US" sz="3400" dirty="0"/>
          </a:p>
        </p:txBody>
      </p:sp>
      <p:graphicFrame>
        <p:nvGraphicFramePr>
          <p:cNvPr id="5" name="Chart 0" descr=""/>
          <p:cNvGraphicFramePr/>
          <p:nvPr/>
        </p:nvGraphicFramePr>
        <p:xfrm>
          <a:off x="548640" y="1417320"/>
          <a:ext cx="722376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468112"/>
            <a:ext cx="7223760" cy="457200"/>
          </a:xfrm>
          <a:prstGeom prst="rect">
            <a:avLst/>
          </a:prstGeom>
          <a:noFill/>
          <a:ln/>
        </p:spPr>
        <p:txBody>
          <a:bodyPr wrap="square" lIns="0" tIns="0" rIns="0" bIns="0" rtlCol="0" anchor="t"/>
          <a:lstStyle/>
          <a:p>
            <a:pPr indent="0" marL="0">
              <a:buNone/>
            </a:pPr>
            <a:r>
              <a:rPr lang="en-US" sz="1000" dirty="0">
                <a:solidFill>
                  <a:srgbClr val="6B6E78"/>
                </a:solidFill>
                <a:latin typeface="Calibri" pitchFamily="34" charset="0"/>
                <a:ea typeface="Calibri" pitchFamily="34" charset="-122"/>
                <a:cs typeface="Calibri" pitchFamily="34" charset="-120"/>
              </a:rPr>
              <a:t>How to read: test accuracy on 7,600 news articles, axis from 80%. ADAR = mean of 3 seeds (± 0.16 pts).</a:t>
            </a:r>
            <a:endParaRPr lang="en-US" sz="1000" dirty="0"/>
          </a:p>
          <a:p>
            <a:pPr indent="0" marL="0">
              <a:buNone/>
            </a:pPr>
            <a:r>
              <a:rPr lang="en-US" sz="1000" dirty="0">
                <a:solidFill>
                  <a:srgbClr val="6B6E78"/>
                </a:solidFill>
                <a:latin typeface="Calibri" pitchFamily="34" charset="0"/>
                <a:ea typeface="Calibri" pitchFamily="34" charset="-122"/>
                <a:cs typeface="Calibri" pitchFamily="34" charset="-120"/>
              </a:rPr>
              <a:t>Colours: ADAR (red) · Laya (slate) · syllabus networks (taupe) · scikit-learn and stacking (sand).</a:t>
            </a:r>
            <a:endParaRPr lang="en-US" sz="1000" dirty="0"/>
          </a:p>
        </p:txBody>
      </p:sp>
      <p:sp>
        <p:nvSpPr>
          <p:cNvPr id="7" name="Shape 3"/>
          <p:cNvSpPr/>
          <p:nvPr/>
        </p:nvSpPr>
        <p:spPr>
          <a:xfrm>
            <a:off x="8046720" y="1463040"/>
            <a:ext cx="3593592" cy="4343400"/>
          </a:xfrm>
          <a:prstGeom prst="roundRect">
            <a:avLst>
              <a:gd name="adj" fmla="val 2036"/>
            </a:avLst>
          </a:prstGeom>
          <a:solidFill>
            <a:srgbClr val="FCFAF5"/>
          </a:solidFill>
          <a:ln w="9525">
            <a:solidFill>
              <a:srgbClr val="DDD3C0"/>
            </a:solidFill>
            <a:prstDash val="solid"/>
          </a:ln>
        </p:spPr>
      </p:sp>
      <p:sp>
        <p:nvSpPr>
          <p:cNvPr id="8" name="Text 4"/>
          <p:cNvSpPr txBox="1"/>
          <p:nvPr/>
        </p:nvSpPr>
        <p:spPr>
          <a:xfrm>
            <a:off x="8229600" y="1600200"/>
            <a:ext cx="3200400" cy="27432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ADAR (SEED 0) MINUS …</a:t>
            </a:r>
            <a:endParaRPr lang="en-US" sz="1100" dirty="0"/>
          </a:p>
        </p:txBody>
      </p:sp>
      <p:sp>
        <p:nvSpPr>
          <p:cNvPr id="9" name="Text 5"/>
          <p:cNvSpPr txBox="1"/>
          <p:nvPr/>
        </p:nvSpPr>
        <p:spPr>
          <a:xfrm>
            <a:off x="8229600" y="1965960"/>
            <a:ext cx="3246120" cy="73152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vs Laya zero-shot</a:t>
            </a:r>
            <a:endParaRPr lang="en-US" sz="1300" dirty="0"/>
          </a:p>
          <a:p>
            <a:pPr indent="0" marL="0">
              <a:buNone/>
            </a:pPr>
            <a:r>
              <a:rPr lang="en-US" sz="1300" dirty="0">
                <a:solidFill>
                  <a:srgbClr val="3F4250"/>
                </a:solidFill>
                <a:latin typeface="Calibri" pitchFamily="34" charset="0"/>
                <a:ea typeface="Calibri" pitchFamily="34" charset="-122"/>
                <a:cs typeface="Calibri" pitchFamily="34" charset="-120"/>
              </a:rPr>
              <a:t>+0.93 pts · CI [0.42, 1.47] · </a:t>
            </a:r>
            <a:pPr indent="0" marL="0">
              <a:buNone/>
            </a:pPr>
            <a:r>
              <a:rPr lang="en-US" sz="1300" b="1" dirty="0">
                <a:solidFill>
                  <a:srgbClr val="A8432F"/>
                </a:solidFill>
                <a:latin typeface="Calibri" pitchFamily="34" charset="0"/>
                <a:ea typeface="Calibri" pitchFamily="34" charset="-122"/>
                <a:cs typeface="Calibri" pitchFamily="34" charset="-120"/>
              </a:rPr>
              <a:t>significant</a:t>
            </a:r>
            <a:endParaRPr lang="en-US" sz="1300" dirty="0"/>
          </a:p>
        </p:txBody>
      </p:sp>
      <p:sp>
        <p:nvSpPr>
          <p:cNvPr id="10" name="Text 6"/>
          <p:cNvSpPr txBox="1"/>
          <p:nvPr/>
        </p:nvSpPr>
        <p:spPr>
          <a:xfrm>
            <a:off x="8229600" y="2788920"/>
            <a:ext cx="3246120" cy="73152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vs best syllabus network</a:t>
            </a:r>
            <a:endParaRPr lang="en-US" sz="1300" dirty="0"/>
          </a:p>
          <a:p>
            <a:pPr indent="0" marL="0">
              <a:buNone/>
            </a:pPr>
            <a:r>
              <a:rPr lang="en-US" sz="1300" dirty="0">
                <a:solidFill>
                  <a:srgbClr val="3F4250"/>
                </a:solidFill>
                <a:latin typeface="Calibri" pitchFamily="34" charset="0"/>
                <a:ea typeface="Calibri" pitchFamily="34" charset="-122"/>
                <a:cs typeface="Calibri" pitchFamily="34" charset="-120"/>
              </a:rPr>
              <a:t>+1.05 pts · CI [0.63, 1.51] · </a:t>
            </a:r>
            <a:pPr indent="0" marL="0">
              <a:buNone/>
            </a:pPr>
            <a:r>
              <a:rPr lang="en-US" sz="1300" b="1" dirty="0">
                <a:solidFill>
                  <a:srgbClr val="A8432F"/>
                </a:solidFill>
                <a:latin typeface="Calibri" pitchFamily="34" charset="0"/>
                <a:ea typeface="Calibri" pitchFamily="34" charset="-122"/>
                <a:cs typeface="Calibri" pitchFamily="34" charset="-120"/>
              </a:rPr>
              <a:t>significant</a:t>
            </a:r>
            <a:endParaRPr lang="en-US" sz="1300" dirty="0"/>
          </a:p>
        </p:txBody>
      </p:sp>
      <p:sp>
        <p:nvSpPr>
          <p:cNvPr id="11" name="Text 7"/>
          <p:cNvSpPr txBox="1"/>
          <p:nvPr/>
        </p:nvSpPr>
        <p:spPr>
          <a:xfrm>
            <a:off x="8229600" y="3611880"/>
            <a:ext cx="3246120" cy="73152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vs best scikit-learn</a:t>
            </a:r>
            <a:endParaRPr lang="en-US" sz="1300" dirty="0"/>
          </a:p>
          <a:p>
            <a:pPr indent="0" marL="0">
              <a:buNone/>
            </a:pPr>
            <a:r>
              <a:rPr lang="en-US" sz="1300" dirty="0">
                <a:solidFill>
                  <a:srgbClr val="3F4250"/>
                </a:solidFill>
                <a:latin typeface="Calibri" pitchFamily="34" charset="0"/>
                <a:ea typeface="Calibri" pitchFamily="34" charset="-122"/>
                <a:cs typeface="Calibri" pitchFamily="34" charset="-120"/>
              </a:rPr>
              <a:t>+0.95 pts · CI [0.47, 1.43] · </a:t>
            </a:r>
            <a:pPr indent="0" marL="0">
              <a:buNone/>
            </a:pPr>
            <a:r>
              <a:rPr lang="en-US" sz="1300" b="1" dirty="0">
                <a:solidFill>
                  <a:srgbClr val="A8432F"/>
                </a:solidFill>
                <a:latin typeface="Calibri" pitchFamily="34" charset="0"/>
                <a:ea typeface="Calibri" pitchFamily="34" charset="-122"/>
                <a:cs typeface="Calibri" pitchFamily="34" charset="-120"/>
              </a:rPr>
              <a:t>significant</a:t>
            </a:r>
            <a:endParaRPr lang="en-US" sz="1300" dirty="0"/>
          </a:p>
        </p:txBody>
      </p:sp>
      <p:sp>
        <p:nvSpPr>
          <p:cNvPr id="12" name="Text 8"/>
          <p:cNvSpPr txBox="1"/>
          <p:nvPr/>
        </p:nvSpPr>
        <p:spPr>
          <a:xfrm>
            <a:off x="8229600" y="4434840"/>
            <a:ext cx="3246120" cy="73152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vs stacking</a:t>
            </a:r>
            <a:endParaRPr lang="en-US" sz="1300" dirty="0"/>
          </a:p>
          <a:p>
            <a:pPr indent="0" marL="0">
              <a:buNone/>
            </a:pPr>
            <a:r>
              <a:rPr lang="en-US" sz="1300" dirty="0">
                <a:solidFill>
                  <a:srgbClr val="3F4250"/>
                </a:solidFill>
                <a:latin typeface="Calibri" pitchFamily="34" charset="0"/>
                <a:ea typeface="Calibri" pitchFamily="34" charset="-122"/>
                <a:cs typeface="Calibri" pitchFamily="34" charset="-120"/>
              </a:rPr>
              <a:t>+1.42 pts · CI [1.00, 1.84] · </a:t>
            </a:r>
            <a:pPr indent="0" marL="0">
              <a:buNone/>
            </a:pPr>
            <a:r>
              <a:rPr lang="en-US" sz="1300" b="1" dirty="0">
                <a:solidFill>
                  <a:srgbClr val="A8432F"/>
                </a:solidFill>
                <a:latin typeface="Calibri" pitchFamily="34" charset="0"/>
                <a:ea typeface="Calibri" pitchFamily="34" charset="-122"/>
                <a:cs typeface="Calibri" pitchFamily="34" charset="-120"/>
              </a:rPr>
              <a:t>significant</a:t>
            </a:r>
            <a:endParaRPr lang="en-US" sz="1300" dirty="0"/>
          </a:p>
        </p:txBody>
      </p:sp>
      <p:sp>
        <p:nvSpPr>
          <p:cNvPr id="13" name="Text 9"/>
          <p:cNvSpPr txBox="1"/>
          <p:nvPr/>
        </p:nvSpPr>
        <p:spPr>
          <a:xfrm>
            <a:off x="8229600" y="5349240"/>
            <a:ext cx="3200400" cy="320040"/>
          </a:xfrm>
          <a:prstGeom prst="rect">
            <a:avLst/>
          </a:prstGeom>
          <a:noFill/>
          <a:ln/>
        </p:spPr>
        <p:txBody>
          <a:bodyPr wrap="square" lIns="0" tIns="0" rIns="0" bIns="0" rtlCol="0" anchor="t"/>
          <a:lstStyle/>
          <a:p>
            <a:pPr indent="0" marL="0">
              <a:buNone/>
            </a:pPr>
            <a:r>
              <a:rPr lang="en-US" sz="1200" dirty="0">
                <a:solidFill>
                  <a:srgbClr val="6B6E78"/>
                </a:solidFill>
                <a:latin typeface="Calibri" pitchFamily="34" charset="0"/>
                <a:ea typeface="Calibri" pitchFamily="34" charset="-122"/>
                <a:cs typeface="Calibri" pitchFamily="34" charset="-120"/>
              </a:rPr>
              <a:t>14 of 14 quality checks passed</a:t>
            </a:r>
            <a:endParaRPr lang="en-US" sz="1200" dirty="0"/>
          </a:p>
        </p:txBody>
      </p:sp>
      <p:sp>
        <p:nvSpPr>
          <p:cNvPr id="14" name="Shape 10"/>
          <p:cNvSpPr/>
          <p:nvPr/>
        </p:nvSpPr>
        <p:spPr>
          <a:xfrm>
            <a:off x="548640" y="5989320"/>
            <a:ext cx="11094415" cy="0"/>
          </a:xfrm>
          <a:prstGeom prst="line">
            <a:avLst/>
          </a:prstGeom>
          <a:noFill/>
          <a:ln w="9525">
            <a:solidFill>
              <a:srgbClr val="DDD3C0"/>
            </a:solidFill>
            <a:prstDash val="solid"/>
          </a:ln>
        </p:spPr>
      </p:sp>
      <p:sp>
        <p:nvSpPr>
          <p:cNvPr id="15" name="Text 11"/>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ADAR significantly beats Laya zero-shot, the best syllabus network and the best scikit-learn model.</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RESULTS · AG NEWS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Honesty and Cost</a:t>
            </a:r>
            <a:endParaRPr lang="en-US" sz="3400" dirty="0"/>
          </a:p>
        </p:txBody>
      </p:sp>
      <p:sp>
        <p:nvSpPr>
          <p:cNvPr id="5" name="Shape 2"/>
          <p:cNvSpPr/>
          <p:nvPr/>
        </p:nvSpPr>
        <p:spPr>
          <a:xfrm>
            <a:off x="548640" y="1463040"/>
            <a:ext cx="5440680" cy="4343400"/>
          </a:xfrm>
          <a:prstGeom prst="roundRect">
            <a:avLst>
              <a:gd name="adj" fmla="val 1684"/>
            </a:avLst>
          </a:prstGeom>
          <a:solidFill>
            <a:srgbClr val="FCFAF5"/>
          </a:solidFill>
          <a:ln w="9525">
            <a:solidFill>
              <a:srgbClr val="DDD3C0"/>
            </a:solidFill>
            <a:prstDash val="solid"/>
          </a:ln>
        </p:spPr>
      </p:sp>
      <p:sp>
        <p:nvSpPr>
          <p:cNvPr id="6" name="Text 3"/>
          <p:cNvSpPr txBox="1"/>
          <p:nvPr/>
        </p:nvSpPr>
        <p:spPr>
          <a:xfrm>
            <a:off x="777240" y="1600200"/>
            <a:ext cx="4937760" cy="27432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HONEST PROBABILITIES · LOG-LOSS (LOWER IS BETTER)</a:t>
            </a:r>
            <a:endParaRPr lang="en-US" sz="1100" dirty="0"/>
          </a:p>
        </p:txBody>
      </p:sp>
      <p:sp>
        <p:nvSpPr>
          <p:cNvPr id="7" name="Text 4"/>
          <p:cNvSpPr txBox="1"/>
          <p:nvPr/>
        </p:nvSpPr>
        <p:spPr>
          <a:xfrm>
            <a:off x="777240" y="1920240"/>
            <a:ext cx="4937760" cy="822960"/>
          </a:xfrm>
          <a:prstGeom prst="rect">
            <a:avLst/>
          </a:prstGeom>
          <a:noFill/>
          <a:ln/>
        </p:spPr>
        <p:txBody>
          <a:bodyPr wrap="square" lIns="0" tIns="0" rIns="0" bIns="0" rtlCol="0" anchor="t"/>
          <a:lstStyle/>
          <a:p>
            <a:pPr indent="0" marL="0">
              <a:buNone/>
            </a:pPr>
            <a:r>
              <a:rPr lang="en-US" sz="4800" b="1" dirty="0">
                <a:solidFill>
                  <a:srgbClr val="A8432F"/>
                </a:solidFill>
                <a:latin typeface="Cambria" pitchFamily="34" charset="0"/>
                <a:ea typeface="Cambria" pitchFamily="34" charset="-122"/>
                <a:cs typeface="Cambria" pitchFamily="34" charset="-120"/>
              </a:rPr>
              <a:t>15% lower</a:t>
            </a:r>
            <a:endParaRPr lang="en-US" sz="4800" dirty="0"/>
          </a:p>
        </p:txBody>
      </p:sp>
      <p:sp>
        <p:nvSpPr>
          <p:cNvPr id="8" name="Text 5"/>
          <p:cNvSpPr txBox="1"/>
          <p:nvPr/>
        </p:nvSpPr>
        <p:spPr>
          <a:xfrm>
            <a:off x="777240" y="2743200"/>
            <a:ext cx="4937760" cy="54864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log-loss than the best baseline (Stacking (Laya + experts))</a:t>
            </a:r>
            <a:endParaRPr lang="en-US" sz="1400" dirty="0"/>
          </a:p>
        </p:txBody>
      </p:sp>
      <p:graphicFrame>
        <p:nvGraphicFramePr>
          <p:cNvPr id="9" name="Chart 0" descr=""/>
          <p:cNvGraphicFramePr/>
          <p:nvPr/>
        </p:nvGraphicFramePr>
        <p:xfrm>
          <a:off x="640080" y="3337560"/>
          <a:ext cx="5212080" cy="2331720"/>
        </p:xfrm>
        <a:graphic xmlns:a="http://schemas.openxmlformats.org/drawingml/2006/main">
          <a:graphicData uri="http://schemas.openxmlformats.org/drawingml/2006/chart">
            <c:chart xmlns:c="http://schemas.openxmlformats.org/drawingml/2006/chart" r:id="rId1"/>
          </a:graphicData>
        </a:graphic>
      </p:graphicFrame>
      <p:sp>
        <p:nvSpPr>
          <p:cNvPr id="10" name="Shape 6"/>
          <p:cNvSpPr/>
          <p:nvPr/>
        </p:nvSpPr>
        <p:spPr>
          <a:xfrm>
            <a:off x="6199632" y="1463040"/>
            <a:ext cx="5440680" cy="4343400"/>
          </a:xfrm>
          <a:prstGeom prst="roundRect">
            <a:avLst>
              <a:gd name="adj" fmla="val 1684"/>
            </a:avLst>
          </a:prstGeom>
          <a:solidFill>
            <a:srgbClr val="FCFAF5"/>
          </a:solidFill>
          <a:ln w="9525">
            <a:solidFill>
              <a:srgbClr val="DDD3C0"/>
            </a:solidFill>
            <a:prstDash val="solid"/>
          </a:ln>
        </p:spPr>
      </p:sp>
      <p:sp>
        <p:nvSpPr>
          <p:cNvPr id="11" name="Text 7"/>
          <p:cNvSpPr txBox="1"/>
          <p:nvPr/>
        </p:nvSpPr>
        <p:spPr>
          <a:xfrm>
            <a:off x="6428232" y="1600200"/>
            <a:ext cx="4937760" cy="27432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COST · CPU MS PER INPUT</a:t>
            </a:r>
            <a:endParaRPr lang="en-US" sz="1100" dirty="0"/>
          </a:p>
        </p:txBody>
      </p:sp>
      <p:sp>
        <p:nvSpPr>
          <p:cNvPr id="12" name="Text 8"/>
          <p:cNvSpPr txBox="1"/>
          <p:nvPr/>
        </p:nvSpPr>
        <p:spPr>
          <a:xfrm>
            <a:off x="6428232" y="1920240"/>
            <a:ext cx="4937760" cy="822960"/>
          </a:xfrm>
          <a:prstGeom prst="rect">
            <a:avLst/>
          </a:prstGeom>
          <a:noFill/>
          <a:ln/>
        </p:spPr>
        <p:txBody>
          <a:bodyPr wrap="square" lIns="0" tIns="0" rIns="0" bIns="0" rtlCol="0" anchor="t"/>
          <a:lstStyle/>
          <a:p>
            <a:pPr indent="0" marL="0">
              <a:buNone/>
            </a:pPr>
            <a:r>
              <a:rPr lang="en-US" sz="4800" b="1" dirty="0">
                <a:solidFill>
                  <a:srgbClr val="4A5874"/>
                </a:solidFill>
                <a:latin typeface="Cambria" pitchFamily="34" charset="0"/>
                <a:ea typeface="Cambria" pitchFamily="34" charset="-122"/>
                <a:cs typeface="Cambria" pitchFamily="34" charset="-120"/>
              </a:rPr>
              <a:t>2.6× cheaper</a:t>
            </a:r>
            <a:endParaRPr lang="en-US" sz="4800" dirty="0"/>
          </a:p>
        </p:txBody>
      </p:sp>
      <p:sp>
        <p:nvSpPr>
          <p:cNvPr id="13" name="Text 9"/>
          <p:cNvSpPr txBox="1"/>
          <p:nvPr/>
        </p:nvSpPr>
        <p:spPr>
          <a:xfrm>
            <a:off x="6428232" y="2743200"/>
            <a:ext cx="4937760" cy="54864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than always running Laya + ADAR, at 93.32% vs 93.28% accuracy</a:t>
            </a:r>
            <a:endParaRPr lang="en-US" sz="1400" dirty="0"/>
          </a:p>
        </p:txBody>
      </p:sp>
      <p:graphicFrame>
        <p:nvGraphicFramePr>
          <p:cNvPr id="14" name="Chart 1" descr=""/>
          <p:cNvGraphicFramePr/>
          <p:nvPr/>
        </p:nvGraphicFramePr>
        <p:xfrm>
          <a:off x="6291072" y="3337560"/>
          <a:ext cx="5212080" cy="2331720"/>
        </p:xfrm>
        <a:graphic xmlns:a="http://schemas.openxmlformats.org/drawingml/2006/main">
          <a:graphicData uri="http://schemas.openxmlformats.org/drawingml/2006/chart">
            <c:chart xmlns:c="http://schemas.openxmlformats.org/drawingml/2006/chart" r:id="rId2"/>
          </a:graphicData>
        </a:graphic>
      </p:graphicFrame>
      <p:sp>
        <p:nvSpPr>
          <p:cNvPr id="15" name="Shape 10"/>
          <p:cNvSpPr/>
          <p:nvPr/>
        </p:nvSpPr>
        <p:spPr>
          <a:xfrm>
            <a:off x="548640" y="5989320"/>
            <a:ext cx="11094415" cy="0"/>
          </a:xfrm>
          <a:prstGeom prst="line">
            <a:avLst/>
          </a:prstGeom>
          <a:noFill/>
          <a:ln w="9525">
            <a:solidFill>
              <a:srgbClr val="DDD3C0"/>
            </a:solidFill>
            <a:prstDash val="solid"/>
          </a:ln>
        </p:spPr>
      </p:sp>
      <p:sp>
        <p:nvSpPr>
          <p:cNvPr id="16" name="Text 11"/>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ADAR has the lowest log-loss of every model, so its probabilities are the most honest; the cascade matches its accuracy (93.32% vs 93.28%) with 2.6× less compute.</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RESULTS · TEST ACCURACY</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Emotion Results</a:t>
            </a:r>
            <a:endParaRPr lang="en-US" sz="3400" dirty="0"/>
          </a:p>
        </p:txBody>
      </p:sp>
      <p:graphicFrame>
        <p:nvGraphicFramePr>
          <p:cNvPr id="5" name="Chart 0" descr=""/>
          <p:cNvGraphicFramePr/>
          <p:nvPr/>
        </p:nvGraphicFramePr>
        <p:xfrm>
          <a:off x="548640" y="1417320"/>
          <a:ext cx="722376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468112"/>
            <a:ext cx="7223760" cy="457200"/>
          </a:xfrm>
          <a:prstGeom prst="rect">
            <a:avLst/>
          </a:prstGeom>
          <a:noFill/>
          <a:ln/>
        </p:spPr>
        <p:txBody>
          <a:bodyPr wrap="square" lIns="0" tIns="0" rIns="0" bIns="0" rtlCol="0" anchor="t"/>
          <a:lstStyle/>
          <a:p>
            <a:pPr indent="0" marL="0">
              <a:buNone/>
            </a:pPr>
            <a:r>
              <a:rPr lang="en-US" sz="1000" dirty="0">
                <a:solidFill>
                  <a:srgbClr val="6B6E78"/>
                </a:solidFill>
                <a:latin typeface="Calibri" pitchFamily="34" charset="0"/>
                <a:ea typeface="Calibri" pitchFamily="34" charset="-122"/>
                <a:cs typeface="Calibri" pitchFamily="34" charset="-120"/>
              </a:rPr>
              <a:t>How to read: test accuracy on 2,000 tweets, axis from 55%. ADAR = mean of 3 seeds (± 0.19 pts).</a:t>
            </a:r>
            <a:endParaRPr lang="en-US" sz="1000" dirty="0"/>
          </a:p>
          <a:p>
            <a:pPr indent="0" marL="0">
              <a:buNone/>
            </a:pPr>
            <a:r>
              <a:rPr lang="en-US" sz="1000" dirty="0">
                <a:solidFill>
                  <a:srgbClr val="6B6E78"/>
                </a:solidFill>
                <a:latin typeface="Calibri" pitchFamily="34" charset="0"/>
                <a:ea typeface="Calibri" pitchFamily="34" charset="-122"/>
                <a:cs typeface="Calibri" pitchFamily="34" charset="-120"/>
              </a:rPr>
              <a:t>Colours: ADAR (red) · Laya (slate) · syllabus networks (taupe) · scikit-learn and stacking (sand).</a:t>
            </a:r>
            <a:endParaRPr lang="en-US" sz="1000" dirty="0"/>
          </a:p>
        </p:txBody>
      </p:sp>
      <p:sp>
        <p:nvSpPr>
          <p:cNvPr id="7" name="Shape 3"/>
          <p:cNvSpPr/>
          <p:nvPr/>
        </p:nvSpPr>
        <p:spPr>
          <a:xfrm>
            <a:off x="8046720" y="1463040"/>
            <a:ext cx="3593592" cy="4343400"/>
          </a:xfrm>
          <a:prstGeom prst="roundRect">
            <a:avLst>
              <a:gd name="adj" fmla="val 2036"/>
            </a:avLst>
          </a:prstGeom>
          <a:solidFill>
            <a:srgbClr val="FCFAF5"/>
          </a:solidFill>
          <a:ln w="9525">
            <a:solidFill>
              <a:srgbClr val="DDD3C0"/>
            </a:solidFill>
            <a:prstDash val="solid"/>
          </a:ln>
        </p:spPr>
      </p:sp>
      <p:sp>
        <p:nvSpPr>
          <p:cNvPr id="8" name="Text 4"/>
          <p:cNvSpPr txBox="1"/>
          <p:nvPr/>
        </p:nvSpPr>
        <p:spPr>
          <a:xfrm>
            <a:off x="8229600" y="1600200"/>
            <a:ext cx="3200400" cy="27432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ADAR (SEED 0) MINUS …</a:t>
            </a:r>
            <a:endParaRPr lang="en-US" sz="1100" dirty="0"/>
          </a:p>
        </p:txBody>
      </p:sp>
      <p:sp>
        <p:nvSpPr>
          <p:cNvPr id="9" name="Text 5"/>
          <p:cNvSpPr txBox="1"/>
          <p:nvPr/>
        </p:nvSpPr>
        <p:spPr>
          <a:xfrm>
            <a:off x="8229600" y="1965960"/>
            <a:ext cx="3246120" cy="73152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vs Laya zero-shot</a:t>
            </a:r>
            <a:endParaRPr lang="en-US" sz="1300" dirty="0"/>
          </a:p>
          <a:p>
            <a:pPr indent="0" marL="0">
              <a:buNone/>
            </a:pPr>
            <a:r>
              <a:rPr lang="en-US" sz="1300" dirty="0">
                <a:solidFill>
                  <a:srgbClr val="3F4250"/>
                </a:solidFill>
                <a:latin typeface="Calibri" pitchFamily="34" charset="0"/>
                <a:ea typeface="Calibri" pitchFamily="34" charset="-122"/>
                <a:cs typeface="Calibri" pitchFamily="34" charset="-120"/>
              </a:rPr>
              <a:t>+34.20 pts · CI [31.80, 36.65] · </a:t>
            </a:r>
            <a:pPr indent="0" marL="0">
              <a:buNone/>
            </a:pPr>
            <a:r>
              <a:rPr lang="en-US" sz="1300" b="1" dirty="0">
                <a:solidFill>
                  <a:srgbClr val="A8432F"/>
                </a:solidFill>
                <a:latin typeface="Calibri" pitchFamily="34" charset="0"/>
                <a:ea typeface="Calibri" pitchFamily="34" charset="-122"/>
                <a:cs typeface="Calibri" pitchFamily="34" charset="-120"/>
              </a:rPr>
              <a:t>significant</a:t>
            </a:r>
            <a:endParaRPr lang="en-US" sz="1300" dirty="0"/>
          </a:p>
        </p:txBody>
      </p:sp>
      <p:sp>
        <p:nvSpPr>
          <p:cNvPr id="10" name="Text 6"/>
          <p:cNvSpPr txBox="1"/>
          <p:nvPr/>
        </p:nvSpPr>
        <p:spPr>
          <a:xfrm>
            <a:off x="8229600" y="2788920"/>
            <a:ext cx="3246120" cy="73152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vs best syllabus network</a:t>
            </a:r>
            <a:endParaRPr lang="en-US" sz="1300" dirty="0"/>
          </a:p>
          <a:p>
            <a:pPr indent="0" marL="0">
              <a:buNone/>
            </a:pPr>
            <a:r>
              <a:rPr lang="en-US" sz="1300" dirty="0">
                <a:solidFill>
                  <a:srgbClr val="3F4250"/>
                </a:solidFill>
                <a:latin typeface="Calibri" pitchFamily="34" charset="0"/>
                <a:ea typeface="Calibri" pitchFamily="34" charset="-122"/>
                <a:cs typeface="Calibri" pitchFamily="34" charset="-120"/>
              </a:rPr>
              <a:t>+0.00 pts · CI [-0.75, 0.75] · </a:t>
            </a:r>
            <a:pPr indent="0" marL="0">
              <a:buNone/>
            </a:pPr>
            <a:r>
              <a:rPr lang="en-US" sz="1300" dirty="0">
                <a:solidFill>
                  <a:srgbClr val="6B6E78"/>
                </a:solidFill>
                <a:latin typeface="Calibri" pitchFamily="34" charset="0"/>
                <a:ea typeface="Calibri" pitchFamily="34" charset="-122"/>
                <a:cs typeface="Calibri" pitchFamily="34" charset="-120"/>
              </a:rPr>
              <a:t>not significant</a:t>
            </a:r>
            <a:endParaRPr lang="en-US" sz="1300" dirty="0"/>
          </a:p>
        </p:txBody>
      </p:sp>
      <p:sp>
        <p:nvSpPr>
          <p:cNvPr id="11" name="Text 7"/>
          <p:cNvSpPr txBox="1"/>
          <p:nvPr/>
        </p:nvSpPr>
        <p:spPr>
          <a:xfrm>
            <a:off x="8229600" y="3611880"/>
            <a:ext cx="3246120" cy="73152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vs best scikit-learn</a:t>
            </a:r>
            <a:endParaRPr lang="en-US" sz="1300" dirty="0"/>
          </a:p>
          <a:p>
            <a:pPr indent="0" marL="0">
              <a:buNone/>
            </a:pPr>
            <a:r>
              <a:rPr lang="en-US" sz="1300" dirty="0">
                <a:solidFill>
                  <a:srgbClr val="3F4250"/>
                </a:solidFill>
                <a:latin typeface="Calibri" pitchFamily="34" charset="0"/>
                <a:ea typeface="Calibri" pitchFamily="34" charset="-122"/>
                <a:cs typeface="Calibri" pitchFamily="34" charset="-120"/>
              </a:rPr>
              <a:t>+4.10 pts · CI [2.90, 5.40] · </a:t>
            </a:r>
            <a:pPr indent="0" marL="0">
              <a:buNone/>
            </a:pPr>
            <a:r>
              <a:rPr lang="en-US" sz="1300" b="1" dirty="0">
                <a:solidFill>
                  <a:srgbClr val="A8432F"/>
                </a:solidFill>
                <a:latin typeface="Calibri" pitchFamily="34" charset="0"/>
                <a:ea typeface="Calibri" pitchFamily="34" charset="-122"/>
                <a:cs typeface="Calibri" pitchFamily="34" charset="-120"/>
              </a:rPr>
              <a:t>significant</a:t>
            </a:r>
            <a:endParaRPr lang="en-US" sz="1300" dirty="0"/>
          </a:p>
        </p:txBody>
      </p:sp>
      <p:sp>
        <p:nvSpPr>
          <p:cNvPr id="12" name="Text 8"/>
          <p:cNvSpPr txBox="1"/>
          <p:nvPr/>
        </p:nvSpPr>
        <p:spPr>
          <a:xfrm>
            <a:off x="8229600" y="4434840"/>
            <a:ext cx="3246120" cy="73152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vs stacking</a:t>
            </a:r>
            <a:endParaRPr lang="en-US" sz="1300" dirty="0"/>
          </a:p>
          <a:p>
            <a:pPr indent="0" marL="0">
              <a:buNone/>
            </a:pPr>
            <a:r>
              <a:rPr lang="en-US" sz="1300" dirty="0">
                <a:solidFill>
                  <a:srgbClr val="3F4250"/>
                </a:solidFill>
                <a:latin typeface="Calibri" pitchFamily="34" charset="0"/>
                <a:ea typeface="Calibri" pitchFamily="34" charset="-122"/>
                <a:cs typeface="Calibri" pitchFamily="34" charset="-120"/>
              </a:rPr>
              <a:t>+4.30 pts · CI [2.90, 5.65] · </a:t>
            </a:r>
            <a:pPr indent="0" marL="0">
              <a:buNone/>
            </a:pPr>
            <a:r>
              <a:rPr lang="en-US" sz="1300" b="1" dirty="0">
                <a:solidFill>
                  <a:srgbClr val="A8432F"/>
                </a:solidFill>
                <a:latin typeface="Calibri" pitchFamily="34" charset="0"/>
                <a:ea typeface="Calibri" pitchFamily="34" charset="-122"/>
                <a:cs typeface="Calibri" pitchFamily="34" charset="-120"/>
              </a:rPr>
              <a:t>significant</a:t>
            </a:r>
            <a:endParaRPr lang="en-US" sz="1300" dirty="0"/>
          </a:p>
        </p:txBody>
      </p:sp>
      <p:sp>
        <p:nvSpPr>
          <p:cNvPr id="13" name="Text 9"/>
          <p:cNvSpPr txBox="1"/>
          <p:nvPr/>
        </p:nvSpPr>
        <p:spPr>
          <a:xfrm>
            <a:off x="8229600" y="5349240"/>
            <a:ext cx="3200400" cy="320040"/>
          </a:xfrm>
          <a:prstGeom prst="rect">
            <a:avLst/>
          </a:prstGeom>
          <a:noFill/>
          <a:ln/>
        </p:spPr>
        <p:txBody>
          <a:bodyPr wrap="square" lIns="0" tIns="0" rIns="0" bIns="0" rtlCol="0" anchor="t"/>
          <a:lstStyle/>
          <a:p>
            <a:pPr indent="0" marL="0">
              <a:buNone/>
            </a:pPr>
            <a:r>
              <a:rPr lang="en-US" sz="1200" dirty="0">
                <a:solidFill>
                  <a:srgbClr val="6B6E78"/>
                </a:solidFill>
                <a:latin typeface="Calibri" pitchFamily="34" charset="0"/>
                <a:ea typeface="Calibri" pitchFamily="34" charset="-122"/>
                <a:cs typeface="Calibri" pitchFamily="34" charset="-120"/>
              </a:rPr>
              <a:t>10 of 14 quality checks passed</a:t>
            </a:r>
            <a:endParaRPr lang="en-US" sz="1200" dirty="0"/>
          </a:p>
        </p:txBody>
      </p:sp>
      <p:sp>
        <p:nvSpPr>
          <p:cNvPr id="14" name="Shape 10"/>
          <p:cNvSpPr/>
          <p:nvPr/>
        </p:nvSpPr>
        <p:spPr>
          <a:xfrm>
            <a:off x="548640" y="5989320"/>
            <a:ext cx="11094415" cy="0"/>
          </a:xfrm>
          <a:prstGeom prst="line">
            <a:avLst/>
          </a:prstGeom>
          <a:noFill/>
          <a:ln w="9525">
            <a:solidFill>
              <a:srgbClr val="DDD3C0"/>
            </a:solidFill>
            <a:prstDash val="solid"/>
          </a:ln>
        </p:spPr>
      </p:sp>
      <p:sp>
        <p:nvSpPr>
          <p:cNvPr id="15" name="Text 11"/>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ADAR significantly beats Laya zero-shot and the best scikit-learn model; ties the best syllabus network (difference not significant). Laya alone gets 58.1%; the router calls it for only 0.1% of tweets.</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RESULTS · ABLATIONS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What Each Part Adds</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959352"/>
                <a:gridCol w="2194560"/>
                <a:gridCol w="1371600"/>
                <a:gridCol w="2194560"/>
                <a:gridCol w="1371600"/>
              </a:tblGrid>
              <a:tr h="0">
                <a:tc>
                  <a:txBody>
                    <a:bodyPr/>
                    <a:lstStyle/>
                    <a:p>
                      <a:pPr algn="l" indent="0" marL="0">
                        <a:buNone/>
                      </a:pPr>
                      <a:r>
                        <a:rPr lang="en-US" sz="1500" b="1" dirty="0">
                          <a:solidFill>
                            <a:srgbClr val="6B6E78"/>
                          </a:solidFill>
                          <a:latin typeface="Calibri" pitchFamily="34" charset="0"/>
                          <a:ea typeface="Calibri" pitchFamily="34" charset="-122"/>
                          <a:cs typeface="Calibri" pitchFamily="34" charset="-120"/>
                        </a:rPr>
                        <a:t>Variant</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b="1" dirty="0">
                          <a:solidFill>
                            <a:srgbClr val="6B6E78"/>
                          </a:solidFill>
                          <a:latin typeface="Calibri" pitchFamily="34" charset="0"/>
                          <a:ea typeface="Calibri" pitchFamily="34" charset="-122"/>
                          <a:cs typeface="Calibri" pitchFamily="34" charset="-120"/>
                        </a:rPr>
                        <a:t>AG News Δ acc</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b="1" dirty="0">
                          <a:solidFill>
                            <a:srgbClr val="6B6E78"/>
                          </a:solidFill>
                          <a:latin typeface="Calibri" pitchFamily="34" charset="0"/>
                          <a:ea typeface="Calibri" pitchFamily="34" charset="-122"/>
                          <a:cs typeface="Calibri" pitchFamily="34" charset="-120"/>
                        </a:rPr>
                        <a:t>NLL</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b="1" dirty="0">
                          <a:solidFill>
                            <a:srgbClr val="6B6E78"/>
                          </a:solidFill>
                          <a:latin typeface="Calibri" pitchFamily="34" charset="0"/>
                          <a:ea typeface="Calibri" pitchFamily="34" charset="-122"/>
                          <a:cs typeface="Calibri" pitchFamily="34" charset="-120"/>
                        </a:rPr>
                        <a:t>Emotion Δ acc</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b="1" dirty="0">
                          <a:solidFill>
                            <a:srgbClr val="6B6E78"/>
                          </a:solidFill>
                          <a:latin typeface="Calibri" pitchFamily="34" charset="0"/>
                          <a:ea typeface="Calibri" pitchFamily="34" charset="-122"/>
                          <a:cs typeface="Calibri" pitchFamily="34" charset="-120"/>
                        </a:rPr>
                        <a:t>NLL</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500" b="1" dirty="0">
                          <a:solidFill>
                            <a:srgbClr val="1F2233"/>
                          </a:solidFill>
                          <a:latin typeface="Calibri" pitchFamily="34" charset="0"/>
                          <a:ea typeface="Calibri" pitchFamily="34" charset="-122"/>
                          <a:cs typeface="Calibri" pitchFamily="34" charset="-120"/>
                        </a:rPr>
                        <a:t>Full ADAR</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3DED5"/>
                    </a:solidFill>
                  </a:tcPr>
                </a:tc>
                <a:tc>
                  <a:txBody>
                    <a:bodyPr/>
                    <a:lstStyle/>
                    <a:p>
                      <a:pPr algn="r" indent="0" marL="0">
                        <a:buNone/>
                      </a:pPr>
                      <a:r>
                        <a:rPr lang="en-US" sz="1500" b="1" dirty="0">
                          <a:solidFill>
                            <a:srgbClr val="1F2233"/>
                          </a:solidFill>
                          <a:latin typeface="Calibri" pitchFamily="34" charset="0"/>
                          <a:ea typeface="Calibri" pitchFamily="34" charset="-122"/>
                          <a:cs typeface="Calibri" pitchFamily="34" charset="-120"/>
                        </a:rPr>
                        <a:t>93.3%</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3DED5"/>
                    </a:solidFill>
                  </a:tcPr>
                </a:tc>
                <a:tc>
                  <a:txBody>
                    <a:bodyPr/>
                    <a:lstStyle/>
                    <a:p>
                      <a:pPr algn="r" indent="0" marL="0">
                        <a:buNone/>
                      </a:pPr>
                      <a:r>
                        <a:rPr lang="en-US" sz="1500" b="1" dirty="0">
                          <a:solidFill>
                            <a:srgbClr val="1F2233"/>
                          </a:solidFill>
                          <a:latin typeface="Calibri" pitchFamily="34" charset="0"/>
                          <a:ea typeface="Calibri" pitchFamily="34" charset="-122"/>
                          <a:cs typeface="Calibri" pitchFamily="34" charset="-120"/>
                        </a:rPr>
                        <a:t>0.197</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3DED5"/>
                    </a:solidFill>
                  </a:tcPr>
                </a:tc>
                <a:tc>
                  <a:txBody>
                    <a:bodyPr/>
                    <a:lstStyle/>
                    <a:p>
                      <a:pPr algn="r" indent="0" marL="0">
                        <a:buNone/>
                      </a:pPr>
                      <a:r>
                        <a:rPr lang="en-US" sz="1500" b="1" dirty="0">
                          <a:solidFill>
                            <a:srgbClr val="1F2233"/>
                          </a:solidFill>
                          <a:latin typeface="Calibri" pitchFamily="34" charset="0"/>
                          <a:ea typeface="Calibri" pitchFamily="34" charset="-122"/>
                          <a:cs typeface="Calibri" pitchFamily="34" charset="-120"/>
                        </a:rPr>
                        <a:t>92.0%</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3DED5"/>
                    </a:solidFill>
                  </a:tcPr>
                </a:tc>
                <a:tc>
                  <a:txBody>
                    <a:bodyPr/>
                    <a:lstStyle/>
                    <a:p>
                      <a:pPr algn="r" indent="0" marL="0">
                        <a:buNone/>
                      </a:pPr>
                      <a:r>
                        <a:rPr lang="en-US" sz="1500" b="1" dirty="0">
                          <a:solidFill>
                            <a:srgbClr val="1F2233"/>
                          </a:solidFill>
                          <a:latin typeface="Calibri" pitchFamily="34" charset="0"/>
                          <a:ea typeface="Calibri" pitchFamily="34" charset="-122"/>
                          <a:cs typeface="Calibri" pitchFamily="34" charset="-120"/>
                        </a:rPr>
                        <a:t>0.170</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3DED5"/>
                    </a:solidFill>
                  </a:tcPr>
                </a:tc>
              </a:tr>
              <a:tr h="0">
                <a:tc>
                  <a:txBody>
                    <a:bodyPr/>
                    <a:lstStyle/>
                    <a:p>
                      <a:pPr algn="l" indent="0" marL="0">
                        <a:buNone/>
                      </a:pPr>
                      <a:r>
                        <a:rPr lang="en-US" sz="1500" dirty="0">
                          <a:solidFill>
                            <a:srgbClr val="1F2233"/>
                          </a:solidFill>
                          <a:latin typeface="Calibri" pitchFamily="34" charset="0"/>
                          <a:ea typeface="Calibri" pitchFamily="34" charset="-122"/>
                          <a:cs typeface="Calibri" pitchFamily="34" charset="-120"/>
                        </a:rPr>
                        <a:t>Without the experts (Laya only)</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-1.64 pts (yes)</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0.238</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-27.30 pts (yes)</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0.975</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500" dirty="0">
                          <a:solidFill>
                            <a:srgbClr val="1F2233"/>
                          </a:solidFill>
                          <a:latin typeface="Calibri" pitchFamily="34" charset="0"/>
                          <a:ea typeface="Calibri" pitchFamily="34" charset="-122"/>
                          <a:cs typeface="Calibri" pitchFamily="34" charset="-120"/>
                        </a:rPr>
                        <a:t>Without Laya (experts only)</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-0.83 pts (yes)</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0.227</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-0.25 pts (no)</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0.165</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500" dirty="0">
                          <a:solidFill>
                            <a:srgbClr val="1F2233"/>
                          </a:solidFill>
                          <a:latin typeface="Calibri" pitchFamily="34" charset="0"/>
                          <a:ea typeface="Calibri" pitchFamily="34" charset="-122"/>
                          <a:cs typeface="Calibri" pitchFamily="34" charset="-120"/>
                        </a:rPr>
                        <a:t>Without attention</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-0.26 pts (no)</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0.202</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-0.20 pts (no)</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500" dirty="0">
                          <a:solidFill>
                            <a:srgbClr val="1F2233"/>
                          </a:solidFill>
                          <a:latin typeface="Calibri" pitchFamily="34" charset="0"/>
                          <a:ea typeface="Calibri" pitchFamily="34" charset="-122"/>
                          <a:cs typeface="Calibri" pitchFamily="34" charset="-120"/>
                        </a:rPr>
                        <a:t>0.171</a:t>
                      </a:r>
                      <a:endParaRPr lang="en-US" sz="15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bl>
          </a:graphicData>
        </a:graphic>
      </p:graphicFrame>
      <p:sp>
        <p:nvSpPr>
          <p:cNvPr id="6" name="Text 2"/>
          <p:cNvSpPr txBox="1"/>
          <p:nvPr/>
        </p:nvSpPr>
        <p:spPr>
          <a:xfrm>
            <a:off x="548640" y="3429000"/>
            <a:ext cx="11094415" cy="365760"/>
          </a:xfrm>
          <a:prstGeom prst="rect">
            <a:avLst/>
          </a:prstGeom>
          <a:noFill/>
          <a:ln/>
        </p:spPr>
        <p:txBody>
          <a:bodyPr wrap="square" lIns="0" tIns="0" rIns="0" bIns="0" rtlCol="0" anchor="t"/>
          <a:lstStyle/>
          <a:p>
            <a:pPr indent="0" marL="0">
              <a:buNone/>
            </a:pPr>
            <a:r>
              <a:rPr lang="en-US" sz="1200" dirty="0">
                <a:solidFill>
                  <a:srgbClr val="6B6E78"/>
                </a:solidFill>
                <a:latin typeface="Calibri" pitchFamily="34" charset="0"/>
                <a:ea typeface="Calibri" pitchFamily="34" charset="-122"/>
                <a:cs typeface="Calibri" pitchFamily="34" charset="-120"/>
              </a:rPr>
              <a:t>How to read: Δ = accuracy change when the part is removed and the head retrained (seed 0, paired bootstrap); “yes” = the 95% CI excludes zero. NLL = log-loss, lower is better.</a:t>
            </a:r>
            <a:endParaRPr lang="en-US" sz="1200" dirty="0"/>
          </a:p>
        </p:txBody>
      </p:sp>
      <p:sp>
        <p:nvSpPr>
          <p:cNvPr id="7" name="Shape 3"/>
          <p:cNvSpPr/>
          <p:nvPr/>
        </p:nvSpPr>
        <p:spPr>
          <a:xfrm>
            <a:off x="548640" y="3977640"/>
            <a:ext cx="3566160" cy="1783080"/>
          </a:xfrm>
          <a:prstGeom prst="roundRect">
            <a:avLst>
              <a:gd name="adj" fmla="val 4103"/>
            </a:avLst>
          </a:prstGeom>
          <a:solidFill>
            <a:srgbClr val="FCFAF5"/>
          </a:solidFill>
          <a:ln w="9525">
            <a:solidFill>
              <a:srgbClr val="DDD3C0"/>
            </a:solidFill>
            <a:prstDash val="solid"/>
          </a:ln>
        </p:spPr>
      </p:sp>
      <p:sp>
        <p:nvSpPr>
          <p:cNvPr id="8" name="Text 4"/>
          <p:cNvSpPr txBox="1"/>
          <p:nvPr/>
        </p:nvSpPr>
        <p:spPr>
          <a:xfrm>
            <a:off x="777240" y="4114800"/>
            <a:ext cx="3108960" cy="731520"/>
          </a:xfrm>
          <a:prstGeom prst="rect">
            <a:avLst/>
          </a:prstGeom>
          <a:noFill/>
          <a:ln/>
        </p:spPr>
        <p:txBody>
          <a:bodyPr wrap="square" lIns="0" tIns="0" rIns="0" bIns="0" rtlCol="0" anchor="t"/>
          <a:lstStyle/>
          <a:p>
            <a:pPr indent="0" marL="0">
              <a:buNone/>
            </a:pPr>
            <a:r>
              <a:rPr lang="en-US" sz="3600" b="1" dirty="0">
                <a:solidFill>
                  <a:srgbClr val="A8432F"/>
                </a:solidFill>
                <a:latin typeface="Cambria" pitchFamily="34" charset="0"/>
                <a:ea typeface="Cambria" pitchFamily="34" charset="-122"/>
                <a:cs typeface="Cambria" pitchFamily="34" charset="-120"/>
              </a:rPr>
              <a:t>-1.64 pts</a:t>
            </a:r>
            <a:endParaRPr lang="en-US" sz="3600" dirty="0"/>
          </a:p>
        </p:txBody>
      </p:sp>
      <p:sp>
        <p:nvSpPr>
          <p:cNvPr id="9" name="Text 5"/>
          <p:cNvSpPr txBox="1"/>
          <p:nvPr/>
        </p:nvSpPr>
        <p:spPr>
          <a:xfrm>
            <a:off x="777240" y="4892040"/>
            <a:ext cx="3108960" cy="73152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AG News without the experts (significant)</a:t>
            </a:r>
            <a:endParaRPr lang="en-US" sz="1400" dirty="0"/>
          </a:p>
        </p:txBody>
      </p:sp>
      <p:sp>
        <p:nvSpPr>
          <p:cNvPr id="10" name="Shape 6"/>
          <p:cNvSpPr/>
          <p:nvPr/>
        </p:nvSpPr>
        <p:spPr>
          <a:xfrm>
            <a:off x="4297680" y="3977640"/>
            <a:ext cx="3566160" cy="1783080"/>
          </a:xfrm>
          <a:prstGeom prst="roundRect">
            <a:avLst>
              <a:gd name="adj" fmla="val 4103"/>
            </a:avLst>
          </a:prstGeom>
          <a:solidFill>
            <a:srgbClr val="FCFAF5"/>
          </a:solidFill>
          <a:ln w="9525">
            <a:solidFill>
              <a:srgbClr val="DDD3C0"/>
            </a:solidFill>
            <a:prstDash val="solid"/>
          </a:ln>
        </p:spPr>
      </p:sp>
      <p:sp>
        <p:nvSpPr>
          <p:cNvPr id="11" name="Text 7"/>
          <p:cNvSpPr txBox="1"/>
          <p:nvPr/>
        </p:nvSpPr>
        <p:spPr>
          <a:xfrm>
            <a:off x="4526280" y="4114800"/>
            <a:ext cx="3108960" cy="731520"/>
          </a:xfrm>
          <a:prstGeom prst="rect">
            <a:avLst/>
          </a:prstGeom>
          <a:noFill/>
          <a:ln/>
        </p:spPr>
        <p:txBody>
          <a:bodyPr wrap="square" lIns="0" tIns="0" rIns="0" bIns="0" rtlCol="0" anchor="t"/>
          <a:lstStyle/>
          <a:p>
            <a:pPr indent="0" marL="0">
              <a:buNone/>
            </a:pPr>
            <a:r>
              <a:rPr lang="en-US" sz="3600" b="1" dirty="0">
                <a:solidFill>
                  <a:srgbClr val="A8432F"/>
                </a:solidFill>
                <a:latin typeface="Cambria" pitchFamily="34" charset="0"/>
                <a:ea typeface="Cambria" pitchFamily="34" charset="-122"/>
                <a:cs typeface="Cambria" pitchFamily="34" charset="-120"/>
              </a:rPr>
              <a:t>-0.83 pts</a:t>
            </a:r>
            <a:endParaRPr lang="en-US" sz="3600" dirty="0"/>
          </a:p>
        </p:txBody>
      </p:sp>
      <p:sp>
        <p:nvSpPr>
          <p:cNvPr id="12" name="Text 8"/>
          <p:cNvSpPr txBox="1"/>
          <p:nvPr/>
        </p:nvSpPr>
        <p:spPr>
          <a:xfrm>
            <a:off x="4526280" y="4892040"/>
            <a:ext cx="3108960" cy="73152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AG News without Laya (significant)</a:t>
            </a:r>
            <a:endParaRPr lang="en-US" sz="1400" dirty="0"/>
          </a:p>
        </p:txBody>
      </p:sp>
      <p:sp>
        <p:nvSpPr>
          <p:cNvPr id="13" name="Shape 9"/>
          <p:cNvSpPr/>
          <p:nvPr/>
        </p:nvSpPr>
        <p:spPr>
          <a:xfrm>
            <a:off x="8046720" y="3977640"/>
            <a:ext cx="3566160" cy="1783080"/>
          </a:xfrm>
          <a:prstGeom prst="roundRect">
            <a:avLst>
              <a:gd name="adj" fmla="val 4103"/>
            </a:avLst>
          </a:prstGeom>
          <a:solidFill>
            <a:srgbClr val="FCFAF5"/>
          </a:solidFill>
          <a:ln w="9525">
            <a:solidFill>
              <a:srgbClr val="DDD3C0"/>
            </a:solidFill>
            <a:prstDash val="solid"/>
          </a:ln>
        </p:spPr>
      </p:sp>
      <p:sp>
        <p:nvSpPr>
          <p:cNvPr id="14" name="Text 10"/>
          <p:cNvSpPr txBox="1"/>
          <p:nvPr/>
        </p:nvSpPr>
        <p:spPr>
          <a:xfrm>
            <a:off x="8275320" y="4114800"/>
            <a:ext cx="3108960" cy="731520"/>
          </a:xfrm>
          <a:prstGeom prst="rect">
            <a:avLst/>
          </a:prstGeom>
          <a:noFill/>
          <a:ln/>
        </p:spPr>
        <p:txBody>
          <a:bodyPr wrap="square" lIns="0" tIns="0" rIns="0" bIns="0" rtlCol="0" anchor="t"/>
          <a:lstStyle/>
          <a:p>
            <a:pPr indent="0" marL="0">
              <a:buNone/>
            </a:pPr>
            <a:r>
              <a:rPr lang="en-US" sz="3600" b="1" dirty="0">
                <a:solidFill>
                  <a:srgbClr val="A8432F"/>
                </a:solidFill>
                <a:latin typeface="Cambria" pitchFamily="34" charset="0"/>
                <a:ea typeface="Cambria" pitchFamily="34" charset="-122"/>
                <a:cs typeface="Cambria" pitchFamily="34" charset="-120"/>
              </a:rPr>
              <a:t>-27.30 pts</a:t>
            </a:r>
            <a:endParaRPr lang="en-US" sz="3600" dirty="0"/>
          </a:p>
        </p:txBody>
      </p:sp>
      <p:sp>
        <p:nvSpPr>
          <p:cNvPr id="15" name="Text 11"/>
          <p:cNvSpPr txBox="1"/>
          <p:nvPr/>
        </p:nvSpPr>
        <p:spPr>
          <a:xfrm>
            <a:off x="8275320" y="4892040"/>
            <a:ext cx="3108960" cy="73152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Emotion without the experts (significant)</a:t>
            </a:r>
            <a:endParaRPr lang="en-US" sz="1400" dirty="0"/>
          </a:p>
        </p:txBody>
      </p:sp>
      <p:sp>
        <p:nvSpPr>
          <p:cNvPr id="16" name="Shape 12"/>
          <p:cNvSpPr/>
          <p:nvPr/>
        </p:nvSpPr>
        <p:spPr>
          <a:xfrm>
            <a:off x="548640" y="5989320"/>
            <a:ext cx="11094415" cy="0"/>
          </a:xfrm>
          <a:prstGeom prst="line">
            <a:avLst/>
          </a:prstGeom>
          <a:noFill/>
          <a:ln w="9525">
            <a:solidFill>
              <a:srgbClr val="DDD3C0"/>
            </a:solidFill>
            <a:prstDash val="solid"/>
          </a:ln>
        </p:spPr>
      </p:sp>
      <p:sp>
        <p:nvSpPr>
          <p:cNvPr id="17" name="Text 13"/>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on AG News both sources are needed: removing either the experts or Laya costs significant accuracy; on Emotion the experts carry the result (-27.3 pts without them); attention mostly sharpens the probabilities (log-loss 0.202 without it, 0.197 with it).</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PUBLIC BENCHMARK · SYSTEM-ONE MODELS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Typed-Decisions Benchmark</a:t>
            </a:r>
            <a:endParaRPr lang="en-US" sz="3400" dirty="0"/>
          </a:p>
        </p:txBody>
      </p:sp>
      <p:sp>
        <p:nvSpPr>
          <p:cNvPr id="5" name="Shape 2"/>
          <p:cNvSpPr/>
          <p:nvPr/>
        </p:nvSpPr>
        <p:spPr>
          <a:xfrm>
            <a:off x="548640" y="1463040"/>
            <a:ext cx="4754880" cy="4343400"/>
          </a:xfrm>
          <a:prstGeom prst="roundRect">
            <a:avLst>
              <a:gd name="adj" fmla="val 1684"/>
            </a:avLst>
          </a:prstGeom>
          <a:solidFill>
            <a:srgbClr val="FCFAF5"/>
          </a:solidFill>
          <a:ln w="9525">
            <a:solidFill>
              <a:srgbClr val="DDD3C0"/>
            </a:solidFill>
            <a:prstDash val="solid"/>
          </a:ln>
        </p:spPr>
      </p:sp>
      <p:sp>
        <p:nvSpPr>
          <p:cNvPr id="6" name="Text 3"/>
          <p:cNvSpPr txBox="1"/>
          <p:nvPr/>
        </p:nvSpPr>
        <p:spPr>
          <a:xfrm>
            <a:off x="777240" y="1600200"/>
            <a:ext cx="4297680" cy="27432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1 · OUR SCORER REPRODUCES THE BOARD</a:t>
            </a:r>
            <a:endParaRPr lang="en-US" sz="1100" dirty="0"/>
          </a:p>
        </p:txBody>
      </p:sp>
      <p:sp>
        <p:nvSpPr>
          <p:cNvPr id="7" name="Text 4"/>
          <p:cNvSpPr txBox="1"/>
          <p:nvPr/>
        </p:nvSpPr>
        <p:spPr>
          <a:xfrm>
            <a:off x="777240" y="1920240"/>
            <a:ext cx="4297680" cy="274320"/>
          </a:xfrm>
          <a:prstGeom prst="rect">
            <a:avLst/>
          </a:prstGeom>
          <a:noFill/>
          <a:ln/>
        </p:spPr>
        <p:txBody>
          <a:bodyPr wrap="square" lIns="0" tIns="0" rIns="0" bIns="0" rtlCol="0" anchor="t"/>
          <a:lstStyle/>
          <a:p>
            <a:pPr indent="0" marL="0">
              <a:buNone/>
            </a:pPr>
            <a:r>
              <a:rPr lang="en-US" sz="1200" dirty="0">
                <a:solidFill>
                  <a:srgbClr val="6B6E78"/>
                </a:solidFill>
                <a:latin typeface="Calibri" pitchFamily="34" charset="0"/>
                <a:ea typeface="Calibri" pitchFamily="34" charset="-122"/>
                <a:cs typeface="Calibri" pitchFamily="34" charset="-120"/>
              </a:rPr>
              <a:t>Laya typed-decisions · 2,000 decisions</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77240" y="2331720"/>
          <a:ext cx="4297680" cy="914400"/>
        </p:xfrm>
        <a:graphic>
          <a:graphicData uri="http://schemas.openxmlformats.org/drawingml/2006/table">
            <a:tbl>
              <a:tblPr/>
              <a:tblGrid>
                <a:gridCol w="1554480"/>
                <a:gridCol w="1371600"/>
                <a:gridCol w="1371600"/>
              </a:tblGrid>
              <a:tr h="0">
                <a:tc>
                  <a:txBody>
                    <a:bodyPr/>
                    <a:lstStyle/>
                    <a:p>
                      <a:pPr algn="l" indent="0" marL="0">
                        <a:buNone/>
                      </a:pPr>
                      <a:r>
                        <a:rPr lang="en-US" sz="1400" b="1" dirty="0">
                          <a:solidFill>
                            <a:srgbClr val="6B6E78"/>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400" b="1" dirty="0">
                          <a:solidFill>
                            <a:srgbClr val="6B6E78"/>
                          </a:solidFill>
                          <a:latin typeface="Calibri" pitchFamily="34" charset="0"/>
                          <a:ea typeface="Calibri" pitchFamily="34" charset="-122"/>
                          <a:cs typeface="Calibri" pitchFamily="34" charset="-120"/>
                        </a:rPr>
                        <a:t>Board</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400" b="1" dirty="0">
                          <a:solidFill>
                            <a:srgbClr val="6B6E78"/>
                          </a:solidFill>
                          <a:latin typeface="Calibri" pitchFamily="34" charset="0"/>
                          <a:ea typeface="Calibri" pitchFamily="34" charset="-122"/>
                          <a:cs typeface="Calibri" pitchFamily="34" charset="-120"/>
                        </a:rPr>
                        <a:t>Our run</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400" dirty="0">
                          <a:solidFill>
                            <a:srgbClr val="1F2233"/>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400" dirty="0">
                          <a:solidFill>
                            <a:srgbClr val="1F2233"/>
                          </a:solidFill>
                          <a:latin typeface="Calibri" pitchFamily="34" charset="0"/>
                          <a:ea typeface="Calibri" pitchFamily="34" charset="-122"/>
                          <a:cs typeface="Calibri" pitchFamily="34" charset="-120"/>
                        </a:rPr>
                        <a:t>0.766</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400" dirty="0">
                          <a:solidFill>
                            <a:srgbClr val="1F2233"/>
                          </a:solidFill>
                          <a:latin typeface="Calibri" pitchFamily="34" charset="0"/>
                          <a:ea typeface="Calibri" pitchFamily="34" charset="-122"/>
                          <a:cs typeface="Calibri" pitchFamily="34" charset="-120"/>
                        </a:rPr>
                        <a:t>0.766</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400" dirty="0">
                          <a:solidFill>
                            <a:srgbClr val="1F2233"/>
                          </a:solidFill>
                          <a:latin typeface="Calibri" pitchFamily="34" charset="0"/>
                          <a:ea typeface="Calibri" pitchFamily="34" charset="-122"/>
                          <a:cs typeface="Calibri" pitchFamily="34" charset="-120"/>
                        </a:rPr>
                        <a:t>Brier</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400" dirty="0">
                          <a:solidFill>
                            <a:srgbClr val="1F2233"/>
                          </a:solidFill>
                          <a:latin typeface="Calibri" pitchFamily="34" charset="0"/>
                          <a:ea typeface="Calibri" pitchFamily="34" charset="-122"/>
                          <a:cs typeface="Calibri" pitchFamily="34" charset="-120"/>
                        </a:rPr>
                        <a:t>not listed</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400" dirty="0">
                          <a:solidFill>
                            <a:srgbClr val="1F2233"/>
                          </a:solidFill>
                          <a:latin typeface="Calibri" pitchFamily="34" charset="0"/>
                          <a:ea typeface="Calibri" pitchFamily="34" charset="-122"/>
                          <a:cs typeface="Calibri" pitchFamily="34" charset="-120"/>
                        </a:rPr>
                        <a:t>0.061</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400" dirty="0">
                          <a:solidFill>
                            <a:srgbClr val="1F2233"/>
                          </a:solidFill>
                          <a:latin typeface="Calibri" pitchFamily="34" charset="0"/>
                          <a:ea typeface="Calibri" pitchFamily="34" charset="-122"/>
                          <a:cs typeface="Calibri" pitchFamily="34" charset="-120"/>
                        </a:rPr>
                        <a:t>KL</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400" dirty="0">
                          <a:solidFill>
                            <a:srgbClr val="1F2233"/>
                          </a:solidFill>
                          <a:latin typeface="Calibri" pitchFamily="34" charset="0"/>
                          <a:ea typeface="Calibri" pitchFamily="34" charset="-122"/>
                          <a:cs typeface="Calibri" pitchFamily="34" charset="-120"/>
                        </a:rPr>
                        <a:t>not listed</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400" dirty="0">
                          <a:solidFill>
                            <a:srgbClr val="1F2233"/>
                          </a:solidFill>
                          <a:latin typeface="Calibri" pitchFamily="34" charset="0"/>
                          <a:ea typeface="Calibri" pitchFamily="34" charset="-122"/>
                          <a:cs typeface="Calibri" pitchFamily="34" charset="-120"/>
                        </a:rPr>
                        <a:t>0.117</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400" dirty="0">
                          <a:solidFill>
                            <a:srgbClr val="1F2233"/>
                          </a:solidFill>
                          <a:latin typeface="Calibri" pitchFamily="34" charset="0"/>
                          <a:ea typeface="Calibri" pitchFamily="34" charset="-122"/>
                          <a:cs typeface="Calibri" pitchFamily="34" charset="-120"/>
                        </a:rPr>
                        <a:t>ECE</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400" dirty="0">
                          <a:solidFill>
                            <a:srgbClr val="1F2233"/>
                          </a:solidFill>
                          <a:latin typeface="Calibri" pitchFamily="34" charset="0"/>
                          <a:ea typeface="Calibri" pitchFamily="34" charset="-122"/>
                          <a:cs typeface="Calibri" pitchFamily="34" charset="-120"/>
                        </a:rPr>
                        <a:t>not listed</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400" dirty="0">
                          <a:solidFill>
                            <a:srgbClr val="1F2233"/>
                          </a:solidFill>
                          <a:latin typeface="Calibri" pitchFamily="34" charset="0"/>
                          <a:ea typeface="Calibri" pitchFamily="34" charset="-122"/>
                          <a:cs typeface="Calibri" pitchFamily="34" charset="-120"/>
                        </a:rPr>
                        <a:t>0.214</a:t>
                      </a:r>
                      <a:endParaRPr lang="en-US" sz="14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bl>
          </a:graphicData>
        </a:graphic>
      </p:graphicFrame>
      <p:sp>
        <p:nvSpPr>
          <p:cNvPr id="9" name="Shape 5"/>
          <p:cNvSpPr/>
          <p:nvPr/>
        </p:nvSpPr>
        <p:spPr>
          <a:xfrm>
            <a:off x="5486400" y="1463040"/>
            <a:ext cx="6153912" cy="4343400"/>
          </a:xfrm>
          <a:prstGeom prst="roundRect">
            <a:avLst>
              <a:gd name="adj" fmla="val 1684"/>
            </a:avLst>
          </a:prstGeom>
          <a:solidFill>
            <a:srgbClr val="FCFAF5"/>
          </a:solidFill>
          <a:ln w="15875">
            <a:solidFill>
              <a:srgbClr val="C0503A"/>
            </a:solidFill>
            <a:prstDash val="solid"/>
          </a:ln>
        </p:spPr>
      </p:sp>
      <p:sp>
        <p:nvSpPr>
          <p:cNvPr id="10" name="Text 6"/>
          <p:cNvSpPr txBox="1"/>
          <p:nvPr/>
        </p:nvSpPr>
        <p:spPr>
          <a:xfrm>
            <a:off x="5715000" y="1600200"/>
            <a:ext cx="5486400" cy="274320"/>
          </a:xfrm>
          <a:prstGeom prst="rect">
            <a:avLst/>
          </a:prstGeom>
          <a:noFill/>
          <a:ln/>
        </p:spPr>
        <p:txBody>
          <a:bodyPr wrap="square" lIns="0" tIns="0" rIns="0" bIns="0" rtlCol="0" anchor="t"/>
          <a:lstStyle/>
          <a:p>
            <a:pPr indent="0" marL="0">
              <a:buNone/>
            </a:pPr>
            <a:r>
              <a:rPr lang="en-US" sz="1100" b="1" spc="150" kern="0" dirty="0">
                <a:solidFill>
                  <a:srgbClr val="A8432F"/>
                </a:solidFill>
                <a:latin typeface="Calibri" pitchFamily="34" charset="0"/>
                <a:ea typeface="Calibri" pitchFamily="34" charset="-122"/>
                <a:cs typeface="Calibri" pitchFamily="34" charset="-120"/>
              </a:rPr>
              <a:t>2 · CALIBRATION STUDY (FITTED ON TRAIN)</a:t>
            </a:r>
            <a:endParaRPr lang="en-US" sz="11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5715000" y="2011680"/>
          <a:ext cx="5715000" cy="914400"/>
        </p:xfrm>
        <a:graphic>
          <a:graphicData uri="http://schemas.openxmlformats.org/drawingml/2006/table">
            <a:tbl>
              <a:tblPr/>
              <a:tblGrid>
                <a:gridCol w="2240280"/>
                <a:gridCol w="868680"/>
                <a:gridCol w="868680"/>
                <a:gridCol w="868680"/>
                <a:gridCol w="868680"/>
              </a:tblGrid>
              <a:tr h="0">
                <a:tc>
                  <a:txBody>
                    <a:bodyPr/>
                    <a:lstStyle/>
                    <a:p>
                      <a:pPr algn="l" indent="0" marL="0">
                        <a:buNone/>
                      </a:pPr>
                      <a:r>
                        <a:rPr lang="en-US" sz="1300" b="1" dirty="0">
                          <a:solidFill>
                            <a:srgbClr val="6B6E78"/>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b="1" dirty="0">
                          <a:solidFill>
                            <a:srgbClr val="6B6E78"/>
                          </a:solidFill>
                          <a:latin typeface="Calibri" pitchFamily="34" charset="0"/>
                          <a:ea typeface="Calibri" pitchFamily="34" charset="-122"/>
                          <a:cs typeface="Calibri" pitchFamily="34" charset="-120"/>
                        </a:rPr>
                        <a:t>Acc ↑</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b="1" dirty="0">
                          <a:solidFill>
                            <a:srgbClr val="6B6E78"/>
                          </a:solidFill>
                          <a:latin typeface="Calibri" pitchFamily="34" charset="0"/>
                          <a:ea typeface="Calibri" pitchFamily="34" charset="-122"/>
                          <a:cs typeface="Calibri" pitchFamily="34" charset="-120"/>
                        </a:rPr>
                        <a:t>ECE ↓</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b="1" dirty="0">
                          <a:solidFill>
                            <a:srgbClr val="6B6E78"/>
                          </a:solidFill>
                          <a:latin typeface="Calibri" pitchFamily="34" charset="0"/>
                          <a:ea typeface="Calibri" pitchFamily="34" charset="-122"/>
                          <a:cs typeface="Calibri" pitchFamily="34" charset="-120"/>
                        </a:rPr>
                        <a:t>Brier ↓</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b="1" dirty="0">
                          <a:solidFill>
                            <a:srgbClr val="6B6E78"/>
                          </a:solidFill>
                          <a:latin typeface="Calibri" pitchFamily="34" charset="0"/>
                          <a:ea typeface="Calibri" pitchFamily="34" charset="-122"/>
                          <a:cs typeface="Calibri" pitchFamily="34" charset="-120"/>
                        </a:rPr>
                        <a:t>KL ↓</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300" dirty="0">
                          <a:solidFill>
                            <a:srgbClr val="1F2233"/>
                          </a:solidFill>
                          <a:latin typeface="Calibri" pitchFamily="34" charset="0"/>
                          <a:ea typeface="Calibri" pitchFamily="34" charset="-122"/>
                          <a:cs typeface="Calibri" pitchFamily="34" charset="-120"/>
                        </a:rPr>
                        <a:t>Laya (base)</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0.363</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0.173</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0.315</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0.569</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300" dirty="0">
                          <a:solidFill>
                            <a:srgbClr val="1F2233"/>
                          </a:solidFill>
                          <a:latin typeface="Calibri" pitchFamily="34" charset="0"/>
                          <a:ea typeface="Calibri" pitchFamily="34" charset="-122"/>
                          <a:cs typeface="Calibri" pitchFamily="34" charset="-120"/>
                        </a:rPr>
                        <a:t>+ ADAR-Cal (soft)</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0.363</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0.021</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0.236</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0.433</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300" dirty="0">
                          <a:solidFill>
                            <a:srgbClr val="1F2233"/>
                          </a:solidFill>
                          <a:latin typeface="Calibri" pitchFamily="34" charset="0"/>
                          <a:ea typeface="Calibri" pitchFamily="34" charset="-122"/>
                          <a:cs typeface="Calibri" pitchFamily="34" charset="-120"/>
                        </a:rPr>
                        <a:t>Laya typed-decisions</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0.766</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0.214</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0.061</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0.117</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300" dirty="0">
                          <a:solidFill>
                            <a:srgbClr val="1F2233"/>
                          </a:solidFill>
                          <a:latin typeface="Calibri" pitchFamily="34" charset="0"/>
                          <a:ea typeface="Calibri" pitchFamily="34" charset="-122"/>
                          <a:cs typeface="Calibri" pitchFamily="34" charset="-120"/>
                        </a:rPr>
                        <a:t>+ ADAR-Cal (hard)</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0.766</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0.063</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0.148</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r" indent="0" marL="0">
                        <a:buNone/>
                      </a:pPr>
                      <a:r>
                        <a:rPr lang="en-US" sz="1300" dirty="0">
                          <a:solidFill>
                            <a:srgbClr val="1F2233"/>
                          </a:solidFill>
                          <a:latin typeface="Calibri" pitchFamily="34" charset="0"/>
                          <a:ea typeface="Calibri" pitchFamily="34" charset="-122"/>
                          <a:cs typeface="Calibri" pitchFamily="34" charset="-120"/>
                        </a:rPr>
                        <a:t>0.526</a:t>
                      </a:r>
                      <a:endParaRPr lang="en-US" sz="13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bl>
          </a:graphicData>
        </a:graphic>
      </p:graphicFrame>
      <p:sp>
        <p:nvSpPr>
          <p:cNvPr id="12" name="Text 7"/>
          <p:cNvSpPr txBox="1"/>
          <p:nvPr/>
        </p:nvSpPr>
        <p:spPr>
          <a:xfrm>
            <a:off x="5715000" y="4343400"/>
            <a:ext cx="5715000" cy="640080"/>
          </a:xfrm>
          <a:prstGeom prst="rect">
            <a:avLst/>
          </a:prstGeom>
          <a:noFill/>
          <a:ln/>
        </p:spPr>
        <p:txBody>
          <a:bodyPr wrap="square" lIns="0" tIns="0" rIns="0" bIns="0" rtlCol="0" anchor="t"/>
          <a:lstStyle/>
          <a:p>
            <a:pPr indent="0" marL="0">
              <a:buNone/>
            </a:pPr>
            <a:r>
              <a:rPr lang="en-US" sz="1300" dirty="0">
                <a:solidFill>
                  <a:srgbClr val="3F4250"/>
                </a:solidFill>
                <a:latin typeface="Calibri" pitchFamily="34" charset="0"/>
                <a:ea typeface="Calibri" pitchFamily="34" charset="-122"/>
                <a:cs typeface="Calibri" pitchFamily="34" charset="-120"/>
              </a:rPr>
              <a:t>Base Laya: ECE 0.173 → 0.021. Calibration never changes the chosen answer, so accuracy stays the same.</a:t>
            </a:r>
            <a:endParaRPr lang="en-US" sz="1300" dirty="0"/>
          </a:p>
        </p:txBody>
      </p:sp>
      <p:sp>
        <p:nvSpPr>
          <p:cNvPr id="13" name="Shape 8"/>
          <p:cNvSpPr/>
          <p:nvPr/>
        </p:nvSpPr>
        <p:spPr>
          <a:xfrm>
            <a:off x="548640" y="5989320"/>
            <a:ext cx="11094415" cy="0"/>
          </a:xfrm>
          <a:prstGeom prst="line">
            <a:avLst/>
          </a:prstGeom>
          <a:noFill/>
          <a:ln w="9525">
            <a:solidFill>
              <a:srgbClr val="DDD3C0"/>
            </a:solidFill>
            <a:prstDash val="solid"/>
          </a:ln>
        </p:spPr>
      </p:sp>
      <p:sp>
        <p:nvSpPr>
          <p:cNvPr id="14" name="Text 9"/>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our scorer reproduces the board’s accuracy (0.766 vs 0.766), so the calibration metrics we add are comparable to it.</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LEADERBOARDS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Where We Submit, and Why</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377440"/>
                <a:gridCol w="3566160"/>
                <a:gridCol w="3749040"/>
                <a:gridCol w="1399032"/>
              </a:tblGrid>
              <a:tr h="0">
                <a:tc>
                  <a:txBody>
                    <a:bodyPr/>
                    <a:lstStyle/>
                    <a:p>
                      <a:pPr indent="0" marL="0">
                        <a:buNone/>
                      </a:pPr>
                      <a:r>
                        <a:rPr lang="en-US" sz="1500" b="1" dirty="0">
                          <a:solidFill>
                            <a:srgbClr val="6B6E78"/>
                          </a:solidFill>
                          <a:latin typeface="Calibri" pitchFamily="34" charset="0"/>
                          <a:ea typeface="Calibri" pitchFamily="34" charset="-122"/>
                          <a:cs typeface="Calibri" pitchFamily="34" charset="-120"/>
                        </a:rPr>
                        <a:t>Where</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b="1" dirty="0">
                          <a:solidFill>
                            <a:srgbClr val="6B6E78"/>
                          </a:solidFill>
                          <a:latin typeface="Calibri" pitchFamily="34" charset="0"/>
                          <a:ea typeface="Calibri" pitchFamily="34" charset="-122"/>
                          <a:cs typeface="Calibri" pitchFamily="34" charset="-120"/>
                        </a:rPr>
                        <a:t>What we submit</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b="1" dirty="0">
                          <a:solidFill>
                            <a:srgbClr val="6B6E78"/>
                          </a:solidFill>
                          <a:latin typeface="Calibri" pitchFamily="34" charset="0"/>
                          <a:ea typeface="Calibri" pitchFamily="34" charset="-122"/>
                          <a:cs typeface="Calibri" pitchFamily="34" charset="-120"/>
                        </a:rPr>
                        <a:t>Why it matters</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b="1" dirty="0">
                          <a:solidFill>
                            <a:srgbClr val="6B6E78"/>
                          </a:solidFill>
                          <a:latin typeface="Calibri" pitchFamily="34" charset="0"/>
                          <a:ea typeface="Calibri" pitchFamily="34" charset="-122"/>
                          <a:cs typeface="Calibri" pitchFamily="34" charset="-120"/>
                        </a:rPr>
                        <a:t>Decision</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indent="0" marL="0">
                        <a:buNone/>
                      </a:pPr>
                      <a:r>
                        <a:rPr lang="en-US" sz="1500" b="1" dirty="0">
                          <a:solidFill>
                            <a:srgbClr val="1F2233"/>
                          </a:solidFill>
                          <a:latin typeface="Calibri" pitchFamily="34" charset="0"/>
                          <a:ea typeface="Calibri" pitchFamily="34" charset="-122"/>
                          <a:cs typeface="Calibri" pitchFamily="34" charset="-120"/>
                        </a:rPr>
                        <a:t>typed-decisions (discussion #2 + .eval_results PR)</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dirty="0">
                          <a:solidFill>
                            <a:srgbClr val="1F2233"/>
                          </a:solidFill>
                          <a:latin typeface="Calibri" pitchFamily="34" charset="0"/>
                          <a:ea typeface="Calibri" pitchFamily="34" charset="-122"/>
                          <a:cs typeface="Calibri" pitchFamily="34" charset="-120"/>
                        </a:rPr>
                        <a:t>Independent re-run of Laya typed-decisions with the Brier, KL and ECE the maintainer asked for</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dirty="0">
                          <a:solidFill>
                            <a:srgbClr val="1F2233"/>
                          </a:solidFill>
                          <a:latin typeface="Calibri" pitchFamily="34" charset="0"/>
                          <a:ea typeface="Calibri" pitchFamily="34" charset="-122"/>
                          <a:cs typeface="Calibri" pitchFamily="34" charset="-120"/>
                        </a:rPr>
                        <a:t>Answers an open request; puts the verified row on the Hub leaderboard</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b="1" dirty="0">
                          <a:solidFill>
                            <a:srgbClr val="A8432F"/>
                          </a:solidFill>
                          <a:latin typeface="Calibri" pitchFamily="34" charset="0"/>
                          <a:ea typeface="Calibri" pitchFamily="34" charset="-122"/>
                          <a:cs typeface="Calibri" pitchFamily="34" charset="-120"/>
                        </a:rPr>
                        <a:t>Submit now</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indent="0" marL="0">
                        <a:buNone/>
                      </a:pPr>
                      <a:r>
                        <a:rPr lang="en-US" sz="1500" b="1" dirty="0">
                          <a:solidFill>
                            <a:srgbClr val="1F2233"/>
                          </a:solidFill>
                          <a:latin typeface="Calibri" pitchFamily="34" charset="0"/>
                          <a:ea typeface="Calibri" pitchFamily="34" charset="-122"/>
                          <a:cs typeface="Calibri" pitchFamily="34" charset="-120"/>
                        </a:rPr>
                        <a:t>Hugging Face model pages</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dirty="0">
                          <a:solidFill>
                            <a:srgbClr val="1F2233"/>
                          </a:solidFill>
                          <a:latin typeface="Calibri" pitchFamily="34" charset="0"/>
                          <a:ea typeface="Calibri" pitchFamily="34" charset="-122"/>
                          <a:cs typeface="Calibri" pitchFamily="34" charset="-120"/>
                        </a:rPr>
                        <a:t>Both trained heads, with results in a model-index block</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dirty="0">
                          <a:solidFill>
                            <a:srgbClr val="1F2233"/>
                          </a:solidFill>
                          <a:latin typeface="Calibri" pitchFamily="34" charset="0"/>
                          <a:ea typeface="Calibri" pitchFamily="34" charset="-122"/>
                          <a:cs typeface="Calibri" pitchFamily="34" charset="-120"/>
                        </a:rPr>
                        <a:t>Anyone can load and check the heads</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b="1" dirty="0">
                          <a:solidFill>
                            <a:srgbClr val="A8432F"/>
                          </a:solidFill>
                          <a:latin typeface="Calibri" pitchFamily="34" charset="0"/>
                          <a:ea typeface="Calibri" pitchFamily="34" charset="-122"/>
                          <a:cs typeface="Calibri" pitchFamily="34" charset="-120"/>
                        </a:rPr>
                        <a:t>Publish now</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indent="0" marL="0">
                        <a:buNone/>
                      </a:pPr>
                      <a:r>
                        <a:rPr lang="en-US" sz="1500" b="1" dirty="0">
                          <a:solidFill>
                            <a:srgbClr val="1F2233"/>
                          </a:solidFill>
                          <a:latin typeface="Calibri" pitchFamily="34" charset="0"/>
                          <a:ea typeface="Calibri" pitchFamily="34" charset="-122"/>
                          <a:cs typeface="Calibri" pitchFamily="34" charset="-120"/>
                        </a:rPr>
                        <a:t>RouterArena (ICLR 2026)</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dirty="0">
                          <a:solidFill>
                            <a:srgbClr val="1F2233"/>
                          </a:solidFill>
                          <a:latin typeface="Calibri" pitchFamily="34" charset="0"/>
                          <a:ea typeface="Calibri" pitchFamily="34" charset="-122"/>
                          <a:cs typeface="Calibri" pitchFamily="34" charset="-120"/>
                        </a:rPr>
                        <a:t>ADAR routing between LLMs instead of small networks</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dirty="0">
                          <a:solidFill>
                            <a:srgbClr val="1F2233"/>
                          </a:solidFill>
                          <a:latin typeface="Calibri" pitchFamily="34" charset="0"/>
                          <a:ea typeface="Calibri" pitchFamily="34" charset="-122"/>
                          <a:cs typeface="Calibri" pitchFamily="34" charset="-120"/>
                        </a:rPr>
                        <a:t>Ranked, live leaderboard for exactly what ADAR does: the head-turner</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b="1" dirty="0">
                          <a:solidFill>
                            <a:srgbClr val="6B6E78"/>
                          </a:solidFill>
                          <a:latin typeface="Calibri" pitchFamily="34" charset="0"/>
                          <a:ea typeface="Calibri" pitchFamily="34" charset="-122"/>
                          <a:cs typeface="Calibri" pitchFamily="34" charset="-120"/>
                        </a:rPr>
                        <a:t>Next phase</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indent="0" marL="0">
                        <a:buNone/>
                      </a:pPr>
                      <a:r>
                        <a:rPr lang="en-US" sz="1500" b="1" dirty="0">
                          <a:solidFill>
                            <a:srgbClr val="1F2233"/>
                          </a:solidFill>
                          <a:latin typeface="Calibri" pitchFamily="34" charset="0"/>
                          <a:ea typeface="Calibri" pitchFamily="34" charset="-122"/>
                          <a:cs typeface="Calibri" pitchFamily="34" charset="-120"/>
                        </a:rPr>
                        <a:t>“Laya + ADAR-Cal” as a new row</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dirty="0">
                          <a:solidFill>
                            <a:srgbClr val="1F2233"/>
                          </a:solidFill>
                          <a:latin typeface="Calibri" pitchFamily="34" charset="0"/>
                          <a:ea typeface="Calibri" pitchFamily="34" charset="-122"/>
                          <a:cs typeface="Calibri" pitchFamily="34" charset="-120"/>
                        </a:rPr>
                        <a:t>accuracy 0.363, below the board’s prior baseline (0.470)</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dirty="0">
                          <a:solidFill>
                            <a:srgbClr val="1F2233"/>
                          </a:solidFill>
                          <a:latin typeface="Calibri" pitchFamily="34" charset="0"/>
                          <a:ea typeface="Calibri" pitchFamily="34" charset="-122"/>
                          <a:cs typeface="Calibri" pitchFamily="34" charset="-120"/>
                        </a:rPr>
                        <a:t>Would read as a weak model, although only calibration changed</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indent="0" marL="0">
                        <a:buNone/>
                      </a:pPr>
                      <a:r>
                        <a:rPr lang="en-US" sz="1500" b="1" dirty="0">
                          <a:solidFill>
                            <a:srgbClr val="6B6E78"/>
                          </a:solidFill>
                          <a:latin typeface="Calibri" pitchFamily="34" charset="0"/>
                          <a:ea typeface="Calibri" pitchFamily="34" charset="-122"/>
                          <a:cs typeface="Calibri" pitchFamily="34" charset="-120"/>
                        </a:rPr>
                        <a:t>Do not submit</a:t>
                      </a:r>
                      <a:endParaRPr lang="en-US" sz="1500" dirty="0">
                        <a:latin typeface="Calibri" charset="0"/>
                        <a:ea typeface="Calibri" charset="0"/>
                        <a:cs typeface="Calibri" charset="0"/>
                      </a:endParaRPr>
                    </a:p>
                  </a:txBody>
                  <a:tcPr marL="73152" marR="73152" marT="73152" marB="73152"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bl>
          </a:graphicData>
        </a:graphic>
      </p:graphicFrame>
      <p:sp>
        <p:nvSpPr>
          <p:cNvPr id="6" name="Text 2"/>
          <p:cNvSpPr txBox="1"/>
          <p:nvPr/>
        </p:nvSpPr>
        <p:spPr>
          <a:xfrm>
            <a:off x="548640" y="5394960"/>
            <a:ext cx="11094415" cy="365760"/>
          </a:xfrm>
          <a:prstGeom prst="rect">
            <a:avLst/>
          </a:prstGeom>
          <a:noFill/>
          <a:ln/>
        </p:spPr>
        <p:txBody>
          <a:bodyPr wrap="square" lIns="0" tIns="0" rIns="0" bIns="0" rtlCol="0" anchor="t"/>
          <a:lstStyle/>
          <a:p>
            <a:pPr indent="0" marL="0">
              <a:buNone/>
            </a:pPr>
            <a:r>
              <a:rPr lang="en-US" sz="1200" dirty="0">
                <a:solidFill>
                  <a:srgbClr val="6B6E78"/>
                </a:solidFill>
                <a:latin typeface="Calibri" pitchFamily="34" charset="0"/>
                <a:ea typeface="Calibri" pitchFamily="34" charset="-122"/>
                <a:cs typeface="Calibri" pitchFamily="34" charset="-120"/>
              </a:rPr>
              <a:t>The 0.470 prior is the board’s own floor (always predicting the label frequencies). Steps and links: docs/LEADERBOARD_SUBMISSION.md.</a:t>
            </a:r>
            <a:endParaRPr lang="en-US" sz="1200" dirty="0"/>
          </a:p>
        </p:txBody>
      </p:sp>
      <p:sp>
        <p:nvSpPr>
          <p:cNvPr id="7" name="Shape 3"/>
          <p:cNvSpPr/>
          <p:nvPr/>
        </p:nvSpPr>
        <p:spPr>
          <a:xfrm>
            <a:off x="548640" y="5989320"/>
            <a:ext cx="11094415" cy="0"/>
          </a:xfrm>
          <a:prstGeom prst="line">
            <a:avLst/>
          </a:prstGeom>
          <a:noFill/>
          <a:ln w="9525">
            <a:solidFill>
              <a:srgbClr val="DDD3C0"/>
            </a:solidFill>
            <a:prstDash val="solid"/>
          </a:ln>
        </p:spPr>
      </p:sp>
      <p:sp>
        <p:nvSpPr>
          <p:cNvPr id="8" name="Text 4"/>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submit where our result is a real contribution now; RouterArena is where ADAR can earn a rank.</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DEEP LEARNING COURSE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Syllabus Coverage</a:t>
            </a:r>
            <a:endParaRPr lang="en-US" sz="3400" dirty="0"/>
          </a:p>
        </p:txBody>
      </p:sp>
      <p:sp>
        <p:nvSpPr>
          <p:cNvPr id="5" name="Shape 2"/>
          <p:cNvSpPr/>
          <p:nvPr/>
        </p:nvSpPr>
        <p:spPr>
          <a:xfrm>
            <a:off x="548640" y="1554480"/>
            <a:ext cx="2651760" cy="4114800"/>
          </a:xfrm>
          <a:prstGeom prst="roundRect">
            <a:avLst>
              <a:gd name="adj" fmla="val 2759"/>
            </a:avLst>
          </a:prstGeom>
          <a:solidFill>
            <a:srgbClr val="FCFAF5"/>
          </a:solidFill>
          <a:ln w="19050">
            <a:solidFill>
              <a:srgbClr val="A79E8C"/>
            </a:solidFill>
            <a:prstDash val="solid"/>
          </a:ln>
        </p:spPr>
      </p:sp>
      <p:sp>
        <p:nvSpPr>
          <p:cNvPr id="6" name="Text 3"/>
          <p:cNvSpPr txBox="1"/>
          <p:nvPr/>
        </p:nvSpPr>
        <p:spPr>
          <a:xfrm>
            <a:off x="731520" y="1691640"/>
            <a:ext cx="2286000" cy="502920"/>
          </a:xfrm>
          <a:prstGeom prst="rect">
            <a:avLst/>
          </a:prstGeom>
          <a:noFill/>
          <a:ln/>
        </p:spPr>
        <p:txBody>
          <a:bodyPr wrap="square" lIns="0" tIns="0" rIns="0" bIns="0" rtlCol="0" anchor="t"/>
          <a:lstStyle/>
          <a:p>
            <a:pPr indent="0" marL="0">
              <a:buNone/>
            </a:pPr>
            <a:r>
              <a:rPr lang="en-US" sz="2400" b="1" dirty="0">
                <a:solidFill>
                  <a:srgbClr val="1F2233"/>
                </a:solidFill>
                <a:latin typeface="Cambria" pitchFamily="34" charset="0"/>
                <a:ea typeface="Cambria" pitchFamily="34" charset="-122"/>
                <a:cs typeface="Cambria" pitchFamily="34" charset="-120"/>
              </a:rPr>
              <a:t>Unit I</a:t>
            </a:r>
            <a:endParaRPr lang="en-US" sz="2400" dirty="0"/>
          </a:p>
        </p:txBody>
      </p:sp>
      <p:sp>
        <p:nvSpPr>
          <p:cNvPr id="7" name="Text 4"/>
          <p:cNvSpPr txBox="1"/>
          <p:nvPr/>
        </p:nvSpPr>
        <p:spPr>
          <a:xfrm>
            <a:off x="731520" y="2286000"/>
            <a:ext cx="2331720" cy="3200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TextCNN</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Backpropagation</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BatchNorm</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Gradient clipping</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AdamW + cosine schedule</a:t>
            </a:r>
            <a:endParaRPr lang="en-US" sz="1500" dirty="0"/>
          </a:p>
        </p:txBody>
      </p:sp>
      <p:sp>
        <p:nvSpPr>
          <p:cNvPr id="8" name="Shape 5"/>
          <p:cNvSpPr/>
          <p:nvPr/>
        </p:nvSpPr>
        <p:spPr>
          <a:xfrm>
            <a:off x="3364992" y="1554480"/>
            <a:ext cx="2651760" cy="4114800"/>
          </a:xfrm>
          <a:prstGeom prst="roundRect">
            <a:avLst>
              <a:gd name="adj" fmla="val 2759"/>
            </a:avLst>
          </a:prstGeom>
          <a:solidFill>
            <a:srgbClr val="FCFAF5"/>
          </a:solidFill>
          <a:ln w="19050">
            <a:solidFill>
              <a:srgbClr val="A79E8C"/>
            </a:solidFill>
            <a:prstDash val="solid"/>
          </a:ln>
        </p:spPr>
      </p:sp>
      <p:sp>
        <p:nvSpPr>
          <p:cNvPr id="9" name="Text 6"/>
          <p:cNvSpPr txBox="1"/>
          <p:nvPr/>
        </p:nvSpPr>
        <p:spPr>
          <a:xfrm>
            <a:off x="3547872" y="1691640"/>
            <a:ext cx="2286000" cy="502920"/>
          </a:xfrm>
          <a:prstGeom prst="rect">
            <a:avLst/>
          </a:prstGeom>
          <a:noFill/>
          <a:ln/>
        </p:spPr>
        <p:txBody>
          <a:bodyPr wrap="square" lIns="0" tIns="0" rIns="0" bIns="0" rtlCol="0" anchor="t"/>
          <a:lstStyle/>
          <a:p>
            <a:pPr indent="0" marL="0">
              <a:buNone/>
            </a:pPr>
            <a:r>
              <a:rPr lang="en-US" sz="2400" b="1" dirty="0">
                <a:solidFill>
                  <a:srgbClr val="1F2233"/>
                </a:solidFill>
                <a:latin typeface="Cambria" pitchFamily="34" charset="0"/>
                <a:ea typeface="Cambria" pitchFamily="34" charset="-122"/>
                <a:cs typeface="Cambria" pitchFamily="34" charset="-120"/>
              </a:rPr>
              <a:t>Unit II</a:t>
            </a:r>
            <a:endParaRPr lang="en-US" sz="2400" dirty="0"/>
          </a:p>
        </p:txBody>
      </p:sp>
      <p:sp>
        <p:nvSpPr>
          <p:cNvPr id="10" name="Text 7"/>
          <p:cNvSpPr txBox="1"/>
          <p:nvPr/>
        </p:nvSpPr>
        <p:spPr>
          <a:xfrm>
            <a:off x="3547872" y="2286000"/>
            <a:ext cx="2331720" cy="3200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CNN classifiers</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A new head on a frozen pretrained network</a:t>
            </a:r>
            <a:endParaRPr lang="en-US" sz="1500" dirty="0"/>
          </a:p>
        </p:txBody>
      </p:sp>
      <p:sp>
        <p:nvSpPr>
          <p:cNvPr id="11" name="Shape 8"/>
          <p:cNvSpPr/>
          <p:nvPr/>
        </p:nvSpPr>
        <p:spPr>
          <a:xfrm>
            <a:off x="6181344" y="1554480"/>
            <a:ext cx="2651760" cy="4114800"/>
          </a:xfrm>
          <a:prstGeom prst="roundRect">
            <a:avLst>
              <a:gd name="adj" fmla="val 2759"/>
            </a:avLst>
          </a:prstGeom>
          <a:solidFill>
            <a:srgbClr val="FCFAF5"/>
          </a:solidFill>
          <a:ln w="19050">
            <a:solidFill>
              <a:srgbClr val="4A5874"/>
            </a:solidFill>
            <a:prstDash val="solid"/>
          </a:ln>
        </p:spPr>
      </p:sp>
      <p:sp>
        <p:nvSpPr>
          <p:cNvPr id="12" name="Text 9"/>
          <p:cNvSpPr txBox="1"/>
          <p:nvPr/>
        </p:nvSpPr>
        <p:spPr>
          <a:xfrm>
            <a:off x="6364224" y="1691640"/>
            <a:ext cx="2286000" cy="502920"/>
          </a:xfrm>
          <a:prstGeom prst="rect">
            <a:avLst/>
          </a:prstGeom>
          <a:noFill/>
          <a:ln/>
        </p:spPr>
        <p:txBody>
          <a:bodyPr wrap="square" lIns="0" tIns="0" rIns="0" bIns="0" rtlCol="0" anchor="t"/>
          <a:lstStyle/>
          <a:p>
            <a:pPr indent="0" marL="0">
              <a:buNone/>
            </a:pPr>
            <a:r>
              <a:rPr lang="en-US" sz="2400" b="1" dirty="0">
                <a:solidFill>
                  <a:srgbClr val="1F2233"/>
                </a:solidFill>
                <a:latin typeface="Cambria" pitchFamily="34" charset="0"/>
                <a:ea typeface="Cambria" pitchFamily="34" charset="-122"/>
                <a:cs typeface="Cambria" pitchFamily="34" charset="-120"/>
              </a:rPr>
              <a:t>Unit III</a:t>
            </a:r>
            <a:endParaRPr lang="en-US" sz="2400" dirty="0"/>
          </a:p>
        </p:txBody>
      </p:sp>
      <p:sp>
        <p:nvSpPr>
          <p:cNvPr id="13" name="Text 10"/>
          <p:cNvSpPr txBox="1"/>
          <p:nvPr/>
        </p:nvSpPr>
        <p:spPr>
          <a:xfrm>
            <a:off x="6364224" y="2286000"/>
            <a:ext cx="2331720" cy="3200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RNN, LSTM, GRU</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Embeddings</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Attention</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Transformer head</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BERT-family encoder</a:t>
            </a:r>
            <a:endParaRPr lang="en-US" sz="1500" dirty="0"/>
          </a:p>
        </p:txBody>
      </p:sp>
      <p:sp>
        <p:nvSpPr>
          <p:cNvPr id="14" name="Shape 11"/>
          <p:cNvSpPr/>
          <p:nvPr/>
        </p:nvSpPr>
        <p:spPr>
          <a:xfrm>
            <a:off x="8997696" y="1554480"/>
            <a:ext cx="2651760" cy="4114800"/>
          </a:xfrm>
          <a:prstGeom prst="roundRect">
            <a:avLst>
              <a:gd name="adj" fmla="val 2759"/>
            </a:avLst>
          </a:prstGeom>
          <a:solidFill>
            <a:srgbClr val="FCFAF5"/>
          </a:solidFill>
          <a:ln w="19050">
            <a:solidFill>
              <a:srgbClr val="C0503A"/>
            </a:solidFill>
            <a:prstDash val="solid"/>
          </a:ln>
        </p:spPr>
      </p:sp>
      <p:sp>
        <p:nvSpPr>
          <p:cNvPr id="15" name="Text 12"/>
          <p:cNvSpPr txBox="1"/>
          <p:nvPr/>
        </p:nvSpPr>
        <p:spPr>
          <a:xfrm>
            <a:off x="9180576" y="1691640"/>
            <a:ext cx="2286000" cy="502920"/>
          </a:xfrm>
          <a:prstGeom prst="rect">
            <a:avLst/>
          </a:prstGeom>
          <a:noFill/>
          <a:ln/>
        </p:spPr>
        <p:txBody>
          <a:bodyPr wrap="square" lIns="0" tIns="0" rIns="0" bIns="0" rtlCol="0" anchor="t"/>
          <a:lstStyle/>
          <a:p>
            <a:pPr indent="0" marL="0">
              <a:buNone/>
            </a:pPr>
            <a:r>
              <a:rPr lang="en-US" sz="2400" b="1" dirty="0">
                <a:solidFill>
                  <a:srgbClr val="1F2233"/>
                </a:solidFill>
                <a:latin typeface="Cambria" pitchFamily="34" charset="0"/>
                <a:ea typeface="Cambria" pitchFamily="34" charset="-122"/>
                <a:cs typeface="Cambria" pitchFamily="34" charset="-120"/>
              </a:rPr>
              <a:t>Unit IV</a:t>
            </a:r>
            <a:endParaRPr lang="en-US" sz="2400" dirty="0"/>
          </a:p>
        </p:txBody>
      </p:sp>
      <p:sp>
        <p:nvSpPr>
          <p:cNvPr id="16" name="Text 13"/>
          <p:cNvSpPr txBox="1"/>
          <p:nvPr/>
        </p:nvSpPr>
        <p:spPr>
          <a:xfrm>
            <a:off x="9180576" y="2286000"/>
            <a:ext cx="2331720" cy="3200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Deep RL framework</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REINFORCE policy gradient</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Reward = correct − λ·cost</a:t>
            </a:r>
            <a:endParaRPr lang="en-US" sz="1500" dirty="0"/>
          </a:p>
        </p:txBody>
      </p:sp>
      <p:sp>
        <p:nvSpPr>
          <p:cNvPr id="17" name="Shape 14"/>
          <p:cNvSpPr/>
          <p:nvPr/>
        </p:nvSpPr>
        <p:spPr>
          <a:xfrm>
            <a:off x="548640" y="5989320"/>
            <a:ext cx="11094415" cy="0"/>
          </a:xfrm>
          <a:prstGeom prst="line">
            <a:avLst/>
          </a:prstGeom>
          <a:noFill/>
          <a:ln w="9525">
            <a:solidFill>
              <a:srgbClr val="DDD3C0"/>
            </a:solidFill>
            <a:prstDash val="solid"/>
          </a:ln>
        </p:spPr>
      </p:sp>
      <p:sp>
        <p:nvSpPr>
          <p:cNvPr id="18" name="Text 15"/>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one project uses all four units together, and its goal is the course objective itself: identify the appropriate deep architecture for each application, here per input.</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CONTEXT · THIS COURSE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Where ADAR Fits</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223760" cy="914400"/>
        </p:xfrm>
        <a:graphic>
          <a:graphicData uri="http://schemas.openxmlformats.org/drawingml/2006/table">
            <a:tbl>
              <a:tblPr/>
              <a:tblGrid>
                <a:gridCol w="1828800"/>
                <a:gridCol w="5394960"/>
              </a:tblGrid>
              <a:tr h="0">
                <a:tc>
                  <a:txBody>
                    <a:bodyPr/>
                    <a:lstStyle/>
                    <a:p>
                      <a:pPr algn="l" indent="0" marL="0">
                        <a:buNone/>
                      </a:pPr>
                      <a:r>
                        <a:rPr lang="en-US" sz="1200" b="1" dirty="0">
                          <a:solidFill>
                            <a:srgbClr val="6B6E78"/>
                          </a:solidFill>
                          <a:latin typeface="Calibri" pitchFamily="34" charset="0"/>
                          <a:ea typeface="Calibri" pitchFamily="34" charset="-122"/>
                          <a:cs typeface="Calibri" pitchFamily="34" charset="-120"/>
                        </a:rPr>
                        <a:t>Unit</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l" indent="0" marL="0">
                        <a:buNone/>
                      </a:pPr>
                      <a:r>
                        <a:rPr lang="en-US" sz="1200" b="1" dirty="0">
                          <a:solidFill>
                            <a:srgbClr val="6B6E78"/>
                          </a:solidFill>
                          <a:latin typeface="Calibri" pitchFamily="34" charset="0"/>
                          <a:ea typeface="Calibri" pitchFamily="34" charset="-122"/>
                          <a:cs typeface="Calibri" pitchFamily="34" charset="-120"/>
                        </a:rPr>
                        <a:t>Class projects on this unit</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200" dirty="0">
                          <a:solidFill>
                            <a:srgbClr val="1F2233"/>
                          </a:solidFill>
                          <a:latin typeface="Calibri" pitchFamily="34" charset="0"/>
                          <a:ea typeface="Calibri" pitchFamily="34" charset="-122"/>
                          <a:cs typeface="Calibri" pitchFamily="34" charset="-120"/>
                        </a:rPr>
                        <a:t>II · CNNs in vision</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l" indent="0" marL="0">
                        <a:buNone/>
                      </a:pPr>
                      <a:r>
                        <a:rPr lang="en-US" sz="1200" dirty="0">
                          <a:solidFill>
                            <a:srgbClr val="1F2233"/>
                          </a:solidFill>
                          <a:latin typeface="Calibri" pitchFamily="34" charset="0"/>
                          <a:ea typeface="Calibri" pitchFamily="34" charset="-122"/>
                          <a:cs typeface="Calibri" pitchFamily="34" charset="-120"/>
                        </a:rPr>
                        <a:t>Neural Style Transfer, Fast NST, R-CNN, Fast R-CNN, Faster R-CNN, Mask R-CNN</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200" dirty="0">
                          <a:solidFill>
                            <a:srgbClr val="1F2233"/>
                          </a:solidFill>
                          <a:latin typeface="Calibri" pitchFamily="34" charset="0"/>
                          <a:ea typeface="Calibri" pitchFamily="34" charset="-122"/>
                          <a:cs typeface="Calibri" pitchFamily="34" charset="-120"/>
                        </a:rPr>
                        <a:t>III · RNNs, transformers</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l" indent="0" marL="0">
                        <a:buNone/>
                      </a:pPr>
                      <a:r>
                        <a:rPr lang="en-US" sz="1200" dirty="0">
                          <a:solidFill>
                            <a:srgbClr val="1F2233"/>
                          </a:solidFill>
                          <a:latin typeface="Calibri" pitchFamily="34" charset="0"/>
                          <a:ea typeface="Calibri" pitchFamily="34" charset="-122"/>
                          <a:cs typeface="Calibri" pitchFamily="34" charset="-120"/>
                        </a:rPr>
                        <a:t>Image captioning, GPT-2 summariser, time-series forecasting, speech recognition, machine translation, BERT classifier, RNN vs LSTM vs GRU, echo-state networks</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200" dirty="0">
                          <a:solidFill>
                            <a:srgbClr val="1F2233"/>
                          </a:solidFill>
                          <a:latin typeface="Calibri" pitchFamily="34" charset="0"/>
                          <a:ea typeface="Calibri" pitchFamily="34" charset="-122"/>
                          <a:cs typeface="Calibri" pitchFamily="34" charset="-120"/>
                        </a:rPr>
                        <a:t>IV · GANs, deep RL</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l" indent="0" marL="0">
                        <a:buNone/>
                      </a:pPr>
                      <a:r>
                        <a:rPr lang="en-US" sz="1200" dirty="0">
                          <a:solidFill>
                            <a:srgbClr val="1F2233"/>
                          </a:solidFill>
                          <a:latin typeface="Calibri" pitchFamily="34" charset="0"/>
                          <a:ea typeface="Calibri" pitchFamily="34" charset="-122"/>
                          <a:cs typeface="Calibri" pitchFamily="34" charset="-120"/>
                        </a:rPr>
                        <a:t>GAN, DCGAN, Q-learning grid world, DQN, REINFORCE on CartPole</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200" dirty="0">
                          <a:solidFill>
                            <a:srgbClr val="1F2233"/>
                          </a:solidFill>
                          <a:latin typeface="Calibri" pitchFamily="34" charset="0"/>
                          <a:ea typeface="Calibri" pitchFamily="34" charset="-122"/>
                          <a:cs typeface="Calibri" pitchFamily="34" charset="-120"/>
                        </a:rPr>
                        <a:t>Other</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c>
                  <a:txBody>
                    <a:bodyPr/>
                    <a:lstStyle/>
                    <a:p>
                      <a:pPr algn="l" indent="0" marL="0">
                        <a:buNone/>
                      </a:pPr>
                      <a:r>
                        <a:rPr lang="en-US" sz="1200" dirty="0">
                          <a:solidFill>
                            <a:srgbClr val="1F2233"/>
                          </a:solidFill>
                          <a:latin typeface="Calibri" pitchFamily="34" charset="0"/>
                          <a:ea typeface="Calibri" pitchFamily="34" charset="-122"/>
                          <a:cs typeface="Calibri" pitchFamily="34" charset="-120"/>
                        </a:rPr>
                        <a:t>Text-to-music generation</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CFAF5"/>
                    </a:solidFill>
                  </a:tcPr>
                </a:tc>
              </a:tr>
              <a:tr h="0">
                <a:tc>
                  <a:txBody>
                    <a:bodyPr/>
                    <a:lstStyle/>
                    <a:p>
                      <a:pPr algn="l" indent="0" marL="0">
                        <a:buNone/>
                      </a:pPr>
                      <a:r>
                        <a:rPr lang="en-US" sz="1200" b="1" dirty="0">
                          <a:solidFill>
                            <a:srgbClr val="1F2233"/>
                          </a:solidFill>
                          <a:latin typeface="Calibri" pitchFamily="34" charset="0"/>
                          <a:ea typeface="Calibri" pitchFamily="34" charset="-122"/>
                          <a:cs typeface="Calibri" pitchFamily="34" charset="-120"/>
                        </a:rPr>
                        <a:t>I + II + III + IV</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3DED5"/>
                    </a:solidFill>
                  </a:tcPr>
                </a:tc>
                <a:tc>
                  <a:txBody>
                    <a:bodyPr/>
                    <a:lstStyle/>
                    <a:p>
                      <a:pPr algn="l" indent="0" marL="0">
                        <a:buNone/>
                      </a:pPr>
                      <a:r>
                        <a:rPr lang="en-US" sz="1200" b="1" dirty="0">
                          <a:solidFill>
                            <a:srgbClr val="1F2233"/>
                          </a:solidFill>
                          <a:latin typeface="Calibri" pitchFamily="34" charset="0"/>
                          <a:ea typeface="Calibri" pitchFamily="34" charset="-122"/>
                          <a:cs typeface="Calibri" pitchFamily="34" charset="-120"/>
                        </a:rPr>
                        <a:t>ADAR: TextCNN and BatchNorm · new head on a frozen pretrained network · RNN, LSTM, GRU, attention, BERT-family encoder · REINFORCE router</a:t>
                      </a:r>
                      <a:endParaRPr lang="en-US" sz="1200" dirty="0">
                        <a:latin typeface="Calibri" charset="0"/>
                        <a:ea typeface="Calibri" charset="0"/>
                        <a:cs typeface="Calibri" charset="0"/>
                      </a:endParaRPr>
                    </a:p>
                  </a:txBody>
                  <a:tcPr marL="54864" marR="54864" marT="54864" marB="54864" anchor="ctr">
                    <a:lnL w="6350" cap="flat" cmpd="sng" algn="ctr">
                      <a:solidFill>
                        <a:srgbClr val="DDD3C0"/>
                      </a:solidFill>
                      <a:prstDash val="solid"/>
                      <a:round/>
                      <a:headEnd type="none" w="med" len="med"/>
                      <a:tailEnd type="none" w="med" len="med"/>
                    </a:lnL>
                    <a:lnR w="6350" cap="flat" cmpd="sng" algn="ctr">
                      <a:solidFill>
                        <a:srgbClr val="DDD3C0"/>
                      </a:solidFill>
                      <a:prstDash val="solid"/>
                      <a:round/>
                      <a:headEnd type="none" w="med" len="med"/>
                      <a:tailEnd type="none" w="med" len="med"/>
                    </a:lnR>
                    <a:lnT w="6350" cap="flat" cmpd="sng" algn="ctr">
                      <a:solidFill>
                        <a:srgbClr val="DDD3C0"/>
                      </a:solidFill>
                      <a:prstDash val="solid"/>
                      <a:round/>
                      <a:headEnd type="none" w="med" len="med"/>
                      <a:tailEnd type="none" w="med" len="med"/>
                    </a:lnT>
                    <a:lnB w="6350" cap="flat" cmpd="sng" algn="ctr">
                      <a:solidFill>
                        <a:srgbClr val="DDD3C0"/>
                      </a:solidFill>
                      <a:prstDash val="solid"/>
                      <a:round/>
                      <a:headEnd type="none" w="med" len="med"/>
                      <a:tailEnd type="none" w="med" len="med"/>
                    </a:lnB>
                    <a:solidFill>
                      <a:srgbClr val="F3DED5"/>
                    </a:solidFill>
                  </a:tcPr>
                </a:tc>
              </a:tr>
            </a:tbl>
          </a:graphicData>
        </a:graphic>
      </p:graphicFrame>
      <p:sp>
        <p:nvSpPr>
          <p:cNvPr id="6" name="Text 2"/>
          <p:cNvSpPr txBox="1"/>
          <p:nvPr/>
        </p:nvSpPr>
        <p:spPr>
          <a:xfrm>
            <a:off x="8046720" y="1600200"/>
            <a:ext cx="3566160" cy="274320"/>
          </a:xfrm>
          <a:prstGeom prst="rect">
            <a:avLst/>
          </a:prstGeom>
          <a:noFill/>
          <a:ln/>
        </p:spPr>
        <p:txBody>
          <a:bodyPr wrap="square" lIns="0" tIns="0" rIns="0" bIns="0" rtlCol="0" anchor="t"/>
          <a:lstStyle/>
          <a:p>
            <a:pPr indent="0" marL="0">
              <a:buNone/>
            </a:pPr>
            <a:r>
              <a:rPr lang="en-US" sz="1100" b="1" spc="150" kern="0" dirty="0">
                <a:solidFill>
                  <a:srgbClr val="6B6E78"/>
                </a:solidFill>
                <a:latin typeface="Calibri" pitchFamily="34" charset="0"/>
                <a:ea typeface="Calibri" pitchFamily="34" charset="-122"/>
                <a:cs typeface="Calibri" pitchFamily="34" charset="-120"/>
              </a:rPr>
              <a:t>CLOSEST OVERLAPS</a:t>
            </a:r>
            <a:endParaRPr lang="en-US" sz="1100" dirty="0"/>
          </a:p>
        </p:txBody>
      </p:sp>
      <p:sp>
        <p:nvSpPr>
          <p:cNvPr id="7" name="Text 3"/>
          <p:cNvSpPr txBox="1"/>
          <p:nvPr/>
        </p:nvSpPr>
        <p:spPr>
          <a:xfrm>
            <a:off x="8046720" y="1965960"/>
            <a:ext cx="3566160" cy="3474720"/>
          </a:xfrm>
          <a:prstGeom prst="rect">
            <a:avLst/>
          </a:prstGeom>
          <a:noFill/>
          <a:ln/>
        </p:spPr>
        <p:txBody>
          <a:bodyPr wrap="square" lIns="0" tIns="0" rIns="0" bIns="0" rtlCol="0" anchor="t"/>
          <a:lstStyle/>
          <a:p>
            <a:pPr indent="0" marL="0">
              <a:spcAft>
                <a:spcPts val="1000"/>
              </a:spcAft>
              <a:buNone/>
            </a:pPr>
            <a:r>
              <a:rPr lang="en-US" sz="1400" b="1" dirty="0">
                <a:solidFill>
                  <a:srgbClr val="1F2233"/>
                </a:solidFill>
                <a:latin typeface="Calibri" pitchFamily="34" charset="0"/>
                <a:ea typeface="Calibri" pitchFamily="34" charset="-122"/>
                <a:cs typeface="Calibri" pitchFamily="34" charset="-120"/>
              </a:rPr>
              <a:t>BERT classifier: </a:t>
            </a:r>
            <a:pPr indent="0" marL="0">
              <a:spcAft>
                <a:spcPts val="1000"/>
              </a:spcAft>
              <a:buNone/>
            </a:pPr>
            <a:r>
              <a:rPr lang="en-US" sz="1400" dirty="0">
                <a:solidFill>
                  <a:srgbClr val="1F2233"/>
                </a:solidFill>
                <a:latin typeface="Calibri" pitchFamily="34" charset="0"/>
                <a:ea typeface="Calibri" pitchFamily="34" charset="-122"/>
                <a:cs typeface="Calibri" pitchFamily="34" charset="-120"/>
              </a:rPr>
              <a:t>ADAR uses a BERT-family encoder as one input, and reports a probe on it as a baseline.</a:t>
            </a:r>
            <a:endParaRPr lang="en-US" sz="1400" dirty="0"/>
          </a:p>
          <a:p>
            <a:pPr indent="0" marL="0">
              <a:spcAft>
                <a:spcPts val="1000"/>
              </a:spcAft>
              <a:buNone/>
            </a:pPr>
            <a:r>
              <a:rPr lang="en-US" sz="1400" b="1" dirty="0">
                <a:solidFill>
                  <a:srgbClr val="1F2233"/>
                </a:solidFill>
                <a:latin typeface="Calibri" pitchFamily="34" charset="0"/>
                <a:ea typeface="Calibri" pitchFamily="34" charset="-122"/>
                <a:cs typeface="Calibri" pitchFamily="34" charset="-120"/>
              </a:rPr>
              <a:t>RNN vs LSTM vs GRU: </a:t>
            </a:r>
            <a:pPr indent="0" marL="0">
              <a:spcAft>
                <a:spcPts val="1000"/>
              </a:spcAft>
              <a:buNone/>
            </a:pPr>
            <a:r>
              <a:rPr lang="en-US" sz="1400" dirty="0">
                <a:solidFill>
                  <a:srgbClr val="1F2233"/>
                </a:solidFill>
                <a:latin typeface="Calibri" pitchFamily="34" charset="0"/>
                <a:ea typeface="Calibri" pitchFamily="34" charset="-122"/>
                <a:cs typeface="Calibri" pitchFamily="34" charset="-120"/>
              </a:rPr>
              <a:t>ADAR uses all three as experts and learns per input which to trust.</a:t>
            </a:r>
            <a:endParaRPr lang="en-US" sz="1400" dirty="0"/>
          </a:p>
          <a:p>
            <a:pPr indent="0" marL="0">
              <a:spcAft>
                <a:spcPts val="1000"/>
              </a:spcAft>
              <a:buNone/>
            </a:pPr>
            <a:r>
              <a:rPr lang="en-US" sz="1400" b="1" dirty="0">
                <a:solidFill>
                  <a:srgbClr val="1F2233"/>
                </a:solidFill>
                <a:latin typeface="Calibri" pitchFamily="34" charset="0"/>
                <a:ea typeface="Calibri" pitchFamily="34" charset="-122"/>
                <a:cs typeface="Calibri" pitchFamily="34" charset="-120"/>
              </a:rPr>
              <a:t>REINFORCE: </a:t>
            </a:r>
            <a:pPr indent="0" marL="0">
              <a:spcAft>
                <a:spcPts val="1000"/>
              </a:spcAft>
              <a:buNone/>
            </a:pPr>
            <a:r>
              <a:rPr lang="en-US" sz="1400" dirty="0">
                <a:solidFill>
                  <a:srgbClr val="1F2233"/>
                </a:solidFill>
                <a:latin typeface="Calibri" pitchFamily="34" charset="0"/>
                <a:ea typeface="Calibri" pitchFamily="34" charset="-122"/>
                <a:cs typeface="Calibri" pitchFamily="34" charset="-120"/>
              </a:rPr>
              <a:t>ADAR applies it to a real decision, accuracy against compute cost.</a:t>
            </a:r>
            <a:endParaRPr lang="en-US" sz="1400" dirty="0"/>
          </a:p>
        </p:txBody>
      </p:sp>
      <p:sp>
        <p:nvSpPr>
          <p:cNvPr id="8" name="Shape 4"/>
          <p:cNvSpPr/>
          <p:nvPr/>
        </p:nvSpPr>
        <p:spPr>
          <a:xfrm>
            <a:off x="548640" y="5989320"/>
            <a:ext cx="11094415" cy="0"/>
          </a:xfrm>
          <a:prstGeom prst="line">
            <a:avLst/>
          </a:prstGeom>
          <a:noFill/>
          <a:ln w="9525">
            <a:solidFill>
              <a:srgbClr val="DDD3C0"/>
            </a:solidFill>
            <a:prstDash val="solid"/>
          </a:ln>
        </p:spPr>
      </p:sp>
      <p:sp>
        <p:nvSpPr>
          <p:cNvPr id="9" name="Text 5"/>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most projects implement one architecture from one unit; ADAR combines architectures from all four units and decides between them.</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WRAP-UP</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Limits and Next Steps</a:t>
            </a:r>
            <a:endParaRPr lang="en-US" sz="3400" dirty="0"/>
          </a:p>
        </p:txBody>
      </p:sp>
      <p:sp>
        <p:nvSpPr>
          <p:cNvPr id="5" name="Shape 2"/>
          <p:cNvSpPr/>
          <p:nvPr/>
        </p:nvSpPr>
        <p:spPr>
          <a:xfrm>
            <a:off x="548640" y="1554480"/>
            <a:ext cx="5440680" cy="4114800"/>
          </a:xfrm>
          <a:prstGeom prst="roundRect">
            <a:avLst>
              <a:gd name="adj" fmla="val 1778"/>
            </a:avLst>
          </a:prstGeom>
          <a:solidFill>
            <a:srgbClr val="FCFAF5"/>
          </a:solidFill>
          <a:ln w="15875">
            <a:solidFill>
              <a:srgbClr val="DDD3C0"/>
            </a:solidFill>
            <a:prstDash val="solid"/>
          </a:ln>
        </p:spPr>
      </p:sp>
      <p:sp>
        <p:nvSpPr>
          <p:cNvPr id="6" name="Text 3"/>
          <p:cNvSpPr txBox="1"/>
          <p:nvPr/>
        </p:nvSpPr>
        <p:spPr>
          <a:xfrm>
            <a:off x="777240" y="1691640"/>
            <a:ext cx="4937760" cy="502920"/>
          </a:xfrm>
          <a:prstGeom prst="rect">
            <a:avLst/>
          </a:prstGeom>
          <a:noFill/>
          <a:ln/>
        </p:spPr>
        <p:txBody>
          <a:bodyPr wrap="square" lIns="0" tIns="0" rIns="0" bIns="0" rtlCol="0" anchor="t"/>
          <a:lstStyle/>
          <a:p>
            <a:pPr indent="0" marL="0">
              <a:buNone/>
            </a:pPr>
            <a:r>
              <a:rPr lang="en-US" sz="2400" b="1" dirty="0">
                <a:solidFill>
                  <a:srgbClr val="1F2233"/>
                </a:solidFill>
                <a:latin typeface="Cambria" pitchFamily="34" charset="0"/>
                <a:ea typeface="Cambria" pitchFamily="34" charset="-122"/>
                <a:cs typeface="Cambria" pitchFamily="34" charset="-120"/>
              </a:rPr>
              <a:t>Limits</a:t>
            </a:r>
            <a:endParaRPr lang="en-US" sz="2400" dirty="0"/>
          </a:p>
        </p:txBody>
      </p:sp>
      <p:sp>
        <p:nvSpPr>
          <p:cNvPr id="7" name="Text 4"/>
          <p:cNvSpPr txBox="1"/>
          <p:nvPr/>
        </p:nvSpPr>
        <p:spPr>
          <a:xfrm>
            <a:off x="777240" y="2286000"/>
            <a:ext cx="4983480" cy="3200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Text classification only so far</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Laya stays frozen; only the 2.3M-parameter head trains</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On Emotion, ADAR ties the best syllabus network (Bi-LSTM)</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Attention’s accuracy gain is not significant</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ADAR-Cal fixes calibration, not accuracy</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One train/val/test protocol per dataset</a:t>
            </a:r>
            <a:endParaRPr lang="en-US" sz="1500" dirty="0"/>
          </a:p>
        </p:txBody>
      </p:sp>
      <p:sp>
        <p:nvSpPr>
          <p:cNvPr id="8" name="Shape 5"/>
          <p:cNvSpPr/>
          <p:nvPr/>
        </p:nvSpPr>
        <p:spPr>
          <a:xfrm>
            <a:off x="6172200" y="1554480"/>
            <a:ext cx="5440680" cy="4114800"/>
          </a:xfrm>
          <a:prstGeom prst="roundRect">
            <a:avLst>
              <a:gd name="adj" fmla="val 1778"/>
            </a:avLst>
          </a:prstGeom>
          <a:solidFill>
            <a:srgbClr val="FCFAF5"/>
          </a:solidFill>
          <a:ln w="15875">
            <a:solidFill>
              <a:srgbClr val="C0503A"/>
            </a:solidFill>
            <a:prstDash val="solid"/>
          </a:ln>
        </p:spPr>
      </p:sp>
      <p:sp>
        <p:nvSpPr>
          <p:cNvPr id="9" name="Text 6"/>
          <p:cNvSpPr txBox="1"/>
          <p:nvPr/>
        </p:nvSpPr>
        <p:spPr>
          <a:xfrm>
            <a:off x="6400800" y="1691640"/>
            <a:ext cx="4937760" cy="502920"/>
          </a:xfrm>
          <a:prstGeom prst="rect">
            <a:avLst/>
          </a:prstGeom>
          <a:noFill/>
          <a:ln/>
        </p:spPr>
        <p:txBody>
          <a:bodyPr wrap="square" lIns="0" tIns="0" rIns="0" bIns="0" rtlCol="0" anchor="t"/>
          <a:lstStyle/>
          <a:p>
            <a:pPr indent="0" marL="0">
              <a:buNone/>
            </a:pPr>
            <a:r>
              <a:rPr lang="en-US" sz="2400" b="1" dirty="0">
                <a:solidFill>
                  <a:srgbClr val="1F2233"/>
                </a:solidFill>
                <a:latin typeface="Cambria" pitchFamily="34" charset="0"/>
                <a:ea typeface="Cambria" pitchFamily="34" charset="-122"/>
                <a:cs typeface="Cambria" pitchFamily="34" charset="-120"/>
              </a:rPr>
              <a:t>Next steps</a:t>
            </a:r>
            <a:endParaRPr lang="en-US" sz="2400" dirty="0"/>
          </a:p>
        </p:txBody>
      </p:sp>
      <p:sp>
        <p:nvSpPr>
          <p:cNvPr id="10" name="Text 7"/>
          <p:cNvSpPr txBox="1"/>
          <p:nvPr/>
        </p:nvSpPr>
        <p:spPr>
          <a:xfrm>
            <a:off x="6400800" y="2286000"/>
            <a:ext cx="4983480" cy="3200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RouterArena: route between LLMs instead of small networks</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An image task (CIFAR-10) with CNN experts</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An echo-state network as a fifth expert</a:t>
            </a:r>
            <a:endParaRPr lang="en-US" sz="1500" dirty="0"/>
          </a:p>
          <a:p>
            <a:pPr marL="342900" indent="-342900">
              <a:spcAft>
                <a:spcPts val="600"/>
              </a:spcAft>
              <a:buSzPct val="100000"/>
              <a:buChar char="•"/>
            </a:pPr>
            <a:r>
              <a:rPr lang="en-US" sz="1500" dirty="0">
                <a:solidFill>
                  <a:srgbClr val="1F2233"/>
                </a:solidFill>
                <a:latin typeface="Calibri" pitchFamily="34" charset="0"/>
                <a:ea typeface="Calibri" pitchFamily="34" charset="-122"/>
                <a:cs typeface="Calibri" pitchFamily="34" charset="-120"/>
              </a:rPr>
              <a:t>A short arXiv write-up</a:t>
            </a:r>
            <a:endParaRPr lang="en-US" sz="1500" dirty="0"/>
          </a:p>
        </p:txBody>
      </p:sp>
      <p:sp>
        <p:nvSpPr>
          <p:cNvPr id="11" name="Shape 8"/>
          <p:cNvSpPr/>
          <p:nvPr/>
        </p:nvSpPr>
        <p:spPr>
          <a:xfrm>
            <a:off x="548640" y="5989320"/>
            <a:ext cx="11094415" cy="0"/>
          </a:xfrm>
          <a:prstGeom prst="line">
            <a:avLst/>
          </a:prstGeom>
          <a:noFill/>
          <a:ln w="9525">
            <a:solidFill>
              <a:srgbClr val="DDD3C0"/>
            </a:solidFill>
            <a:prstDash val="solid"/>
          </a:ln>
        </p:spPr>
      </p:sp>
      <p:sp>
        <p:nvSpPr>
          <p:cNvPr id="12" name="Text 9"/>
          <p:cNvSpPr txBox="1"/>
          <p:nvPr/>
        </p:nvSpPr>
        <p:spPr>
          <a:xfrm>
            <a:off x="548640" y="6080760"/>
            <a:ext cx="10545775" cy="457200"/>
          </a:xfrm>
          <a:prstGeom prst="rect">
            <a:avLst/>
          </a:prstGeom>
          <a:noFill/>
          <a:ln/>
        </p:spPr>
        <p:txBody>
          <a:bodyPr wrap="square" lIns="0" tIns="0" rIns="0" bIns="0" rtlCol="0" anchor="t"/>
          <a:lstStyle/>
          <a:p>
            <a:pPr indent="0" marL="0">
              <a:buNone/>
            </a:pPr>
            <a:r>
              <a:rPr lang="en-US" sz="1300" b="1" dirty="0">
                <a:solidFill>
                  <a:srgbClr val="1F2233"/>
                </a:solidFill>
                <a:latin typeface="Calibri" pitchFamily="34" charset="0"/>
                <a:ea typeface="Calibri" pitchFamily="34" charset="-122"/>
                <a:cs typeface="Calibri" pitchFamily="34" charset="-120"/>
              </a:rPr>
              <a:t>What this shows: </a:t>
            </a:r>
            <a:pPr indent="0" marL="0">
              <a:buNone/>
            </a:pPr>
            <a:r>
              <a:rPr lang="en-US" sz="1300" dirty="0">
                <a:solidFill>
                  <a:srgbClr val="3F4250"/>
                </a:solidFill>
                <a:latin typeface="Calibri" pitchFamily="34" charset="0"/>
                <a:ea typeface="Calibri" pitchFamily="34" charset="-122"/>
                <a:cs typeface="Calibri" pitchFamily="34" charset="-120"/>
              </a:rPr>
              <a:t>the gains are real but bounded; the clearest next win is the same head routing between large language models.</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rgbClr val="A8432F"/>
                </a:solidFill>
              </a:rPr>
              <a:t>WRAP-UP</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indent="0" marL="0">
              <a:buNone/>
            </a:pPr>
            <a:r>
              <a:rPr lang="en-US" sz="3400" b="1" dirty="0">
                <a:solidFill>
                  <a:srgbClr val="1F2233"/>
                </a:solidFill>
                <a:latin typeface="Cambria" pitchFamily="34" charset="0"/>
                <a:ea typeface="Cambria" pitchFamily="34" charset="-122"/>
                <a:cs typeface="Cambria" pitchFamily="34" charset="-120"/>
              </a:rPr>
              <a:t>Live Demo</a:t>
            </a:r>
            <a:endParaRPr lang="en-US" sz="3400" dirty="0"/>
          </a:p>
        </p:txBody>
      </p:sp>
      <p:sp>
        <p:nvSpPr>
          <p:cNvPr id="5" name="Shape 2"/>
          <p:cNvSpPr/>
          <p:nvPr/>
        </p:nvSpPr>
        <p:spPr>
          <a:xfrm>
            <a:off x="548640" y="1554480"/>
            <a:ext cx="3474720" cy="0"/>
          </a:xfrm>
          <a:prstGeom prst="line">
            <a:avLst/>
          </a:prstGeom>
          <a:noFill/>
          <a:ln w="12700">
            <a:solidFill>
              <a:srgbClr val="1F2233"/>
            </a:solidFill>
            <a:prstDash val="solid"/>
          </a:ln>
        </p:spPr>
      </p:sp>
      <p:sp>
        <p:nvSpPr>
          <p:cNvPr id="6" name="Text 3"/>
          <p:cNvSpPr txBox="1"/>
          <p:nvPr/>
        </p:nvSpPr>
        <p:spPr>
          <a:xfrm>
            <a:off x="548640" y="1691640"/>
            <a:ext cx="3474720" cy="502920"/>
          </a:xfrm>
          <a:prstGeom prst="rect">
            <a:avLst/>
          </a:prstGeom>
          <a:noFill/>
          <a:ln/>
        </p:spPr>
        <p:txBody>
          <a:bodyPr wrap="square" lIns="0" tIns="0" rIns="0" bIns="0" rtlCol="0" anchor="t"/>
          <a:lstStyle/>
          <a:p>
            <a:pPr indent="0" marL="0">
              <a:buNone/>
            </a:pPr>
            <a:r>
              <a:rPr lang="en-US" sz="2200" b="1" dirty="0">
                <a:solidFill>
                  <a:srgbClr val="1F2233"/>
                </a:solidFill>
                <a:latin typeface="Cambria" pitchFamily="34" charset="0"/>
                <a:ea typeface="Cambria" pitchFamily="34" charset="-122"/>
                <a:cs typeface="Cambria" pitchFamily="34" charset="-120"/>
              </a:rPr>
              <a:t>1 · Run</a:t>
            </a:r>
            <a:endParaRPr lang="en-US" sz="2200" dirty="0"/>
          </a:p>
        </p:txBody>
      </p:sp>
      <p:sp>
        <p:nvSpPr>
          <p:cNvPr id="7" name="Text 4"/>
          <p:cNvSpPr txBox="1"/>
          <p:nvPr/>
        </p:nvSpPr>
        <p:spPr>
          <a:xfrm>
            <a:off x="548640" y="2240280"/>
            <a:ext cx="3474720" cy="91440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Kaggle notebook on GPU T4 ×2: trains, tests and writes the report in 63 minutes</a:t>
            </a:r>
            <a:endParaRPr lang="en-US" sz="1400" dirty="0"/>
          </a:p>
        </p:txBody>
      </p:sp>
      <p:sp>
        <p:nvSpPr>
          <p:cNvPr id="8" name="Shape 5"/>
          <p:cNvSpPr/>
          <p:nvPr/>
        </p:nvSpPr>
        <p:spPr>
          <a:xfrm>
            <a:off x="4297680" y="1554480"/>
            <a:ext cx="3474720" cy="0"/>
          </a:xfrm>
          <a:prstGeom prst="line">
            <a:avLst/>
          </a:prstGeom>
          <a:noFill/>
          <a:ln w="12700">
            <a:solidFill>
              <a:srgbClr val="1F2233"/>
            </a:solidFill>
            <a:prstDash val="solid"/>
          </a:ln>
        </p:spPr>
      </p:sp>
      <p:sp>
        <p:nvSpPr>
          <p:cNvPr id="9" name="Text 6"/>
          <p:cNvSpPr txBox="1"/>
          <p:nvPr/>
        </p:nvSpPr>
        <p:spPr>
          <a:xfrm>
            <a:off x="4297680" y="1691640"/>
            <a:ext cx="3474720" cy="502920"/>
          </a:xfrm>
          <a:prstGeom prst="rect">
            <a:avLst/>
          </a:prstGeom>
          <a:noFill/>
          <a:ln/>
        </p:spPr>
        <p:txBody>
          <a:bodyPr wrap="square" lIns="0" tIns="0" rIns="0" bIns="0" rtlCol="0" anchor="t"/>
          <a:lstStyle/>
          <a:p>
            <a:pPr indent="0" marL="0">
              <a:buNone/>
            </a:pPr>
            <a:r>
              <a:rPr lang="en-US" sz="2200" b="1" dirty="0">
                <a:solidFill>
                  <a:srgbClr val="1F2233"/>
                </a:solidFill>
                <a:latin typeface="Cambria" pitchFamily="34" charset="0"/>
                <a:ea typeface="Cambria" pitchFamily="34" charset="-122"/>
                <a:cs typeface="Cambria" pitchFamily="34" charset="-120"/>
              </a:rPr>
              <a:t>2 · Publish</a:t>
            </a:r>
            <a:endParaRPr lang="en-US" sz="2200" dirty="0"/>
          </a:p>
        </p:txBody>
      </p:sp>
      <p:sp>
        <p:nvSpPr>
          <p:cNvPr id="10" name="Text 7"/>
          <p:cNvSpPr txBox="1"/>
          <p:nvPr/>
        </p:nvSpPr>
        <p:spPr>
          <a:xfrm>
            <a:off x="4297680" y="2240280"/>
            <a:ext cx="3474720" cy="91440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Both trained heads, with model cards from this run, ready for Hugging Face</a:t>
            </a:r>
            <a:endParaRPr lang="en-US" sz="1400" dirty="0"/>
          </a:p>
        </p:txBody>
      </p:sp>
      <p:sp>
        <p:nvSpPr>
          <p:cNvPr id="11" name="Shape 8"/>
          <p:cNvSpPr/>
          <p:nvPr/>
        </p:nvSpPr>
        <p:spPr>
          <a:xfrm>
            <a:off x="8046720" y="1554480"/>
            <a:ext cx="3474720" cy="0"/>
          </a:xfrm>
          <a:prstGeom prst="line">
            <a:avLst/>
          </a:prstGeom>
          <a:noFill/>
          <a:ln w="12700">
            <a:solidFill>
              <a:srgbClr val="C0503A"/>
            </a:solidFill>
            <a:prstDash val="solid"/>
          </a:ln>
        </p:spPr>
      </p:sp>
      <p:sp>
        <p:nvSpPr>
          <p:cNvPr id="12" name="Text 9"/>
          <p:cNvSpPr txBox="1"/>
          <p:nvPr/>
        </p:nvSpPr>
        <p:spPr>
          <a:xfrm>
            <a:off x="8046720" y="1691640"/>
            <a:ext cx="3474720" cy="502920"/>
          </a:xfrm>
          <a:prstGeom prst="rect">
            <a:avLst/>
          </a:prstGeom>
          <a:noFill/>
          <a:ln/>
        </p:spPr>
        <p:txBody>
          <a:bodyPr wrap="square" lIns="0" tIns="0" rIns="0" bIns="0" rtlCol="0" anchor="t"/>
          <a:lstStyle/>
          <a:p>
            <a:pPr indent="0" marL="0">
              <a:buNone/>
            </a:pPr>
            <a:r>
              <a:rPr lang="en-US" sz="2200" b="1" dirty="0">
                <a:solidFill>
                  <a:srgbClr val="1F2233"/>
                </a:solidFill>
                <a:latin typeface="Cambria" pitchFamily="34" charset="0"/>
                <a:ea typeface="Cambria" pitchFamily="34" charset="-122"/>
                <a:cs typeface="Cambria" pitchFamily="34" charset="-120"/>
              </a:rPr>
              <a:t>3 · Use</a:t>
            </a:r>
            <a:endParaRPr lang="en-US" sz="2200" dirty="0"/>
          </a:p>
        </p:txBody>
      </p:sp>
      <p:sp>
        <p:nvSpPr>
          <p:cNvPr id="13" name="Text 10"/>
          <p:cNvSpPr txBox="1"/>
          <p:nvPr/>
        </p:nvSpPr>
        <p:spPr>
          <a:xfrm>
            <a:off x="8046720" y="2240280"/>
            <a:ext cx="3474720" cy="914400"/>
          </a:xfrm>
          <a:prstGeom prst="rect">
            <a:avLst/>
          </a:prstGeom>
          <a:noFill/>
          <a:ln/>
        </p:spPr>
        <p:txBody>
          <a:bodyPr wrap="square" lIns="0" tIns="0" rIns="0" bIns="0" rtlCol="0" anchor="t"/>
          <a:lstStyle/>
          <a:p>
            <a:pPr indent="0" marL="0">
              <a:buNone/>
            </a:pPr>
            <a:r>
              <a:rPr lang="en-US" sz="1400" dirty="0">
                <a:solidFill>
                  <a:srgbClr val="3F4250"/>
                </a:solidFill>
                <a:latin typeface="Calibri" pitchFamily="34" charset="0"/>
                <a:ea typeface="Calibri" pitchFamily="34" charset="-122"/>
                <a:cs typeface="Calibri" pitchFamily="34" charset="-120"/>
              </a:rPr>
              <a:t>Load the head and classify any sentence, with honest confidence</a:t>
            </a:r>
            <a:endParaRPr lang="en-US" sz="1400" dirty="0"/>
          </a:p>
        </p:txBody>
      </p:sp>
      <p:sp>
        <p:nvSpPr>
          <p:cNvPr id="14" name="Shape 11"/>
          <p:cNvSpPr/>
          <p:nvPr/>
        </p:nvSpPr>
        <p:spPr>
          <a:xfrm>
            <a:off x="548640" y="3291840"/>
            <a:ext cx="11094415" cy="2377440"/>
          </a:xfrm>
          <a:prstGeom prst="roundRect">
            <a:avLst>
              <a:gd name="adj" fmla="val 3846"/>
            </a:avLst>
          </a:prstGeom>
          <a:solidFill>
            <a:srgbClr val="1F2233"/>
          </a:solidFill>
          <a:ln w="12700">
            <a:solidFill>
              <a:srgbClr val="1F2233"/>
            </a:solidFill>
            <a:prstDash val="solid"/>
          </a:ln>
        </p:spPr>
      </p:sp>
      <p:sp>
        <p:nvSpPr>
          <p:cNvPr id="15" name="Text 12"/>
          <p:cNvSpPr txBox="1"/>
          <p:nvPr/>
        </p:nvSpPr>
        <p:spPr>
          <a:xfrm>
            <a:off x="822960" y="3474720"/>
            <a:ext cx="10545775" cy="2057400"/>
          </a:xfrm>
          <a:prstGeom prst="rect">
            <a:avLst/>
          </a:prstGeom>
          <a:noFill/>
          <a:ln/>
        </p:spPr>
        <p:txBody>
          <a:bodyPr wrap="square" lIns="0" tIns="0" rIns="0" bIns="0" rtlCol="0" anchor="t"/>
          <a:lstStyle/>
          <a:p>
            <a:pPr indent="0" marL="0">
              <a:spcAft>
                <a:spcPts val="400"/>
              </a:spcAft>
              <a:buNone/>
            </a:pPr>
            <a:r>
              <a:rPr lang="en-US" sz="1500" dirty="0">
                <a:solidFill>
                  <a:srgbClr val="FCFAF5"/>
                </a:solidFill>
                <a:latin typeface="Courier New" pitchFamily="34" charset="0"/>
                <a:ea typeface="Courier New" pitchFamily="34" charset="-122"/>
                <a:cs typeface="Courier New" pitchFamily="34" charset="-120"/>
              </a:rPr>
              <a:t>from adar.inference import ADARClassifier</a:t>
            </a:r>
            <a:endParaRPr lang="en-US" sz="1500" dirty="0"/>
          </a:p>
          <a:p>
            <a:pPr indent="0" marL="0">
              <a:spcAft>
                <a:spcPts val="400"/>
              </a:spcAft>
              <a:buNone/>
            </a:pPr>
            <a:r>
              <a:rPr lang="en-US" sz="1500" dirty="0">
                <a:solidFill>
                  <a:srgbClr val="FCFAF5"/>
                </a:solidFill>
                <a:latin typeface="Courier New" pitchFamily="34" charset="0"/>
                <a:ea typeface="Courier New" pitchFamily="34" charset="-122"/>
                <a:cs typeface="Courier New" pitchFamily="34" charset="-120"/>
              </a:rPr>
              <a:t>clf = ADARClassifier.from_pretrained("adar-head-ag-news")</a:t>
            </a:r>
            <a:endParaRPr lang="en-US" sz="1500" dirty="0"/>
          </a:p>
          <a:p>
            <a:pPr indent="0" marL="0">
              <a:spcAft>
                <a:spcPts val="400"/>
              </a:spcAft>
              <a:buNone/>
            </a:pPr>
            <a:r>
              <a:rPr lang="en-US" sz="1500" dirty="0">
                <a:solidFill>
                  <a:srgbClr val="FCFAF5"/>
                </a:solidFill>
                <a:latin typeface="Courier New" pitchFamily="34" charset="0"/>
                <a:ea typeface="Courier New" pitchFamily="34" charset="-122"/>
                <a:cs typeface="Courier New" pitchFamily="34" charset="-120"/>
              </a:rPr>
              <a:t>clf.predict(["NASA's new telescope captured images of a distant galaxy cluster.",</a:t>
            </a:r>
            <a:endParaRPr lang="en-US" sz="1500" dirty="0"/>
          </a:p>
          <a:p>
            <a:pPr indent="0" marL="0">
              <a:spcAft>
                <a:spcPts val="400"/>
              </a:spcAft>
              <a:buNone/>
            </a:pPr>
            <a:r>
              <a:rPr lang="en-US" sz="1500" dirty="0">
                <a:solidFill>
                  <a:srgbClr val="FCFAF5"/>
                </a:solidFill>
                <a:latin typeface="Courier New" pitchFamily="34" charset="0"/>
                <a:ea typeface="Courier New" pitchFamily="34" charset="-122"/>
                <a:cs typeface="Courier New" pitchFamily="34" charset="-120"/>
              </a:rPr>
              <a:t>             "Real Madrid beat Barcelona 3-1 in the Champions League semi-final on Tuesday."])</a:t>
            </a:r>
            <a:endParaRPr lang="en-US" sz="1500" dirty="0"/>
          </a:p>
          <a:p>
            <a:pPr indent="0" marL="0">
              <a:spcAft>
                <a:spcPts val="400"/>
              </a:spcAft>
              <a:buNone/>
            </a:pPr>
            <a:r>
              <a:rPr lang="en-US" sz="1500" dirty="0">
                <a:solidFill>
                  <a:srgbClr val="DE9C8C"/>
                </a:solidFill>
                <a:latin typeface="Courier New" pitchFamily="34" charset="0"/>
                <a:ea typeface="Courier New" pitchFamily="34" charset="-122"/>
                <a:cs typeface="Courier New" pitchFamily="34" charset="-120"/>
              </a:rPr>
              <a:t>→ sci_tech 0.927 · P(answer right) 0.966 · escalate: no</a:t>
            </a:r>
            <a:endParaRPr lang="en-US" sz="1500" dirty="0"/>
          </a:p>
          <a:p>
            <a:pPr indent="0" marL="0">
              <a:spcAft>
                <a:spcPts val="400"/>
              </a:spcAft>
              <a:buNone/>
            </a:pPr>
            <a:r>
              <a:rPr lang="en-US" sz="1500" dirty="0">
                <a:solidFill>
                  <a:srgbClr val="DE9C8C"/>
                </a:solidFill>
                <a:latin typeface="Courier New" pitchFamily="34" charset="0"/>
                <a:ea typeface="Courier New" pitchFamily="34" charset="-122"/>
                <a:cs typeface="Courier New" pitchFamily="34" charset="-120"/>
              </a:rPr>
              <a:t>→ sports 0.990 · P(answer right) 0.998 · escalate: no</a:t>
            </a:r>
            <a:endParaRPr lang="en-US" sz="1500" dirty="0"/>
          </a:p>
        </p:txBody>
      </p:sp>
      <p:sp>
        <p:nvSpPr>
          <p:cNvPr id="16" name="Text 13"/>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200" dirty="0">
                <a:solidFill>
                  <a:srgbClr val="6B6E78"/>
                </a:solidFill>
                <a:latin typeface="Calibri" pitchFamily="34" charset="0"/>
                <a:ea typeface="Calibri" pitchFamily="34" charset="-122"/>
                <a:cs typeface="Calibri" pitchFamily="34" charset="-120"/>
              </a:rPr>
              <a:t>Live: run this in the notebook (or Python with the head downloaded); the two lines above are the real output from our Kaggle run.</a:t>
            </a:r>
            <a:endParaRPr lang="en-US" sz="12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772400" cy="1463040"/>
          </a:xfrm>
          <a:prstGeom prst="rect">
            <a:avLst/>
          </a:prstGeom>
          <a:noFill/>
          <a:ln/>
        </p:spPr>
        <p:txBody>
          <a:bodyPr wrap="square" lIns="0" tIns="0" rIns="0" bIns="0" rtlCol="0"/>
          <a:lstStyle/>
          <a:p>
            <a:pPr indent="0" marL="0">
              <a:buNone/>
            </a:pPr>
            <a:r>
              <a:rPr lang="en-US" sz="7200" b="1" dirty="0">
                <a:solidFill>
                  <a:srgbClr val="FCFAF5"/>
                </a:solidFill>
                <a:latin typeface="Cambria" pitchFamily="34" charset="0"/>
                <a:ea typeface="Cambria" pitchFamily="34" charset="-122"/>
                <a:cs typeface="Cambria" pitchFamily="34" charset="-120"/>
              </a:rPr>
              <a:t>Thank You</a:t>
            </a:r>
            <a:endParaRPr lang="en-US" sz="7200" dirty="0"/>
          </a:p>
        </p:txBody>
      </p:sp>
      <p:sp>
        <p:nvSpPr>
          <p:cNvPr id="3" name="Text 1"/>
          <p:cNvSpPr txBox="1"/>
          <p:nvPr/>
        </p:nvSpPr>
        <p:spPr>
          <a:xfrm>
            <a:off x="548640" y="3566160"/>
            <a:ext cx="5486400" cy="548640"/>
          </a:xfrm>
          <a:prstGeom prst="rect">
            <a:avLst/>
          </a:prstGeom>
          <a:noFill/>
          <a:ln/>
        </p:spPr>
        <p:txBody>
          <a:bodyPr wrap="square" lIns="0" tIns="0" rIns="0" bIns="0" rtlCol="0" anchor="t"/>
          <a:lstStyle/>
          <a:p>
            <a:pPr indent="0" marL="0">
              <a:buNone/>
            </a:pPr>
            <a:r>
              <a:rPr lang="en-US" sz="2800" b="1" dirty="0">
                <a:solidFill>
                  <a:srgbClr val="DE9C8C"/>
                </a:solidFill>
                <a:latin typeface="Cambria" pitchFamily="34" charset="0"/>
                <a:ea typeface="Cambria" pitchFamily="34" charset="-122"/>
                <a:cs typeface="Cambria" pitchFamily="34" charset="-120"/>
              </a:rPr>
              <a:t>Questions?</a:t>
            </a:r>
            <a:endParaRPr lang="en-US" sz="2800" dirty="0"/>
          </a:p>
        </p:txBody>
      </p:sp>
      <p:sp>
        <p:nvSpPr>
          <p:cNvPr id="4" name="Text 2"/>
          <p:cNvSpPr txBox="1"/>
          <p:nvPr/>
        </p:nvSpPr>
        <p:spPr>
          <a:xfrm>
            <a:off x="548640" y="4297680"/>
            <a:ext cx="7315200" cy="731520"/>
          </a:xfrm>
          <a:prstGeom prst="rect">
            <a:avLst/>
          </a:prstGeom>
          <a:noFill/>
          <a:ln/>
        </p:spPr>
        <p:txBody>
          <a:bodyPr wrap="square" lIns="0" tIns="0" rIns="0" bIns="0" rtlCol="0" anchor="t"/>
          <a:lstStyle/>
          <a:p>
            <a:pPr indent="0" marL="0">
              <a:buNone/>
            </a:pPr>
            <a:r>
              <a:rPr lang="en-US" sz="1400" dirty="0">
                <a:solidFill>
                  <a:srgbClr val="CFC9BC"/>
                </a:solidFill>
                <a:latin typeface="Courier New" pitchFamily="34" charset="0"/>
                <a:ea typeface="Courier New" pitchFamily="34" charset="-122"/>
                <a:cs typeface="Courier New" pitchFamily="34" charset="-120"/>
              </a:rPr>
              <a:t>github.com/Harsh4-Dev/System-One-DLE</a:t>
            </a:r>
            <a:endParaRPr lang="en-US" sz="1400" dirty="0"/>
          </a:p>
        </p:txBody>
      </p:sp>
    </p:spTree>
  </p:cSld>
  <p:clrMapOvr>
    <a:masterClrMapping/>
  </p:clrMapOvr>
</p:sld>
</file>

<file path=ppt/theme/theme1.xml><?xml version="1.0" encoding="utf-8"?>
<a:theme xmlns:a="http://schemas.openxmlformats.org/drawingml/2006/main" name="ADAR">
  <a:themeElements>
    <a:clrScheme name="ADAR">
      <a:dk1>
        <a:srgbClr val="1F2233"/>
      </a:dk1>
      <a:lt1>
        <a:srgbClr val="FCFAF5"/>
      </a:lt1>
      <a:dk2>
        <a:srgbClr val="3F4250"/>
      </a:dk2>
      <a:lt2>
        <a:srgbClr val="F7F3EA"/>
      </a:lt2>
      <a:accent1>
        <a:srgbClr val="C0503A"/>
      </a:accent1>
      <a:accent2>
        <a:srgbClr val="4A5874"/>
      </a:accent2>
      <a:accent3>
        <a:srgbClr val="A79E8C"/>
      </a:accent3>
      <a:accent4>
        <a:srgbClr val="CFC7B6"/>
      </a:accent4>
      <a:accent5>
        <a:srgbClr val="DE9C8C"/>
      </a:accent5>
      <a:accent6>
        <a:srgbClr val="6B6E78"/>
      </a:accent6>
      <a:hlink>
        <a:srgbClr val="A8432F"/>
      </a:hlink>
      <a:folHlink>
        <a:srgbClr val="6B6E78"/>
      </a:folHlink>
    </a:clrScheme>
    <a:fontScheme name="AD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ADAR: Adaptive Deep Architecture Routing</dc:title>
  <dc:subject>PptxGenJS Presentation</dc:subject>
  <dc:creator>PptxGenJS</dc:creator>
  <cp:lastModifiedBy>PptxGenJS</cp:lastModifiedBy>
  <cp:revision>1</cp:revision>
  <dcterms:created xsi:type="dcterms:W3CDTF">2026-10-27T07:15:10Z</dcterms:created>
  <dcterms:modified xsi:type="dcterms:W3CDTF">2026-10-27T07:15:10Z</dcterms:modified>
</cp:coreProperties>
</file>